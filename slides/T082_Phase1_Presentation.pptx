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about predicting traffic. Los Angeles has 207 sensors buried in its highways, and every five minutes each one reports how fast cars are moving over it. We want to predict what that speed will be 15, 30 and 60 minutes from now, for every sensor. Why: if a traffic-signal system can see a jam coming before it arrives, it can react in time. Three things frame the project. First, the horizon: a controller needs the next hour, not the present. Second, the data: METR-LA, the standard public benchmark, so we can compare with published numbers. Third, a piece of physics: a jam grows backwards, like a queue, at about 15 to 20 kilometres an hour, so the sensor ahead of you knows something about your near future. The strip at the bottom is one real Wednesday: almost nothing at 6 am, 22 percent of sensors jammed at 8, half the network at 5.30 pm, empty again by 9. Phase 1, today, uses classical machine learning; Phase 2 adds a graph neural network on the same data and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METR-LA. One table: a row every five minutes for four months, a column per sensor, each cell a speed in miles per hour. On the left you see how we cut the four months: the first twelve weeks are for training, the next two are the validation weeks that only decide when to stop training, and the last three and a half weeks of June are the test, which no model sees. We split by date, never by shuffling: rows five minutes apart are near-copies, so a random split would leak the test set into training and make the score look too good. There is a one-hour gap at each boundary. The table on the right shows how the examples are made. 23,967 training slots times 207 sensors gives about five million readings. The first thing we found is that 8 percent of readings are exactly zero. That is not a jam, it is a sensor that was offline: the zeros come in runs, and on 6 percent of the slots every sensor in the city reads zero at once. We mark those cells unknown. We do not delete rows or sensors and we do not fill in guessed values. Each example has 34 input numbers and an answer, the speed 15, 30 or 60 minutes later; if that answer is unknown the example is skipped. That leaves 4.6 million training examples and 1.24 million test examples per horizon, about 10 percent of them jammed.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learns from examples of the form situation to outcome, so we have to describe each situation with numbers. For every sensor at every five-minute slot we build 34 numbers, in five groups. A: the sensor's own speeds over the last hour, twelve numbers. B: a summary of that hour, its mean, spread, min, max, how much of it is unknown and the trend over the last 15 minutes. C: the clock, time of day and day of week written as sine and cosine so that five to midnight and five past are close together, plus a weekend flag and the hour. D: what is normal for this sensor at this time of week, computed from the training weeks only, and how far from normal it is now. E: eight numbers about the neighbours: upstream and downstream average speeds now, five and ten minutes ago, the slowest neighbour and how many neighbours are jammed. The first 26 are the sensor alone, we call that local; adding the 8 neighbour numbers gives spatial. Every model is trained both ways, so the gap between them is exactly what the neighbours add. The last column shows how much the trained model relies on each group: the current speed is the biggest single input, and the second biggest is the downstream neighbours, the sensors ahead, which is what the physics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we looked at the data. The table compares off-peak with weekday rush hour over the four months: the average speed drops from about 60 to 50 miles per hour, the spread almost doubles, and the share of readings below 35 miles per hour, our definition of jammed, goes from 5 percent to 26 percent. At 5 pm on a weekday more than a third of all sensors are jammed. The chart shows the average speed through the day: two slow periods on weekdays, morning and evening, with the evening worse, and weekends flat. The pattern repeats every week, which means the usual speed at this time of week is a very good predictor. We also measured memory: a sensor's speed is 84 percent correlated with its own speed one hour earlier, and 64 percent with 24 hours earlier. These findings became inputs: the last hour of history, the clock, and the usual speed. They also decide how we score: rush hour and off-peak separately, because that is where the models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chart in our exploration. Each dot is a pair of sensors: left to right is the road distance between them, bottom to top is how correlated their speeds are. Sensors under one kilometre apart have a correlation of 0.85; at five kilometres it drops to 0.3, at ten to 0.2. So neighbours do carry information, but only close ones. Why should they? Think of a queue at a ticket counter: new people join at the back, so the queue grows backwards. A traffic jam is the same: its tail moves against the direction of the cars, at about 15 to 20 kilometres an hour. This was worked out in 1955 and is called the LWR model. So if the sensor ahead of you is jammed now, that jam will reach you in a few minutes, and the sensor behind you tells you how much traffic is about to arrive. We turned that into eight numbers: upstream and downstream average speeds now, five and ten minutes ago, the slowest neighbour, and the share of neighbours that are jammed, with nearer neighbours weighted more. One consequence to remember: a neighbour one hop away can only tell you about the next 5 to 15 minutes; what hits you in an hour is still several sensors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five models, all one per sensor. Two are floors with no learning: the historical average, which predicts the usual speed at this time of week, and persistence, which predicts the speed stays as it is now. Every real model must beat both. Ridge regression is a weighted sum of the inputs, our linear reference. The main model is XGBoost: decision trees built one after another, each one fitted to the mistakes of the ones before, with a small learning rate. One model per sensor per horizon, 621 in total, trained in about twelve minutes. It stops adding trees when the validation error stops improving, typically after about 130 of the 600 allowed, so it is not over-fitting. It also accepts unknown inputs, so our masked outages need no filling. The Random Forest is the cross-check: 100 trees averaged, one forest per sensor predicting all three horizons at once. The numbers on the cards are validation errors, never the test set: XGBoost 2.70 at 15 minutes and 3.63 at 60; the forest 2.73 and 3.69. That is a tie; we lead with XGBoost because it trains three times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on the June test weeks, which no model saw during training. The table gives the mean absolute error in miles per hour: persistence, just repeating the current speed, is very good at 15 minutes but bad at 60; the historical average is the same at every horizon because it ignores the present; XGBoost with neighbour features combines both ideas and wins, 2.87, 3.32 and 3.78 miles per hour. The Random Forest is a hundredth behind. For comparison, DCRNN, the famous deep-learning paper on this data, reaches 3.60 at 60 minutes, so our classical model is close. The box on the left turns the 60-minute forecast into a yes-or-no jam detector, jam meaning below 35 miles per hour. When it says jam, it is right 85 percent of the time; but it only catches 61 percent of the jams. Notice the accuracy trap: because 90 percent of answers are free-flowing, a model that always says free scores 89.7 percent, so we never use accuracy as the headline. We use MAE, masked, meaning cells where the true speed is unknown are skipped, so an outage never counts 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experiment of Phase 1. We take the same XGBoost and add the eight neighbour numbers, changing nothing else. The error falls at every horizon: by 4 percent at 15 minutes, 3 at 30 and about 2 at 60, for 147 of the 207 sensors, and the Random Forest shows the same. The help is three times larger in rush hour than off-peak, which is what you expect if the extra information is about jams spreading. Notice that the help fades at 60 minutes. That matches the physics: a neighbour one hop away only sees 5 to 15 minutes ahead; what reaches you in an hour is still several sensors away. A graph model that looks several hops out is what Phase 2 adds, and this tells us where it should help most. Where are the remaining mistakes? In rush hour and in jammed traffic: the error roughly doubles in the peaks, and the detector catches only 61 percent of jams an hour ahead, because a jam that has not reached a sensor yet is invisible in that sensor's own history. Finally, the numbers are honest: split by date with a gap, settings fixed in advance, validation ranks the models exactly like the test set, and everything reruns with one command. Phase 2 will train a Graph Attention Network on exactly the same data, split and scoring; any traffic-signal experiment will be a simulation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one repository and reruns with a single command: data, analysis, models, figures and every number in the report, so the report cannot disagree with the experiments. Kartik did the data pipeline and the exploration, Arhan the feature engineering, Chirag the model training, Siddhanth the models and the report, Abhijeet the evaluation — but we all reviewed everything.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
    <p:bg>
      <p:bgPr>
        <a:solidFill>
          <a:srgbClr val="F4F4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1A1A1A"/>
          </a:solidFill>
          <a:ln w="12700">
            <a:solidFill>
              <a:srgbClr val="1A1A1A"/>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D6D6D6"/>
          </a:solidFill>
          <a:ln w="12700">
            <a:solidFill>
              <a:srgbClr val="D6D6D6"/>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headline"/>
          <p:cNvSpPr txBox="1"/>
          <p:nvPr/>
        </p:nvSpPr>
        <p:spPr>
          <a:xfrm>
            <a:off x="548640" y="1005840"/>
            <a:ext cx="11091672" cy="1143000"/>
          </a:xfrm>
          <a:prstGeom prst="rect">
            <a:avLst/>
          </a:prstGeom>
          <a:noFill/>
          <a:ln/>
        </p:spPr>
        <p:txBody>
          <a:bodyPr wrap="square" lIns="0" tIns="0" rIns="0" bIns="0" rtlCol="0" anchor="t"/>
          <a:lstStyle/>
          <a:p>
            <a:pPr algn="ctr" indent="0" marL="0">
              <a:lnSpc>
                <a:spcPct val="86000"/>
              </a:lnSpc>
              <a:buNone/>
            </a:pPr>
            <a:r>
              <a:rPr lang="en-US" sz="6200" b="1" dirty="0">
                <a:solidFill>
                  <a:srgbClr val="1A1A1A"/>
                </a:solidFill>
                <a:latin typeface="Poppins" pitchFamily="34" charset="0"/>
                <a:ea typeface="Poppins" pitchFamily="34" charset="-122"/>
                <a:cs typeface="Poppins" pitchFamily="34" charset="-120"/>
              </a:rPr>
              <a:t>WHY TRAFFIC?</a:t>
            </a:r>
            <a:endParaRPr lang="en-US" sz="6200" dirty="0"/>
          </a:p>
        </p:txBody>
      </p:sp>
      <p:sp>
        <p:nvSpPr>
          <p:cNvPr id="15" name="Text 13"/>
          <p:cNvSpPr txBox="1"/>
          <p:nvPr/>
        </p:nvSpPr>
        <p:spPr>
          <a:xfrm>
            <a:off x="914400" y="2121408"/>
            <a:ext cx="10360152" cy="274320"/>
          </a:xfrm>
          <a:prstGeom prst="rect">
            <a:avLst/>
          </a:prstGeom>
          <a:noFill/>
          <a:ln/>
        </p:spPr>
        <p:txBody>
          <a:bodyPr wrap="square" lIns="0" tIns="0" rIns="0" bIns="0" rtlCol="0" anchor="t"/>
          <a:lstStyle/>
          <a:p>
            <a:pPr algn="ctr" indent="0" marL="0">
              <a:buNone/>
            </a:pPr>
            <a:r>
              <a:rPr lang="en-US" sz="1200" dirty="0">
                <a:solidFill>
                  <a:srgbClr val="6B6B6B"/>
                </a:solidFill>
                <a:latin typeface="Poppins" pitchFamily="34" charset="0"/>
                <a:ea typeface="Poppins" pitchFamily="34" charset="-122"/>
                <a:cs typeface="Poppins" pitchFamily="34" charset="-120"/>
              </a:rPr>
              <a:t>Forecasting highway speed 15, 30 and 60 minutes ahead from sensor data · Phase 1 · Team T082, Section B</a:t>
            </a:r>
            <a:endParaRPr lang="en-US" sz="1200" dirty="0"/>
          </a:p>
        </p:txBody>
      </p:sp>
      <p:sp>
        <p:nvSpPr>
          <p:cNvPr id="16" name="Text 14"/>
          <p:cNvSpPr txBox="1"/>
          <p:nvPr/>
        </p:nvSpPr>
        <p:spPr>
          <a:xfrm>
            <a:off x="676656" y="2651760"/>
            <a:ext cx="3429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Poppins" pitchFamily="34" charset="0"/>
                <a:ea typeface="Poppins" pitchFamily="34" charset="-122"/>
                <a:cs typeface="Poppins" pitchFamily="34" charset="-120"/>
              </a:rPr>
              <a:t>t + 60 min</a:t>
            </a:r>
            <a:endParaRPr lang="en-US" sz="2800" dirty="0"/>
          </a:p>
        </p:txBody>
      </p:sp>
      <p:sp>
        <p:nvSpPr>
          <p:cNvPr id="17" name="Text 15"/>
          <p:cNvSpPr txBox="1"/>
          <p:nvPr/>
        </p:nvSpPr>
        <p:spPr>
          <a:xfrm>
            <a:off x="676656" y="3182112"/>
            <a:ext cx="3429000" cy="274320"/>
          </a:xfrm>
          <a:prstGeom prst="rect">
            <a:avLst/>
          </a:prstGeom>
          <a:noFill/>
          <a:ln/>
        </p:spPr>
        <p:txBody>
          <a:bodyPr wrap="square" lIns="0" tIns="0" rIns="0" bIns="0" rtlCol="0" anchor="t"/>
          <a:lstStyle/>
          <a:p>
            <a:pPr algn="ctr" indent="0" marL="0">
              <a:buNone/>
            </a:pPr>
            <a:r>
              <a:rPr lang="en-US" sz="1250" b="1" dirty="0">
                <a:solidFill>
                  <a:srgbClr val="1A1A1A"/>
                </a:solidFill>
                <a:latin typeface="Poppins" pitchFamily="34" charset="0"/>
                <a:ea typeface="Poppins" pitchFamily="34" charset="-122"/>
                <a:cs typeface="Poppins" pitchFamily="34" charset="-120"/>
              </a:rPr>
              <a:t>Real-world impact</a:t>
            </a:r>
            <a:endParaRPr lang="en-US" sz="1250" dirty="0"/>
          </a:p>
        </p:txBody>
      </p:sp>
      <p:sp>
        <p:nvSpPr>
          <p:cNvPr id="18" name="Text 16"/>
          <p:cNvSpPr txBox="1"/>
          <p:nvPr/>
        </p:nvSpPr>
        <p:spPr>
          <a:xfrm>
            <a:off x="813816" y="3493008"/>
            <a:ext cx="3154680" cy="868680"/>
          </a:xfrm>
          <a:prstGeom prst="rect">
            <a:avLst/>
          </a:prstGeom>
          <a:noFill/>
          <a:ln/>
        </p:spPr>
        <p:txBody>
          <a:bodyPr wrap="square" lIns="0" tIns="0" rIns="0" bIns="0" rtlCol="0" anchor="t"/>
          <a:lstStyle/>
          <a:p>
            <a:pPr algn="ctr" indent="0" marL="0">
              <a:buNone/>
            </a:pPr>
            <a:r>
              <a:rPr lang="en-US" sz="1000" dirty="0">
                <a:solidFill>
                  <a:srgbClr val="6B6B6B"/>
                </a:solidFill>
                <a:latin typeface="Poppins" pitchFamily="34" charset="0"/>
                <a:ea typeface="Poppins" pitchFamily="34" charset="-122"/>
                <a:cs typeface="Poppins" pitchFamily="34" charset="-120"/>
              </a:rPr>
              <a:t>A traffic-signal controller needs the next hour's jam map, not the current one. Phase 1 builds that forecast; Phase 2 will use it.</a:t>
            </a:r>
            <a:endParaRPr lang="en-US" sz="1000" dirty="0"/>
          </a:p>
        </p:txBody>
      </p:sp>
      <p:sp>
        <p:nvSpPr>
          <p:cNvPr id="19" name="Text 17"/>
          <p:cNvSpPr txBox="1"/>
          <p:nvPr/>
        </p:nvSpPr>
        <p:spPr>
          <a:xfrm>
            <a:off x="4379976" y="2651760"/>
            <a:ext cx="3429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Poppins" pitchFamily="34" charset="0"/>
                <a:ea typeface="Poppins" pitchFamily="34" charset="-122"/>
                <a:cs typeface="Poppins" pitchFamily="34" charset="-120"/>
              </a:rPr>
              <a:t>207 sensors</a:t>
            </a:r>
            <a:endParaRPr lang="en-US" sz="2800" dirty="0"/>
          </a:p>
        </p:txBody>
      </p:sp>
      <p:sp>
        <p:nvSpPr>
          <p:cNvPr id="20" name="Text 18"/>
          <p:cNvSpPr txBox="1"/>
          <p:nvPr/>
        </p:nvSpPr>
        <p:spPr>
          <a:xfrm>
            <a:off x="4379976" y="3182112"/>
            <a:ext cx="3429000" cy="274320"/>
          </a:xfrm>
          <a:prstGeom prst="rect">
            <a:avLst/>
          </a:prstGeom>
          <a:noFill/>
          <a:ln/>
        </p:spPr>
        <p:txBody>
          <a:bodyPr wrap="square" lIns="0" tIns="0" rIns="0" bIns="0" rtlCol="0" anchor="t"/>
          <a:lstStyle/>
          <a:p>
            <a:pPr algn="ctr" indent="0" marL="0">
              <a:buNone/>
            </a:pPr>
            <a:r>
              <a:rPr lang="en-US" sz="1250" b="1" dirty="0">
                <a:solidFill>
                  <a:srgbClr val="1A1A1A"/>
                </a:solidFill>
                <a:latin typeface="Poppins" pitchFamily="34" charset="0"/>
                <a:ea typeface="Poppins" pitchFamily="34" charset="-122"/>
                <a:cs typeface="Poppins" pitchFamily="34" charset="-120"/>
              </a:rPr>
              <a:t>Real, public data</a:t>
            </a:r>
            <a:endParaRPr lang="en-US" sz="1250" dirty="0"/>
          </a:p>
        </p:txBody>
      </p:sp>
      <p:sp>
        <p:nvSpPr>
          <p:cNvPr id="21" name="Text 19"/>
          <p:cNvSpPr txBox="1"/>
          <p:nvPr/>
        </p:nvSpPr>
        <p:spPr>
          <a:xfrm>
            <a:off x="4517136" y="3493008"/>
            <a:ext cx="3154680" cy="868680"/>
          </a:xfrm>
          <a:prstGeom prst="rect">
            <a:avLst/>
          </a:prstGeom>
          <a:noFill/>
          <a:ln/>
        </p:spPr>
        <p:txBody>
          <a:bodyPr wrap="square" lIns="0" tIns="0" rIns="0" bIns="0" rtlCol="0" anchor="t"/>
          <a:lstStyle/>
          <a:p>
            <a:pPr algn="ctr" indent="0" marL="0">
              <a:buNone/>
            </a:pPr>
            <a:r>
              <a:rPr lang="en-US" sz="1000" dirty="0">
                <a:solidFill>
                  <a:srgbClr val="6B6B6B"/>
                </a:solidFill>
                <a:latin typeface="Poppins" pitchFamily="34" charset="0"/>
                <a:ea typeface="Poppins" pitchFamily="34" charset="-122"/>
                <a:cs typeface="Poppins" pitchFamily="34" charset="-120"/>
              </a:rPr>
              <a:t>METR-LA: a speed reading every 5 minutes on Los Angeles highways, March–June 2012. The standard benchmark (Li et al., 2018).</a:t>
            </a:r>
            <a:endParaRPr lang="en-US" sz="1000" dirty="0"/>
          </a:p>
        </p:txBody>
      </p:sp>
      <p:sp>
        <p:nvSpPr>
          <p:cNvPr id="22" name="Text 20"/>
          <p:cNvSpPr txBox="1"/>
          <p:nvPr/>
        </p:nvSpPr>
        <p:spPr>
          <a:xfrm>
            <a:off x="8083296" y="2651760"/>
            <a:ext cx="3429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Poppins" pitchFamily="34" charset="0"/>
                <a:ea typeface="Poppins" pitchFamily="34" charset="-122"/>
                <a:cs typeface="Poppins" pitchFamily="34" charset="-120"/>
              </a:rPr>
              <a:t>15–20 km/h</a:t>
            </a:r>
            <a:endParaRPr lang="en-US" sz="2800" dirty="0"/>
          </a:p>
        </p:txBody>
      </p:sp>
      <p:sp>
        <p:nvSpPr>
          <p:cNvPr id="23" name="Text 21"/>
          <p:cNvSpPr txBox="1"/>
          <p:nvPr/>
        </p:nvSpPr>
        <p:spPr>
          <a:xfrm>
            <a:off x="8083296" y="3182112"/>
            <a:ext cx="3429000" cy="274320"/>
          </a:xfrm>
          <a:prstGeom prst="rect">
            <a:avLst/>
          </a:prstGeom>
          <a:noFill/>
          <a:ln/>
        </p:spPr>
        <p:txBody>
          <a:bodyPr wrap="square" lIns="0" tIns="0" rIns="0" bIns="0" rtlCol="0" anchor="t"/>
          <a:lstStyle/>
          <a:p>
            <a:pPr algn="ctr" indent="0" marL="0">
              <a:buNone/>
            </a:pPr>
            <a:r>
              <a:rPr lang="en-US" sz="1250" b="1" dirty="0">
                <a:solidFill>
                  <a:srgbClr val="1A1A1A"/>
                </a:solidFill>
                <a:latin typeface="Poppins" pitchFamily="34" charset="0"/>
                <a:ea typeface="Poppins" pitchFamily="34" charset="-122"/>
                <a:cs typeface="Poppins" pitchFamily="34" charset="-120"/>
              </a:rPr>
              <a:t>A physics hint</a:t>
            </a:r>
            <a:endParaRPr lang="en-US" sz="1250" dirty="0"/>
          </a:p>
        </p:txBody>
      </p:sp>
      <p:sp>
        <p:nvSpPr>
          <p:cNvPr id="24" name="Text 22"/>
          <p:cNvSpPr txBox="1"/>
          <p:nvPr/>
        </p:nvSpPr>
        <p:spPr>
          <a:xfrm>
            <a:off x="8220456" y="3493008"/>
            <a:ext cx="3154680" cy="868680"/>
          </a:xfrm>
          <a:prstGeom prst="rect">
            <a:avLst/>
          </a:prstGeom>
          <a:noFill/>
          <a:ln/>
        </p:spPr>
        <p:txBody>
          <a:bodyPr wrap="square" lIns="0" tIns="0" rIns="0" bIns="0" rtlCol="0" anchor="t"/>
          <a:lstStyle/>
          <a:p>
            <a:pPr algn="ctr" indent="0" marL="0">
              <a:buNone/>
            </a:pPr>
            <a:r>
              <a:rPr lang="en-US" sz="1000" dirty="0">
                <a:solidFill>
                  <a:srgbClr val="6B6B6B"/>
                </a:solidFill>
                <a:latin typeface="Poppins" pitchFamily="34" charset="0"/>
                <a:ea typeface="Poppins" pitchFamily="34" charset="-122"/>
                <a:cs typeface="Poppins" pitchFamily="34" charset="-120"/>
              </a:rPr>
              <a:t>A jam's tail moves backwards against the cars (LWR model, 1955), so the sensor ahead of you knows your near future.</a:t>
            </a:r>
            <a:endParaRPr lang="en-US" sz="1000" dirty="0"/>
          </a:p>
        </p:txBody>
      </p:sp>
      <p:pic>
        <p:nvPicPr>
          <p:cNvPr id="25" name="network snapshots" descr="/tmp/claude-0/-home-claude/da092323-5f3d-56db-8152-6e606916a9e5/scratchpad/deck2/assets/hero_strip.png">    </p:cNvPr>
          <p:cNvPicPr>
            <a:picLocks noChangeAspect="1"/>
          </p:cNvPicPr>
          <p:nvPr/>
        </p:nvPicPr>
        <p:blipFill>
          <a:blip r:embed="rId1"/>
          <a:stretch>
            <a:fillRect/>
          </a:stretch>
        </p:blipFill>
        <p:spPr>
          <a:xfrm>
            <a:off x="0" y="4526280"/>
            <a:ext cx="12188952" cy="2331720"/>
          </a:xfrm>
          <a:prstGeom prst="rect">
            <a:avLst/>
          </a:prstGeom>
        </p:spPr>
      </p:pic>
      <p:sp>
        <p:nvSpPr>
          <p:cNvPr id="26" name="Shape 23"/>
          <p:cNvSpPr/>
          <p:nvPr/>
        </p:nvSpPr>
        <p:spPr>
          <a:xfrm>
            <a:off x="548640" y="6355080"/>
            <a:ext cx="6949440" cy="274320"/>
          </a:xfrm>
          <a:prstGeom prst="roundRect">
            <a:avLst>
              <a:gd name="adj" fmla="val 50000"/>
            </a:avLst>
          </a:prstGeom>
          <a:solidFill>
            <a:srgbClr val="1A1A1A"/>
          </a:solidFill>
          <a:ln w="12700">
            <a:solidFill>
              <a:srgbClr val="1A1A1A"/>
            </a:solidFill>
            <a:prstDash val="solid"/>
          </a:ln>
        </p:spPr>
      </p:sp>
      <p:sp>
        <p:nvSpPr>
          <p:cNvPr id="27" name="Text 24"/>
          <p:cNvSpPr txBox="1"/>
          <p:nvPr/>
        </p:nvSpPr>
        <p:spPr>
          <a:xfrm>
            <a:off x="548640" y="6355080"/>
            <a:ext cx="6949440" cy="274320"/>
          </a:xfrm>
          <a:prstGeom prst="rect">
            <a:avLst/>
          </a:prstGeom>
          <a:noFill/>
          <a:ln/>
        </p:spPr>
        <p:txBody>
          <a:bodyPr wrap="square" lIns="0" tIns="0" rIns="0" bIns="0" rtlCol="0" anchor="ctr"/>
          <a:lstStyle/>
          <a:p>
            <a:pPr algn="ctr" indent="0" marL="0">
              <a:buNone/>
            </a:pPr>
            <a:r>
              <a:rPr lang="en-US" sz="850" dirty="0">
                <a:solidFill>
                  <a:srgbClr val="FFFFFF"/>
                </a:solidFill>
                <a:latin typeface="Poppins" pitchFamily="34" charset="0"/>
                <a:ea typeface="Poppins" pitchFamily="34" charset="-122"/>
                <a:cs typeface="Poppins" pitchFamily="34" charset="-120"/>
              </a:rPr>
              <a:t>Wednesday 13 June 2012, five moments · one dot per sensor · dark = jammed (below 35 mph) · hollow = sensor offline</a:t>
            </a:r>
            <a:endParaRPr lang="en-US" sz="850" dirty="0"/>
          </a:p>
        </p:txBody>
      </p:sp>
      <p:sp>
        <p:nvSpPr>
          <p:cNvPr id="28" name="Shape 25"/>
          <p:cNvSpPr/>
          <p:nvPr/>
        </p:nvSpPr>
        <p:spPr>
          <a:xfrm>
            <a:off x="11274552" y="5989320"/>
            <a:ext cx="365760" cy="365760"/>
          </a:xfrm>
          <a:prstGeom prst="ellipse">
            <a:avLst/>
          </a:prstGeom>
          <a:solidFill>
            <a:srgbClr val="1A1A1A"/>
          </a:solidFill>
          <a:ln w="12700">
            <a:solidFill>
              <a:srgbClr val="1A1A1A"/>
            </a:solidFill>
            <a:prstDash val="solid"/>
          </a:ln>
        </p:spPr>
      </p:sp>
      <p:sp>
        <p:nvSpPr>
          <p:cNvPr id="29" name="Text 26"/>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1A1A1A"/>
          </a:solidFill>
          <a:ln w="12700">
            <a:solidFill>
              <a:srgbClr val="1A1A1A"/>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headline"/>
          <p:cNvSpPr txBox="1"/>
          <p:nvPr/>
        </p:nvSpPr>
        <p:spPr>
          <a:xfrm>
            <a:off x="658368" y="1051560"/>
            <a:ext cx="3840480" cy="1626616"/>
          </a:xfrm>
          <a:prstGeom prst="rect">
            <a:avLst/>
          </a:prstGeom>
          <a:noFill/>
          <a:ln/>
        </p:spPr>
        <p:txBody>
          <a:bodyPr wrap="square" lIns="0" tIns="0" rIns="0" bIns="0" rtlCol="0" anchor="t"/>
          <a:lstStyle/>
          <a:p>
            <a:pPr algn="l" indent="0" marL="0">
              <a:lnSpc>
                <a:spcPct val="86000"/>
              </a:lnSpc>
              <a:buNone/>
            </a:pPr>
            <a:r>
              <a:rPr lang="en-US" sz="5800" b="1" dirty="0">
                <a:solidFill>
                  <a:srgbClr val="1A1A1A"/>
                </a:solidFill>
                <a:latin typeface="Poppins" pitchFamily="34" charset="0"/>
                <a:ea typeface="Poppins" pitchFamily="34" charset="-122"/>
                <a:cs typeface="Poppins" pitchFamily="34" charset="-120"/>
              </a:rPr>
              <a:t>THE</a:t>
            </a:r>
            <a:endParaRPr lang="en-US" sz="5800" dirty="0"/>
          </a:p>
          <a:p>
            <a:pPr algn="l" indent="0" marL="0">
              <a:lnSpc>
                <a:spcPct val="86000"/>
              </a:lnSpc>
              <a:buNone/>
            </a:pPr>
            <a:r>
              <a:rPr lang="en-US" sz="5800" b="1" dirty="0">
                <a:solidFill>
                  <a:srgbClr val="1A1A1A"/>
                </a:solidFill>
                <a:latin typeface="Poppins" pitchFamily="34" charset="0"/>
                <a:ea typeface="Poppins" pitchFamily="34" charset="-122"/>
                <a:cs typeface="Poppins" pitchFamily="34" charset="-120"/>
              </a:rPr>
              <a:t>DATA</a:t>
            </a:r>
            <a:endParaRPr lang="en-US" sz="5800" dirty="0"/>
          </a:p>
        </p:txBody>
      </p:sp>
      <p:sp>
        <p:nvSpPr>
          <p:cNvPr id="15" name="Text 13"/>
          <p:cNvSpPr txBox="1"/>
          <p:nvPr/>
        </p:nvSpPr>
        <p:spPr>
          <a:xfrm>
            <a:off x="658368" y="2743200"/>
            <a:ext cx="3657600" cy="1188720"/>
          </a:xfrm>
          <a:prstGeom prst="rect">
            <a:avLst/>
          </a:prstGeom>
          <a:noFill/>
          <a:ln/>
        </p:spPr>
        <p:txBody>
          <a:bodyPr wrap="square" lIns="0" tIns="0" rIns="0" bIns="0" rtlCol="0" anchor="t"/>
          <a:lstStyle/>
          <a:p>
            <a:pPr indent="0" marL="0">
              <a:buNone/>
            </a:pPr>
            <a:r>
              <a:rPr lang="en-US" sz="1050" dirty="0">
                <a:solidFill>
                  <a:srgbClr val="3A3A3A"/>
                </a:solidFill>
                <a:latin typeface="Poppins" pitchFamily="34" charset="0"/>
                <a:ea typeface="Poppins" pitchFamily="34" charset="-122"/>
                <a:cs typeface="Poppins" pitchFamily="34" charset="-120"/>
              </a:rPr>
              <a:t>METR-LA is one table: a row every five minutes from 1 March to 27 June 2012, a column for each of 207 sensors, and in each cell the average speed in mph. It comes with a road map that says how far apart the sensors are by road, so we know which sensors are neighbours.</a:t>
            </a:r>
            <a:endParaRPr lang="en-US" sz="1050" dirty="0"/>
          </a:p>
        </p:txBody>
      </p:sp>
      <p:sp>
        <p:nvSpPr>
          <p:cNvPr id="16" name="Text 14"/>
          <p:cNvSpPr txBox="1"/>
          <p:nvPr/>
        </p:nvSpPr>
        <p:spPr>
          <a:xfrm>
            <a:off x="658368" y="4041648"/>
            <a:ext cx="2743200" cy="201168"/>
          </a:xfrm>
          <a:prstGeom prst="rect">
            <a:avLst/>
          </a:prstGeom>
          <a:noFill/>
          <a:ln/>
        </p:spPr>
        <p:txBody>
          <a:bodyPr wrap="square" lIns="0" tIns="0" rIns="0" bIns="0" rtlCol="0" anchor="t"/>
          <a:lstStyle/>
          <a:p>
            <a:pPr indent="0" marL="0">
              <a:buNone/>
            </a:pPr>
            <a:r>
              <a:rPr lang="en-US" sz="750" b="1" spc="160" kern="0" dirty="0">
                <a:solidFill>
                  <a:srgbClr val="6B6B6B"/>
                </a:solidFill>
                <a:latin typeface="Poppins" pitchFamily="34" charset="0"/>
                <a:ea typeface="Poppins" pitchFamily="34" charset="-122"/>
                <a:cs typeface="Poppins" pitchFamily="34" charset="-120"/>
              </a:rPr>
              <a:t>17 WEEKS</a:t>
            </a:r>
            <a:endParaRPr lang="en-US" sz="750" dirty="0"/>
          </a:p>
        </p:txBody>
      </p:sp>
      <p:sp>
        <p:nvSpPr>
          <p:cNvPr id="17" name="Shape 15"/>
          <p:cNvSpPr/>
          <p:nvPr/>
        </p:nvSpPr>
        <p:spPr>
          <a:xfrm>
            <a:off x="658368" y="4297680"/>
            <a:ext cx="150876" cy="274320"/>
          </a:xfrm>
          <a:prstGeom prst="roundRect">
            <a:avLst>
              <a:gd name="adj" fmla="val 24242"/>
            </a:avLst>
          </a:prstGeom>
          <a:solidFill>
            <a:srgbClr val="1A1A1A"/>
          </a:solidFill>
          <a:ln w="12700">
            <a:solidFill>
              <a:srgbClr val="1A1A1A"/>
            </a:solidFill>
            <a:prstDash val="solid"/>
          </a:ln>
        </p:spPr>
      </p:sp>
      <p:sp>
        <p:nvSpPr>
          <p:cNvPr id="18" name="Shape 16"/>
          <p:cNvSpPr/>
          <p:nvPr/>
        </p:nvSpPr>
        <p:spPr>
          <a:xfrm>
            <a:off x="859536" y="4297680"/>
            <a:ext cx="150876" cy="274320"/>
          </a:xfrm>
          <a:prstGeom prst="roundRect">
            <a:avLst>
              <a:gd name="adj" fmla="val 24242"/>
            </a:avLst>
          </a:prstGeom>
          <a:solidFill>
            <a:srgbClr val="1A1A1A"/>
          </a:solidFill>
          <a:ln w="12700">
            <a:solidFill>
              <a:srgbClr val="1A1A1A"/>
            </a:solidFill>
            <a:prstDash val="solid"/>
          </a:ln>
        </p:spPr>
      </p:sp>
      <p:sp>
        <p:nvSpPr>
          <p:cNvPr id="19" name="Shape 17"/>
          <p:cNvSpPr/>
          <p:nvPr/>
        </p:nvSpPr>
        <p:spPr>
          <a:xfrm>
            <a:off x="1060704" y="4297680"/>
            <a:ext cx="150876" cy="274320"/>
          </a:xfrm>
          <a:prstGeom prst="roundRect">
            <a:avLst>
              <a:gd name="adj" fmla="val 24242"/>
            </a:avLst>
          </a:prstGeom>
          <a:solidFill>
            <a:srgbClr val="1A1A1A"/>
          </a:solidFill>
          <a:ln w="12700">
            <a:solidFill>
              <a:srgbClr val="1A1A1A"/>
            </a:solidFill>
            <a:prstDash val="solid"/>
          </a:ln>
        </p:spPr>
      </p:sp>
      <p:sp>
        <p:nvSpPr>
          <p:cNvPr id="20" name="Shape 18"/>
          <p:cNvSpPr/>
          <p:nvPr/>
        </p:nvSpPr>
        <p:spPr>
          <a:xfrm>
            <a:off x="1261872" y="4297680"/>
            <a:ext cx="150876" cy="274320"/>
          </a:xfrm>
          <a:prstGeom prst="roundRect">
            <a:avLst>
              <a:gd name="adj" fmla="val 24242"/>
            </a:avLst>
          </a:prstGeom>
          <a:solidFill>
            <a:srgbClr val="1A1A1A"/>
          </a:solidFill>
          <a:ln w="12700">
            <a:solidFill>
              <a:srgbClr val="1A1A1A"/>
            </a:solidFill>
            <a:prstDash val="solid"/>
          </a:ln>
        </p:spPr>
      </p:sp>
      <p:sp>
        <p:nvSpPr>
          <p:cNvPr id="21" name="Shape 19"/>
          <p:cNvSpPr/>
          <p:nvPr/>
        </p:nvSpPr>
        <p:spPr>
          <a:xfrm>
            <a:off x="1463040" y="4297680"/>
            <a:ext cx="150876" cy="274320"/>
          </a:xfrm>
          <a:prstGeom prst="roundRect">
            <a:avLst>
              <a:gd name="adj" fmla="val 24242"/>
            </a:avLst>
          </a:prstGeom>
          <a:solidFill>
            <a:srgbClr val="1A1A1A"/>
          </a:solidFill>
          <a:ln w="12700">
            <a:solidFill>
              <a:srgbClr val="1A1A1A"/>
            </a:solidFill>
            <a:prstDash val="solid"/>
          </a:ln>
        </p:spPr>
      </p:sp>
      <p:sp>
        <p:nvSpPr>
          <p:cNvPr id="22" name="Shape 20"/>
          <p:cNvSpPr/>
          <p:nvPr/>
        </p:nvSpPr>
        <p:spPr>
          <a:xfrm>
            <a:off x="1664208" y="4297680"/>
            <a:ext cx="150876" cy="274320"/>
          </a:xfrm>
          <a:prstGeom prst="roundRect">
            <a:avLst>
              <a:gd name="adj" fmla="val 24242"/>
            </a:avLst>
          </a:prstGeom>
          <a:solidFill>
            <a:srgbClr val="1A1A1A"/>
          </a:solidFill>
          <a:ln w="12700">
            <a:solidFill>
              <a:srgbClr val="1A1A1A"/>
            </a:solidFill>
            <a:prstDash val="solid"/>
          </a:ln>
        </p:spPr>
      </p:sp>
      <p:sp>
        <p:nvSpPr>
          <p:cNvPr id="23" name="Shape 21"/>
          <p:cNvSpPr/>
          <p:nvPr/>
        </p:nvSpPr>
        <p:spPr>
          <a:xfrm>
            <a:off x="1865376" y="4297680"/>
            <a:ext cx="150876" cy="274320"/>
          </a:xfrm>
          <a:prstGeom prst="roundRect">
            <a:avLst>
              <a:gd name="adj" fmla="val 24242"/>
            </a:avLst>
          </a:prstGeom>
          <a:solidFill>
            <a:srgbClr val="1A1A1A"/>
          </a:solidFill>
          <a:ln w="12700">
            <a:solidFill>
              <a:srgbClr val="1A1A1A"/>
            </a:solidFill>
            <a:prstDash val="solid"/>
          </a:ln>
        </p:spPr>
      </p:sp>
      <p:sp>
        <p:nvSpPr>
          <p:cNvPr id="24" name="Shape 22"/>
          <p:cNvSpPr/>
          <p:nvPr/>
        </p:nvSpPr>
        <p:spPr>
          <a:xfrm>
            <a:off x="2066544" y="4297680"/>
            <a:ext cx="150876" cy="274320"/>
          </a:xfrm>
          <a:prstGeom prst="roundRect">
            <a:avLst>
              <a:gd name="adj" fmla="val 24242"/>
            </a:avLst>
          </a:prstGeom>
          <a:solidFill>
            <a:srgbClr val="1A1A1A"/>
          </a:solidFill>
          <a:ln w="12700">
            <a:solidFill>
              <a:srgbClr val="1A1A1A"/>
            </a:solidFill>
            <a:prstDash val="solid"/>
          </a:ln>
        </p:spPr>
      </p:sp>
      <p:sp>
        <p:nvSpPr>
          <p:cNvPr id="25" name="Shape 23"/>
          <p:cNvSpPr/>
          <p:nvPr/>
        </p:nvSpPr>
        <p:spPr>
          <a:xfrm>
            <a:off x="2267712" y="4297680"/>
            <a:ext cx="150876" cy="274320"/>
          </a:xfrm>
          <a:prstGeom prst="roundRect">
            <a:avLst>
              <a:gd name="adj" fmla="val 24242"/>
            </a:avLst>
          </a:prstGeom>
          <a:solidFill>
            <a:srgbClr val="1A1A1A"/>
          </a:solidFill>
          <a:ln w="12700">
            <a:solidFill>
              <a:srgbClr val="1A1A1A"/>
            </a:solidFill>
            <a:prstDash val="solid"/>
          </a:ln>
        </p:spPr>
      </p:sp>
      <p:sp>
        <p:nvSpPr>
          <p:cNvPr id="26" name="Shape 24"/>
          <p:cNvSpPr/>
          <p:nvPr/>
        </p:nvSpPr>
        <p:spPr>
          <a:xfrm>
            <a:off x="2468880" y="4297680"/>
            <a:ext cx="150876" cy="274320"/>
          </a:xfrm>
          <a:prstGeom prst="roundRect">
            <a:avLst>
              <a:gd name="adj" fmla="val 24242"/>
            </a:avLst>
          </a:prstGeom>
          <a:solidFill>
            <a:srgbClr val="1A1A1A"/>
          </a:solidFill>
          <a:ln w="12700">
            <a:solidFill>
              <a:srgbClr val="1A1A1A"/>
            </a:solidFill>
            <a:prstDash val="solid"/>
          </a:ln>
        </p:spPr>
      </p:sp>
      <p:sp>
        <p:nvSpPr>
          <p:cNvPr id="27" name="Shape 25"/>
          <p:cNvSpPr/>
          <p:nvPr/>
        </p:nvSpPr>
        <p:spPr>
          <a:xfrm>
            <a:off x="2670048" y="4297680"/>
            <a:ext cx="150876" cy="274320"/>
          </a:xfrm>
          <a:prstGeom prst="roundRect">
            <a:avLst>
              <a:gd name="adj" fmla="val 24242"/>
            </a:avLst>
          </a:prstGeom>
          <a:solidFill>
            <a:srgbClr val="1A1A1A"/>
          </a:solidFill>
          <a:ln w="12700">
            <a:solidFill>
              <a:srgbClr val="1A1A1A"/>
            </a:solidFill>
            <a:prstDash val="solid"/>
          </a:ln>
        </p:spPr>
      </p:sp>
      <p:sp>
        <p:nvSpPr>
          <p:cNvPr id="28" name="Shape 26"/>
          <p:cNvSpPr/>
          <p:nvPr/>
        </p:nvSpPr>
        <p:spPr>
          <a:xfrm>
            <a:off x="2871216" y="4297680"/>
            <a:ext cx="150876" cy="274320"/>
          </a:xfrm>
          <a:prstGeom prst="roundRect">
            <a:avLst>
              <a:gd name="adj" fmla="val 24242"/>
            </a:avLst>
          </a:prstGeom>
          <a:solidFill>
            <a:srgbClr val="1A1A1A"/>
          </a:solidFill>
          <a:ln w="12700">
            <a:solidFill>
              <a:srgbClr val="1A1A1A"/>
            </a:solidFill>
            <a:prstDash val="solid"/>
          </a:ln>
        </p:spPr>
      </p:sp>
      <p:sp>
        <p:nvSpPr>
          <p:cNvPr id="29" name="Shape 27"/>
          <p:cNvSpPr/>
          <p:nvPr/>
        </p:nvSpPr>
        <p:spPr>
          <a:xfrm>
            <a:off x="3072384" y="4297680"/>
            <a:ext cx="150876" cy="274320"/>
          </a:xfrm>
          <a:prstGeom prst="roundRect">
            <a:avLst>
              <a:gd name="adj" fmla="val 24242"/>
            </a:avLst>
          </a:prstGeom>
          <a:solidFill>
            <a:srgbClr val="9A9A9A"/>
          </a:solidFill>
          <a:ln w="12700">
            <a:solidFill>
              <a:srgbClr val="9A9A9A"/>
            </a:solidFill>
            <a:prstDash val="solid"/>
          </a:ln>
        </p:spPr>
      </p:sp>
      <p:sp>
        <p:nvSpPr>
          <p:cNvPr id="30" name="Shape 28"/>
          <p:cNvSpPr/>
          <p:nvPr/>
        </p:nvSpPr>
        <p:spPr>
          <a:xfrm>
            <a:off x="3273552" y="4297680"/>
            <a:ext cx="150876" cy="274320"/>
          </a:xfrm>
          <a:prstGeom prst="roundRect">
            <a:avLst>
              <a:gd name="adj" fmla="val 24242"/>
            </a:avLst>
          </a:prstGeom>
          <a:solidFill>
            <a:srgbClr val="9A9A9A"/>
          </a:solidFill>
          <a:ln w="12700">
            <a:solidFill>
              <a:srgbClr val="9A9A9A"/>
            </a:solidFill>
            <a:prstDash val="solid"/>
          </a:ln>
        </p:spPr>
      </p:sp>
      <p:sp>
        <p:nvSpPr>
          <p:cNvPr id="31" name="Shape 29"/>
          <p:cNvSpPr/>
          <p:nvPr/>
        </p:nvSpPr>
        <p:spPr>
          <a:xfrm>
            <a:off x="3474720" y="4297680"/>
            <a:ext cx="150876" cy="274320"/>
          </a:xfrm>
          <a:prstGeom prst="roundRect">
            <a:avLst>
              <a:gd name="adj" fmla="val 24242"/>
            </a:avLst>
          </a:prstGeom>
          <a:solidFill>
            <a:srgbClr val="F4F4F4"/>
          </a:solidFill>
          <a:ln w="12700">
            <a:solidFill>
              <a:srgbClr val="1A1A1A"/>
            </a:solidFill>
            <a:prstDash val="solid"/>
          </a:ln>
        </p:spPr>
      </p:sp>
      <p:sp>
        <p:nvSpPr>
          <p:cNvPr id="32" name="Shape 30"/>
          <p:cNvSpPr/>
          <p:nvPr/>
        </p:nvSpPr>
        <p:spPr>
          <a:xfrm>
            <a:off x="3675888" y="4297680"/>
            <a:ext cx="150876" cy="274320"/>
          </a:xfrm>
          <a:prstGeom prst="roundRect">
            <a:avLst>
              <a:gd name="adj" fmla="val 24242"/>
            </a:avLst>
          </a:prstGeom>
          <a:solidFill>
            <a:srgbClr val="F4F4F4"/>
          </a:solidFill>
          <a:ln w="12700">
            <a:solidFill>
              <a:srgbClr val="1A1A1A"/>
            </a:solidFill>
            <a:prstDash val="solid"/>
          </a:ln>
        </p:spPr>
      </p:sp>
      <p:sp>
        <p:nvSpPr>
          <p:cNvPr id="33" name="Shape 31"/>
          <p:cNvSpPr/>
          <p:nvPr/>
        </p:nvSpPr>
        <p:spPr>
          <a:xfrm>
            <a:off x="3877056" y="4297680"/>
            <a:ext cx="150876" cy="274320"/>
          </a:xfrm>
          <a:prstGeom prst="roundRect">
            <a:avLst>
              <a:gd name="adj" fmla="val 24242"/>
            </a:avLst>
          </a:prstGeom>
          <a:solidFill>
            <a:srgbClr val="F4F4F4"/>
          </a:solidFill>
          <a:ln w="12700">
            <a:solidFill>
              <a:srgbClr val="1A1A1A"/>
            </a:solidFill>
            <a:prstDash val="solid"/>
          </a:ln>
        </p:spPr>
      </p:sp>
      <p:sp>
        <p:nvSpPr>
          <p:cNvPr id="34" name="Shape 32"/>
          <p:cNvSpPr/>
          <p:nvPr/>
        </p:nvSpPr>
        <p:spPr>
          <a:xfrm>
            <a:off x="658368" y="4736592"/>
            <a:ext cx="109728" cy="155448"/>
          </a:xfrm>
          <a:prstGeom prst="roundRect">
            <a:avLst>
              <a:gd name="adj" fmla="val 25000"/>
            </a:avLst>
          </a:prstGeom>
          <a:solidFill>
            <a:srgbClr val="1A1A1A"/>
          </a:solidFill>
          <a:ln w="12700">
            <a:solidFill>
              <a:srgbClr val="1A1A1A"/>
            </a:solidFill>
            <a:prstDash val="solid"/>
          </a:ln>
        </p:spPr>
      </p:sp>
      <p:sp>
        <p:nvSpPr>
          <p:cNvPr id="35" name="Text 33"/>
          <p:cNvSpPr txBox="1"/>
          <p:nvPr/>
        </p:nvSpPr>
        <p:spPr>
          <a:xfrm>
            <a:off x="841248" y="4709160"/>
            <a:ext cx="347472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12  </a:t>
            </a:r>
            <a:pPr indent="0" marL="0">
              <a:buNone/>
            </a:pPr>
            <a:r>
              <a:rPr lang="en-US" sz="950" dirty="0">
                <a:solidFill>
                  <a:srgbClr val="1A1A1A"/>
                </a:solidFill>
                <a:latin typeface="Poppins" pitchFamily="34" charset="0"/>
                <a:ea typeface="Poppins" pitchFamily="34" charset="-122"/>
                <a:cs typeface="Poppins" pitchFamily="34" charset="-120"/>
              </a:rPr>
              <a:t>train · 1 March – 23 May</a:t>
            </a:r>
            <a:endParaRPr lang="en-US" sz="950" dirty="0"/>
          </a:p>
        </p:txBody>
      </p:sp>
      <p:sp>
        <p:nvSpPr>
          <p:cNvPr id="36" name="Shape 34"/>
          <p:cNvSpPr/>
          <p:nvPr/>
        </p:nvSpPr>
        <p:spPr>
          <a:xfrm>
            <a:off x="658368" y="4983480"/>
            <a:ext cx="109728" cy="155448"/>
          </a:xfrm>
          <a:prstGeom prst="roundRect">
            <a:avLst>
              <a:gd name="adj" fmla="val 25000"/>
            </a:avLst>
          </a:prstGeom>
          <a:solidFill>
            <a:srgbClr val="9A9A9A"/>
          </a:solidFill>
          <a:ln w="12700">
            <a:solidFill>
              <a:srgbClr val="9A9A9A"/>
            </a:solidFill>
            <a:prstDash val="solid"/>
          </a:ln>
        </p:spPr>
      </p:sp>
      <p:sp>
        <p:nvSpPr>
          <p:cNvPr id="37" name="Text 35"/>
          <p:cNvSpPr txBox="1"/>
          <p:nvPr/>
        </p:nvSpPr>
        <p:spPr>
          <a:xfrm>
            <a:off x="841248" y="4956048"/>
            <a:ext cx="347472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2  </a:t>
            </a:r>
            <a:pPr indent="0" marL="0">
              <a:buNone/>
            </a:pPr>
            <a:r>
              <a:rPr lang="en-US" sz="950" dirty="0">
                <a:solidFill>
                  <a:srgbClr val="1A1A1A"/>
                </a:solidFill>
                <a:latin typeface="Poppins" pitchFamily="34" charset="0"/>
                <a:ea typeface="Poppins" pitchFamily="34" charset="-122"/>
                <a:cs typeface="Poppins" pitchFamily="34" charset="-120"/>
              </a:rPr>
              <a:t>validation · 23 May – 4 June</a:t>
            </a:r>
            <a:endParaRPr lang="en-US" sz="950" dirty="0"/>
          </a:p>
        </p:txBody>
      </p:sp>
      <p:sp>
        <p:nvSpPr>
          <p:cNvPr id="38" name="Shape 36"/>
          <p:cNvSpPr/>
          <p:nvPr/>
        </p:nvSpPr>
        <p:spPr>
          <a:xfrm>
            <a:off x="658368" y="5230368"/>
            <a:ext cx="109728" cy="155448"/>
          </a:xfrm>
          <a:prstGeom prst="roundRect">
            <a:avLst>
              <a:gd name="adj" fmla="val 25000"/>
            </a:avLst>
          </a:prstGeom>
          <a:solidFill>
            <a:srgbClr val="F4F4F4"/>
          </a:solidFill>
          <a:ln w="12700">
            <a:solidFill>
              <a:srgbClr val="1A1A1A"/>
            </a:solidFill>
            <a:prstDash val="solid"/>
          </a:ln>
        </p:spPr>
      </p:sp>
      <p:sp>
        <p:nvSpPr>
          <p:cNvPr id="39" name="Text 37"/>
          <p:cNvSpPr txBox="1"/>
          <p:nvPr/>
        </p:nvSpPr>
        <p:spPr>
          <a:xfrm>
            <a:off x="841248" y="5202936"/>
            <a:ext cx="347472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3  </a:t>
            </a:r>
            <a:pPr indent="0" marL="0">
              <a:buNone/>
            </a:pPr>
            <a:r>
              <a:rPr lang="en-US" sz="950" dirty="0">
                <a:solidFill>
                  <a:srgbClr val="1A1A1A"/>
                </a:solidFill>
                <a:latin typeface="Poppins" pitchFamily="34" charset="0"/>
                <a:ea typeface="Poppins" pitchFamily="34" charset="-122"/>
                <a:cs typeface="Poppins" pitchFamily="34" charset="-120"/>
              </a:rPr>
              <a:t>test · 4 – 27 June</a:t>
            </a:r>
            <a:endParaRPr lang="en-US" sz="950" dirty="0"/>
          </a:p>
        </p:txBody>
      </p:sp>
      <p:sp>
        <p:nvSpPr>
          <p:cNvPr id="40" name="Text 38"/>
          <p:cNvSpPr txBox="1"/>
          <p:nvPr/>
        </p:nvSpPr>
        <p:spPr>
          <a:xfrm>
            <a:off x="658368" y="5532120"/>
            <a:ext cx="3657600" cy="731520"/>
          </a:xfrm>
          <a:prstGeom prst="rect">
            <a:avLst/>
          </a:prstGeom>
          <a:noFill/>
          <a:ln/>
        </p:spPr>
        <p:txBody>
          <a:bodyPr wrap="square" lIns="0" tIns="0" rIns="0" bIns="0" rtlCol="0" anchor="t"/>
          <a:lstStyle/>
          <a:p>
            <a:pPr indent="0" marL="0">
              <a:buNone/>
            </a:pPr>
            <a:r>
              <a:rPr lang="en-US" sz="900" dirty="0">
                <a:solidFill>
                  <a:srgbClr val="6B6B6B"/>
                </a:solidFill>
                <a:latin typeface="Poppins" pitchFamily="34" charset="0"/>
                <a:ea typeface="Poppins" pitchFamily="34" charset="-122"/>
                <a:cs typeface="Poppins" pitchFamily="34" charset="-120"/>
              </a:rPr>
              <a:t>Split by date, never shuffled, with a one-hour gap at each boundary: a test answer never appears in training. The validation weeks only decide when to stop training.</a:t>
            </a:r>
            <a:endParaRPr lang="en-US" sz="900" dirty="0"/>
          </a:p>
        </p:txBody>
      </p:sp>
      <p:sp>
        <p:nvSpPr>
          <p:cNvPr id="41" name="Shape 39"/>
          <p:cNvSpPr/>
          <p:nvPr/>
        </p:nvSpPr>
        <p:spPr>
          <a:xfrm>
            <a:off x="4617720" y="1097280"/>
            <a:ext cx="6995160" cy="5074920"/>
          </a:xfrm>
          <a:prstGeom prst="roundRect">
            <a:avLst>
              <a:gd name="adj" fmla="val 5045"/>
            </a:avLst>
          </a:prstGeom>
          <a:solidFill>
            <a:srgbClr val="1A1A1A"/>
          </a:solidFill>
          <a:ln w="12700">
            <a:solidFill>
              <a:srgbClr val="1A1A1A"/>
            </a:solidFill>
            <a:prstDash val="solid"/>
          </a:ln>
        </p:spPr>
      </p:sp>
      <p:sp>
        <p:nvSpPr>
          <p:cNvPr id="42" name="Text 40"/>
          <p:cNvSpPr txBox="1"/>
          <p:nvPr/>
        </p:nvSpPr>
        <p:spPr>
          <a:xfrm>
            <a:off x="4892040" y="1353312"/>
            <a:ext cx="6446520" cy="201168"/>
          </a:xfrm>
          <a:prstGeom prst="rect">
            <a:avLst/>
          </a:prstGeom>
          <a:noFill/>
          <a:ln/>
        </p:spPr>
        <p:txBody>
          <a:bodyPr wrap="square" lIns="0" tIns="0" rIns="0" bIns="0" rtlCol="0" anchor="t"/>
          <a:lstStyle/>
          <a:p>
            <a:pPr indent="0" marL="0">
              <a:buNone/>
            </a:pPr>
            <a:r>
              <a:rPr lang="en-US" sz="750" b="1" spc="160" kern="0" dirty="0">
                <a:solidFill>
                  <a:srgbClr val="FFFFFF"/>
                </a:solidFill>
                <a:latin typeface="Poppins" pitchFamily="34" charset="0"/>
                <a:ea typeface="Poppins" pitchFamily="34" charset="-122"/>
                <a:cs typeface="Poppins" pitchFamily="34" charset="-120"/>
              </a:rPr>
              <a:t>HOW WE GOT THE EXAMPLES</a:t>
            </a:r>
            <a:endParaRPr lang="en-US" sz="750" dirty="0"/>
          </a:p>
        </p:txBody>
      </p:sp>
      <p:sp>
        <p:nvSpPr>
          <p:cNvPr id="43" name="Text 41"/>
          <p:cNvSpPr txBox="1"/>
          <p:nvPr/>
        </p:nvSpPr>
        <p:spPr>
          <a:xfrm>
            <a:off x="4892040" y="1645920"/>
            <a:ext cx="324612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STEP</a:t>
            </a:r>
            <a:endParaRPr lang="en-US" sz="700" dirty="0"/>
          </a:p>
        </p:txBody>
      </p:sp>
      <p:sp>
        <p:nvSpPr>
          <p:cNvPr id="44" name="Text 42"/>
          <p:cNvSpPr txBox="1"/>
          <p:nvPr/>
        </p:nvSpPr>
        <p:spPr>
          <a:xfrm>
            <a:off x="8138160" y="1645920"/>
            <a:ext cx="109728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TRAIN</a:t>
            </a:r>
            <a:endParaRPr lang="en-US" sz="700" dirty="0"/>
          </a:p>
        </p:txBody>
      </p:sp>
      <p:sp>
        <p:nvSpPr>
          <p:cNvPr id="45" name="Text 43"/>
          <p:cNvSpPr txBox="1"/>
          <p:nvPr/>
        </p:nvSpPr>
        <p:spPr>
          <a:xfrm>
            <a:off x="9235440" y="1645920"/>
            <a:ext cx="109728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VALIDATION</a:t>
            </a:r>
            <a:endParaRPr lang="en-US" sz="700" dirty="0"/>
          </a:p>
        </p:txBody>
      </p:sp>
      <p:sp>
        <p:nvSpPr>
          <p:cNvPr id="46" name="Text 44"/>
          <p:cNvSpPr txBox="1"/>
          <p:nvPr/>
        </p:nvSpPr>
        <p:spPr>
          <a:xfrm>
            <a:off x="10332720" y="1645920"/>
            <a:ext cx="100584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TEST</a:t>
            </a:r>
            <a:endParaRPr lang="en-US" sz="700" dirty="0"/>
          </a:p>
        </p:txBody>
      </p:sp>
      <p:sp>
        <p:nvSpPr>
          <p:cNvPr id="47" name="Shape 45"/>
          <p:cNvSpPr/>
          <p:nvPr/>
        </p:nvSpPr>
        <p:spPr>
          <a:xfrm>
            <a:off x="4892040" y="1883664"/>
            <a:ext cx="6446520" cy="0"/>
          </a:xfrm>
          <a:prstGeom prst="line">
            <a:avLst/>
          </a:prstGeom>
          <a:noFill/>
          <a:ln w="9525">
            <a:solidFill>
              <a:srgbClr val="4A4A4A"/>
            </a:solidFill>
            <a:prstDash val="solid"/>
          </a:ln>
        </p:spPr>
      </p:sp>
      <p:sp>
        <p:nvSpPr>
          <p:cNvPr id="48" name="Text 46"/>
          <p:cNvSpPr txBox="1"/>
          <p:nvPr/>
        </p:nvSpPr>
        <p:spPr>
          <a:xfrm>
            <a:off x="4892040" y="1911096"/>
            <a:ext cx="3246120" cy="384048"/>
          </a:xfrm>
          <a:prstGeom prst="rect">
            <a:avLst/>
          </a:prstGeom>
          <a:noFill/>
          <a:ln/>
        </p:spPr>
        <p:txBody>
          <a:bodyPr wrap="square" lIns="0" tIns="0" rIns="0" bIns="0" rtlCol="0" anchor="ctr"/>
          <a:lstStyle/>
          <a:p>
            <a:pPr algn="l" indent="0" marL="0">
              <a:buNone/>
            </a:pPr>
            <a:r>
              <a:rPr lang="en-US" sz="950" dirty="0">
                <a:solidFill>
                  <a:srgbClr val="FFFFFF"/>
                </a:solidFill>
                <a:latin typeface="Poppins" pitchFamily="34" charset="0"/>
                <a:ea typeface="Poppins" pitchFamily="34" charset="-122"/>
                <a:cs typeface="Poppins" pitchFamily="34" charset="-120"/>
              </a:rPr>
              <a:t>1   Five-minute time slots</a:t>
            </a:r>
            <a:endParaRPr lang="en-US" sz="950" dirty="0"/>
          </a:p>
        </p:txBody>
      </p:sp>
      <p:sp>
        <p:nvSpPr>
          <p:cNvPr id="49" name="Text 47"/>
          <p:cNvSpPr txBox="1"/>
          <p:nvPr/>
        </p:nvSpPr>
        <p:spPr>
          <a:xfrm>
            <a:off x="8138160" y="1911096"/>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23,967</a:t>
            </a:r>
            <a:endParaRPr lang="en-US" sz="950" dirty="0"/>
          </a:p>
        </p:txBody>
      </p:sp>
      <p:sp>
        <p:nvSpPr>
          <p:cNvPr id="50" name="Text 48"/>
          <p:cNvSpPr txBox="1"/>
          <p:nvPr/>
        </p:nvSpPr>
        <p:spPr>
          <a:xfrm>
            <a:off x="8138160" y="2240280"/>
            <a:ext cx="109728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1 Mar – 23 May</a:t>
            </a:r>
            <a:endParaRPr lang="en-US" sz="750" dirty="0"/>
          </a:p>
        </p:txBody>
      </p:sp>
      <p:sp>
        <p:nvSpPr>
          <p:cNvPr id="51" name="Text 49"/>
          <p:cNvSpPr txBox="1"/>
          <p:nvPr/>
        </p:nvSpPr>
        <p:spPr>
          <a:xfrm>
            <a:off x="9235440" y="1911096"/>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3,403</a:t>
            </a:r>
            <a:endParaRPr lang="en-US" sz="950" dirty="0"/>
          </a:p>
        </p:txBody>
      </p:sp>
      <p:sp>
        <p:nvSpPr>
          <p:cNvPr id="52" name="Text 50"/>
          <p:cNvSpPr txBox="1"/>
          <p:nvPr/>
        </p:nvSpPr>
        <p:spPr>
          <a:xfrm>
            <a:off x="9235440" y="2240280"/>
            <a:ext cx="109728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23 May – 4 Jun</a:t>
            </a:r>
            <a:endParaRPr lang="en-US" sz="750" dirty="0"/>
          </a:p>
        </p:txBody>
      </p:sp>
      <p:sp>
        <p:nvSpPr>
          <p:cNvPr id="53" name="Text 51"/>
          <p:cNvSpPr txBox="1"/>
          <p:nvPr/>
        </p:nvSpPr>
        <p:spPr>
          <a:xfrm>
            <a:off x="10332720" y="1911096"/>
            <a:ext cx="100584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6,831</a:t>
            </a:r>
            <a:endParaRPr lang="en-US" sz="950" dirty="0"/>
          </a:p>
        </p:txBody>
      </p:sp>
      <p:sp>
        <p:nvSpPr>
          <p:cNvPr id="54" name="Text 52"/>
          <p:cNvSpPr txBox="1"/>
          <p:nvPr/>
        </p:nvSpPr>
        <p:spPr>
          <a:xfrm>
            <a:off x="10332720" y="2240280"/>
            <a:ext cx="100584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4 – 27 Jun</a:t>
            </a:r>
            <a:endParaRPr lang="en-US" sz="750" dirty="0"/>
          </a:p>
        </p:txBody>
      </p:sp>
      <p:sp>
        <p:nvSpPr>
          <p:cNvPr id="55" name="Shape 53"/>
          <p:cNvSpPr/>
          <p:nvPr/>
        </p:nvSpPr>
        <p:spPr>
          <a:xfrm>
            <a:off x="4892040" y="2450592"/>
            <a:ext cx="6446520" cy="0"/>
          </a:xfrm>
          <a:prstGeom prst="line">
            <a:avLst/>
          </a:prstGeom>
          <a:noFill/>
          <a:ln w="6350">
            <a:solidFill>
              <a:srgbClr val="343434"/>
            </a:solidFill>
            <a:prstDash val="solid"/>
          </a:ln>
        </p:spPr>
      </p:sp>
      <p:sp>
        <p:nvSpPr>
          <p:cNvPr id="56" name="Text 54"/>
          <p:cNvSpPr txBox="1"/>
          <p:nvPr/>
        </p:nvSpPr>
        <p:spPr>
          <a:xfrm>
            <a:off x="4892040" y="2450592"/>
            <a:ext cx="3246120" cy="384048"/>
          </a:xfrm>
          <a:prstGeom prst="rect">
            <a:avLst/>
          </a:prstGeom>
          <a:noFill/>
          <a:ln/>
        </p:spPr>
        <p:txBody>
          <a:bodyPr wrap="square" lIns="0" tIns="0" rIns="0" bIns="0" rtlCol="0" anchor="ctr"/>
          <a:lstStyle/>
          <a:p>
            <a:pPr algn="l" indent="0" marL="0">
              <a:buNone/>
            </a:pPr>
            <a:r>
              <a:rPr lang="en-US" sz="950" dirty="0">
                <a:solidFill>
                  <a:srgbClr val="FFFFFF"/>
                </a:solidFill>
                <a:latin typeface="Poppins" pitchFamily="34" charset="0"/>
                <a:ea typeface="Poppins" pitchFamily="34" charset="-122"/>
                <a:cs typeface="Poppins" pitchFamily="34" charset="-120"/>
              </a:rPr>
              <a:t>2   Readings  (slots × 207 sensors)</a:t>
            </a:r>
            <a:endParaRPr lang="en-US" sz="950" dirty="0"/>
          </a:p>
        </p:txBody>
      </p:sp>
      <p:sp>
        <p:nvSpPr>
          <p:cNvPr id="57" name="Text 55"/>
          <p:cNvSpPr txBox="1"/>
          <p:nvPr/>
        </p:nvSpPr>
        <p:spPr>
          <a:xfrm>
            <a:off x="8138160" y="2450592"/>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4,961,169</a:t>
            </a:r>
            <a:endParaRPr lang="en-US" sz="950" dirty="0"/>
          </a:p>
        </p:txBody>
      </p:sp>
      <p:sp>
        <p:nvSpPr>
          <p:cNvPr id="58" name="Text 56"/>
          <p:cNvSpPr txBox="1"/>
          <p:nvPr/>
        </p:nvSpPr>
        <p:spPr>
          <a:xfrm>
            <a:off x="9235440" y="2450592"/>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704,421</a:t>
            </a:r>
            <a:endParaRPr lang="en-US" sz="950" dirty="0"/>
          </a:p>
        </p:txBody>
      </p:sp>
      <p:sp>
        <p:nvSpPr>
          <p:cNvPr id="59" name="Text 57"/>
          <p:cNvSpPr txBox="1"/>
          <p:nvPr/>
        </p:nvSpPr>
        <p:spPr>
          <a:xfrm>
            <a:off x="10332720" y="2450592"/>
            <a:ext cx="100584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1,414,017</a:t>
            </a:r>
            <a:endParaRPr lang="en-US" sz="950" dirty="0"/>
          </a:p>
        </p:txBody>
      </p:sp>
      <p:sp>
        <p:nvSpPr>
          <p:cNvPr id="60" name="Shape 58"/>
          <p:cNvSpPr/>
          <p:nvPr/>
        </p:nvSpPr>
        <p:spPr>
          <a:xfrm>
            <a:off x="4892040" y="2834640"/>
            <a:ext cx="6446520" cy="0"/>
          </a:xfrm>
          <a:prstGeom prst="line">
            <a:avLst/>
          </a:prstGeom>
          <a:noFill/>
          <a:ln w="6350">
            <a:solidFill>
              <a:srgbClr val="343434"/>
            </a:solidFill>
            <a:prstDash val="solid"/>
          </a:ln>
        </p:spPr>
      </p:sp>
      <p:sp>
        <p:nvSpPr>
          <p:cNvPr id="61" name="Text 59"/>
          <p:cNvSpPr txBox="1"/>
          <p:nvPr/>
        </p:nvSpPr>
        <p:spPr>
          <a:xfrm>
            <a:off x="4892040" y="2834640"/>
            <a:ext cx="3246120" cy="384048"/>
          </a:xfrm>
          <a:prstGeom prst="rect">
            <a:avLst/>
          </a:prstGeom>
          <a:noFill/>
          <a:ln/>
        </p:spPr>
        <p:txBody>
          <a:bodyPr wrap="square" lIns="0" tIns="0" rIns="0" bIns="0" rtlCol="0" anchor="ctr"/>
          <a:lstStyle/>
          <a:p>
            <a:pPr algn="l" indent="0" marL="0">
              <a:buNone/>
            </a:pPr>
            <a:r>
              <a:rPr lang="en-US" sz="950" dirty="0">
                <a:solidFill>
                  <a:srgbClr val="FFFFFF"/>
                </a:solidFill>
                <a:latin typeface="Poppins" pitchFamily="34" charset="0"/>
                <a:ea typeface="Poppins" pitchFamily="34" charset="-122"/>
                <a:cs typeface="Poppins" pitchFamily="34" charset="-120"/>
              </a:rPr>
              <a:t>3   Exactly 0 mph → marked unknown</a:t>
            </a:r>
            <a:endParaRPr lang="en-US" sz="950" dirty="0"/>
          </a:p>
        </p:txBody>
      </p:sp>
      <p:sp>
        <p:nvSpPr>
          <p:cNvPr id="62" name="Text 60"/>
          <p:cNvSpPr txBox="1"/>
          <p:nvPr/>
        </p:nvSpPr>
        <p:spPr>
          <a:xfrm>
            <a:off x="8138160" y="2834640"/>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−353,732</a:t>
            </a:r>
            <a:endParaRPr lang="en-US" sz="950" dirty="0"/>
          </a:p>
        </p:txBody>
      </p:sp>
      <p:sp>
        <p:nvSpPr>
          <p:cNvPr id="63" name="Text 61"/>
          <p:cNvSpPr txBox="1"/>
          <p:nvPr/>
        </p:nvSpPr>
        <p:spPr>
          <a:xfrm>
            <a:off x="8138160" y="3163824"/>
            <a:ext cx="109728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7.1%</a:t>
            </a:r>
            <a:endParaRPr lang="en-US" sz="750" dirty="0"/>
          </a:p>
        </p:txBody>
      </p:sp>
      <p:sp>
        <p:nvSpPr>
          <p:cNvPr id="64" name="Text 62"/>
          <p:cNvSpPr txBox="1"/>
          <p:nvPr/>
        </p:nvSpPr>
        <p:spPr>
          <a:xfrm>
            <a:off x="9235440" y="2834640"/>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−49,317</a:t>
            </a:r>
            <a:endParaRPr lang="en-US" sz="950" dirty="0"/>
          </a:p>
        </p:txBody>
      </p:sp>
      <p:sp>
        <p:nvSpPr>
          <p:cNvPr id="65" name="Text 63"/>
          <p:cNvSpPr txBox="1"/>
          <p:nvPr/>
        </p:nvSpPr>
        <p:spPr>
          <a:xfrm>
            <a:off x="9235440" y="3163824"/>
            <a:ext cx="109728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7.0%</a:t>
            </a:r>
            <a:endParaRPr lang="en-US" sz="750" dirty="0"/>
          </a:p>
        </p:txBody>
      </p:sp>
      <p:sp>
        <p:nvSpPr>
          <p:cNvPr id="66" name="Text 64"/>
          <p:cNvSpPr txBox="1"/>
          <p:nvPr/>
        </p:nvSpPr>
        <p:spPr>
          <a:xfrm>
            <a:off x="10332720" y="2834640"/>
            <a:ext cx="100584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−171,637</a:t>
            </a:r>
            <a:endParaRPr lang="en-US" sz="950" dirty="0"/>
          </a:p>
        </p:txBody>
      </p:sp>
      <p:sp>
        <p:nvSpPr>
          <p:cNvPr id="67" name="Text 65"/>
          <p:cNvSpPr txBox="1"/>
          <p:nvPr/>
        </p:nvSpPr>
        <p:spPr>
          <a:xfrm>
            <a:off x="10332720" y="3163824"/>
            <a:ext cx="1005840" cy="155448"/>
          </a:xfrm>
          <a:prstGeom prst="rect">
            <a:avLst/>
          </a:prstGeom>
          <a:noFill/>
          <a:ln/>
        </p:spPr>
        <p:txBody>
          <a:bodyPr wrap="square" lIns="0" tIns="0" rIns="0" bIns="0" rtlCol="0" anchor="t"/>
          <a:lstStyle/>
          <a:p>
            <a:pPr algn="r" indent="0" marL="0">
              <a:buNone/>
            </a:pPr>
            <a:r>
              <a:rPr lang="en-US" sz="750" dirty="0">
                <a:solidFill>
                  <a:srgbClr val="A3A3A3"/>
                </a:solidFill>
                <a:latin typeface="Poppins" pitchFamily="34" charset="0"/>
                <a:ea typeface="Poppins" pitchFamily="34" charset="-122"/>
                <a:cs typeface="Poppins" pitchFamily="34" charset="-120"/>
              </a:rPr>
              <a:t>12.1%</a:t>
            </a:r>
            <a:endParaRPr lang="en-US" sz="750" dirty="0"/>
          </a:p>
        </p:txBody>
      </p:sp>
      <p:sp>
        <p:nvSpPr>
          <p:cNvPr id="68" name="Shape 66"/>
          <p:cNvSpPr/>
          <p:nvPr/>
        </p:nvSpPr>
        <p:spPr>
          <a:xfrm>
            <a:off x="4892040" y="3374136"/>
            <a:ext cx="6446520" cy="0"/>
          </a:xfrm>
          <a:prstGeom prst="line">
            <a:avLst/>
          </a:prstGeom>
          <a:noFill/>
          <a:ln w="6350">
            <a:solidFill>
              <a:srgbClr val="343434"/>
            </a:solidFill>
            <a:prstDash val="solid"/>
          </a:ln>
        </p:spPr>
      </p:sp>
      <p:sp>
        <p:nvSpPr>
          <p:cNvPr id="69" name="Text 67"/>
          <p:cNvSpPr txBox="1"/>
          <p:nvPr/>
        </p:nvSpPr>
        <p:spPr>
          <a:xfrm>
            <a:off x="4892040" y="3374136"/>
            <a:ext cx="3246120" cy="384048"/>
          </a:xfrm>
          <a:prstGeom prst="rect">
            <a:avLst/>
          </a:prstGeom>
          <a:noFill/>
          <a:ln/>
        </p:spPr>
        <p:txBody>
          <a:bodyPr wrap="square" lIns="0" tIns="0" rIns="0" bIns="0" rtlCol="0" anchor="ctr"/>
          <a:lstStyle/>
          <a:p>
            <a:pPr algn="l" indent="0" marL="0">
              <a:buNone/>
            </a:pPr>
            <a:r>
              <a:rPr lang="en-US" sz="950" dirty="0">
                <a:solidFill>
                  <a:srgbClr val="FFFFFF"/>
                </a:solidFill>
                <a:latin typeface="Poppins" pitchFamily="34" charset="0"/>
                <a:ea typeface="Poppins" pitchFamily="34" charset="-122"/>
                <a:cs typeface="Poppins" pitchFamily="34" charset="-120"/>
              </a:rPr>
              <a:t>4   Inputs per example: 34 numbers</a:t>
            </a:r>
            <a:endParaRPr lang="en-US" sz="950" dirty="0"/>
          </a:p>
        </p:txBody>
      </p:sp>
      <p:sp>
        <p:nvSpPr>
          <p:cNvPr id="70" name="Text 68"/>
          <p:cNvSpPr txBox="1"/>
          <p:nvPr/>
        </p:nvSpPr>
        <p:spPr>
          <a:xfrm>
            <a:off x="4892040" y="3703320"/>
            <a:ext cx="3246120" cy="155448"/>
          </a:xfrm>
          <a:prstGeom prst="rect">
            <a:avLst/>
          </a:prstGeom>
          <a:noFill/>
          <a:ln/>
        </p:spPr>
        <p:txBody>
          <a:bodyPr wrap="square" lIns="0" tIns="0" rIns="0" bIns="0" rtlCol="0" anchor="t"/>
          <a:lstStyle/>
          <a:p>
            <a:pPr algn="l" indent="0" marL="0">
              <a:buNone/>
            </a:pPr>
            <a:r>
              <a:rPr lang="en-US" sz="750" dirty="0">
                <a:solidFill>
                  <a:srgbClr val="A3A3A3"/>
                </a:solidFill>
                <a:latin typeface="Poppins" pitchFamily="34" charset="0"/>
                <a:ea typeface="Poppins" pitchFamily="34" charset="-122"/>
                <a:cs typeface="Poppins" pitchFamily="34" charset="-120"/>
              </a:rPr>
              <a:t>26 about the sensor itself + 8 about its neighbours</a:t>
            </a:r>
            <a:endParaRPr lang="en-US" sz="750" dirty="0"/>
          </a:p>
        </p:txBody>
      </p:sp>
      <p:sp>
        <p:nvSpPr>
          <p:cNvPr id="71" name="Text 69"/>
          <p:cNvSpPr txBox="1"/>
          <p:nvPr/>
        </p:nvSpPr>
        <p:spPr>
          <a:xfrm>
            <a:off x="8138160" y="3374136"/>
            <a:ext cx="1097280" cy="384048"/>
          </a:xfrm>
          <a:prstGeom prst="rect">
            <a:avLst/>
          </a:prstGeom>
          <a:noFill/>
          <a:ln/>
        </p:spPr>
        <p:txBody>
          <a:bodyPr wrap="square" lIns="0" tIns="0" rIns="0" bIns="0" rtlCol="0" anchor="ctr"/>
          <a:lstStyle/>
          <a:p>
            <a:pPr algn="r" indent="0" marL="0">
              <a:buNone/>
            </a:pPr>
            <a:endParaRPr lang="en-US" sz="950" dirty="0"/>
          </a:p>
        </p:txBody>
      </p:sp>
      <p:sp>
        <p:nvSpPr>
          <p:cNvPr id="72" name="Text 70"/>
          <p:cNvSpPr txBox="1"/>
          <p:nvPr/>
        </p:nvSpPr>
        <p:spPr>
          <a:xfrm>
            <a:off x="9235440" y="3374136"/>
            <a:ext cx="1097280" cy="384048"/>
          </a:xfrm>
          <a:prstGeom prst="rect">
            <a:avLst/>
          </a:prstGeom>
          <a:noFill/>
          <a:ln/>
        </p:spPr>
        <p:txBody>
          <a:bodyPr wrap="square" lIns="0" tIns="0" rIns="0" bIns="0" rtlCol="0" anchor="ctr"/>
          <a:lstStyle/>
          <a:p>
            <a:pPr algn="r" indent="0" marL="0">
              <a:buNone/>
            </a:pPr>
            <a:endParaRPr lang="en-US" sz="950" dirty="0"/>
          </a:p>
        </p:txBody>
      </p:sp>
      <p:sp>
        <p:nvSpPr>
          <p:cNvPr id="73" name="Text 71"/>
          <p:cNvSpPr txBox="1"/>
          <p:nvPr/>
        </p:nvSpPr>
        <p:spPr>
          <a:xfrm>
            <a:off x="10332720" y="3374136"/>
            <a:ext cx="1005840" cy="384048"/>
          </a:xfrm>
          <a:prstGeom prst="rect">
            <a:avLst/>
          </a:prstGeom>
          <a:noFill/>
          <a:ln/>
        </p:spPr>
        <p:txBody>
          <a:bodyPr wrap="square" lIns="0" tIns="0" rIns="0" bIns="0" rtlCol="0" anchor="ctr"/>
          <a:lstStyle/>
          <a:p>
            <a:pPr algn="r" indent="0" marL="0">
              <a:buNone/>
            </a:pPr>
            <a:endParaRPr lang="en-US" sz="950" dirty="0"/>
          </a:p>
        </p:txBody>
      </p:sp>
      <p:sp>
        <p:nvSpPr>
          <p:cNvPr id="74" name="Shape 72"/>
          <p:cNvSpPr/>
          <p:nvPr/>
        </p:nvSpPr>
        <p:spPr>
          <a:xfrm>
            <a:off x="4892040" y="3913632"/>
            <a:ext cx="6446520" cy="0"/>
          </a:xfrm>
          <a:prstGeom prst="line">
            <a:avLst/>
          </a:prstGeom>
          <a:noFill/>
          <a:ln w="6350">
            <a:solidFill>
              <a:srgbClr val="343434"/>
            </a:solidFill>
            <a:prstDash val="solid"/>
          </a:ln>
        </p:spPr>
      </p:sp>
      <p:sp>
        <p:nvSpPr>
          <p:cNvPr id="75" name="Text 73"/>
          <p:cNvSpPr txBox="1"/>
          <p:nvPr/>
        </p:nvSpPr>
        <p:spPr>
          <a:xfrm>
            <a:off x="4892040" y="3913632"/>
            <a:ext cx="3246120" cy="384048"/>
          </a:xfrm>
          <a:prstGeom prst="rect">
            <a:avLst/>
          </a:prstGeom>
          <a:noFill/>
          <a:ln/>
        </p:spPr>
        <p:txBody>
          <a:bodyPr wrap="square" lIns="0" tIns="0" rIns="0" bIns="0" rtlCol="0" anchor="ctr"/>
          <a:lstStyle/>
          <a:p>
            <a:pPr algn="l" indent="0" marL="0">
              <a:buNone/>
            </a:pPr>
            <a:r>
              <a:rPr lang="en-US" sz="950" dirty="0">
                <a:solidFill>
                  <a:srgbClr val="FFFFFF"/>
                </a:solidFill>
                <a:latin typeface="Poppins" pitchFamily="34" charset="0"/>
                <a:ea typeface="Poppins" pitchFamily="34" charset="-122"/>
                <a:cs typeface="Poppins" pitchFamily="34" charset="-120"/>
              </a:rPr>
              <a:t>5   Examples whose answer (speed +60 min) is known</a:t>
            </a:r>
            <a:endParaRPr lang="en-US" sz="950" dirty="0"/>
          </a:p>
        </p:txBody>
      </p:sp>
      <p:sp>
        <p:nvSpPr>
          <p:cNvPr id="76" name="Text 74"/>
          <p:cNvSpPr txBox="1"/>
          <p:nvPr/>
        </p:nvSpPr>
        <p:spPr>
          <a:xfrm>
            <a:off x="8138160" y="3913632"/>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4,607,444</a:t>
            </a:r>
            <a:endParaRPr lang="en-US" sz="950" dirty="0"/>
          </a:p>
        </p:txBody>
      </p:sp>
      <p:sp>
        <p:nvSpPr>
          <p:cNvPr id="77" name="Text 75"/>
          <p:cNvSpPr txBox="1"/>
          <p:nvPr/>
        </p:nvSpPr>
        <p:spPr>
          <a:xfrm>
            <a:off x="9235440" y="3913632"/>
            <a:ext cx="109728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655,115</a:t>
            </a:r>
            <a:endParaRPr lang="en-US" sz="950" dirty="0"/>
          </a:p>
        </p:txBody>
      </p:sp>
      <p:sp>
        <p:nvSpPr>
          <p:cNvPr id="78" name="Text 76"/>
          <p:cNvSpPr txBox="1"/>
          <p:nvPr/>
        </p:nvSpPr>
        <p:spPr>
          <a:xfrm>
            <a:off x="10332720" y="3913632"/>
            <a:ext cx="1005840" cy="384048"/>
          </a:xfrm>
          <a:prstGeom prst="rect">
            <a:avLst/>
          </a:prstGeom>
          <a:noFill/>
          <a:ln/>
        </p:spPr>
        <p:txBody>
          <a:bodyPr wrap="square" lIns="0" tIns="0" rIns="0" bIns="0" rtlCol="0" anchor="ctr"/>
          <a:lstStyle/>
          <a:p>
            <a:pPr algn="r" indent="0" marL="0">
              <a:buNone/>
            </a:pPr>
            <a:r>
              <a:rPr lang="en-US" sz="950" dirty="0">
                <a:solidFill>
                  <a:srgbClr val="FFFFFF"/>
                </a:solidFill>
                <a:latin typeface="Poppins" pitchFamily="34" charset="0"/>
                <a:ea typeface="Poppins" pitchFamily="34" charset="-122"/>
                <a:cs typeface="Poppins" pitchFamily="34" charset="-120"/>
              </a:rPr>
              <a:t>1,242,308</a:t>
            </a:r>
            <a:endParaRPr lang="en-US" sz="950" dirty="0"/>
          </a:p>
        </p:txBody>
      </p:sp>
      <p:sp>
        <p:nvSpPr>
          <p:cNvPr id="79" name="Shape 77"/>
          <p:cNvSpPr/>
          <p:nvPr/>
        </p:nvSpPr>
        <p:spPr>
          <a:xfrm>
            <a:off x="4892040" y="4315968"/>
            <a:ext cx="6446520" cy="0"/>
          </a:xfrm>
          <a:prstGeom prst="line">
            <a:avLst/>
          </a:prstGeom>
          <a:noFill/>
          <a:ln w="12700">
            <a:solidFill>
              <a:srgbClr val="5A5A5A"/>
            </a:solidFill>
            <a:prstDash val="solid"/>
          </a:ln>
        </p:spPr>
      </p:sp>
      <p:sp>
        <p:nvSpPr>
          <p:cNvPr id="80" name="Text 78"/>
          <p:cNvSpPr txBox="1"/>
          <p:nvPr/>
        </p:nvSpPr>
        <p:spPr>
          <a:xfrm>
            <a:off x="4892040" y="4425696"/>
            <a:ext cx="3200400" cy="27432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Examples used, per horizon</a:t>
            </a:r>
            <a:endParaRPr lang="en-US" sz="1100" dirty="0"/>
          </a:p>
        </p:txBody>
      </p:sp>
      <p:sp>
        <p:nvSpPr>
          <p:cNvPr id="81" name="Text 79"/>
          <p:cNvSpPr txBox="1"/>
          <p:nvPr/>
        </p:nvSpPr>
        <p:spPr>
          <a:xfrm>
            <a:off x="8138160" y="4425696"/>
            <a:ext cx="10058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Poppins" pitchFamily="34" charset="0"/>
                <a:ea typeface="Poppins" pitchFamily="34" charset="-122"/>
                <a:cs typeface="Poppins" pitchFamily="34" charset="-120"/>
              </a:rPr>
              <a:t>4.6 M</a:t>
            </a:r>
            <a:endParaRPr lang="en-US" sz="1100" dirty="0"/>
          </a:p>
        </p:txBody>
      </p:sp>
      <p:sp>
        <p:nvSpPr>
          <p:cNvPr id="82" name="Text 80"/>
          <p:cNvSpPr txBox="1"/>
          <p:nvPr/>
        </p:nvSpPr>
        <p:spPr>
          <a:xfrm>
            <a:off x="9235440" y="4425696"/>
            <a:ext cx="10058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Poppins" pitchFamily="34" charset="0"/>
                <a:ea typeface="Poppins" pitchFamily="34" charset="-122"/>
                <a:cs typeface="Poppins" pitchFamily="34" charset="-120"/>
              </a:rPr>
              <a:t>0.66 M</a:t>
            </a:r>
            <a:endParaRPr lang="en-US" sz="1100" dirty="0"/>
          </a:p>
        </p:txBody>
      </p:sp>
      <p:sp>
        <p:nvSpPr>
          <p:cNvPr id="83" name="Text 81"/>
          <p:cNvSpPr txBox="1"/>
          <p:nvPr/>
        </p:nvSpPr>
        <p:spPr>
          <a:xfrm>
            <a:off x="10332720" y="4425696"/>
            <a:ext cx="10058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Poppins" pitchFamily="34" charset="0"/>
                <a:ea typeface="Poppins" pitchFamily="34" charset="-122"/>
                <a:cs typeface="Poppins" pitchFamily="34" charset="-120"/>
              </a:rPr>
              <a:t>1.24 M</a:t>
            </a:r>
            <a:endParaRPr lang="en-US" sz="1100" dirty="0"/>
          </a:p>
        </p:txBody>
      </p:sp>
      <p:sp>
        <p:nvSpPr>
          <p:cNvPr id="84" name="Text 82"/>
          <p:cNvSpPr txBox="1"/>
          <p:nvPr/>
        </p:nvSpPr>
        <p:spPr>
          <a:xfrm>
            <a:off x="4892040" y="4700016"/>
            <a:ext cx="3200400" cy="201168"/>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of which jammed (below 35 mph)</a:t>
            </a:r>
            <a:endParaRPr lang="en-US" sz="800" dirty="0"/>
          </a:p>
        </p:txBody>
      </p:sp>
      <p:sp>
        <p:nvSpPr>
          <p:cNvPr id="85" name="Text 83"/>
          <p:cNvSpPr txBox="1"/>
          <p:nvPr/>
        </p:nvSpPr>
        <p:spPr>
          <a:xfrm>
            <a:off x="8138160" y="4700016"/>
            <a:ext cx="1005840" cy="201168"/>
          </a:xfrm>
          <a:prstGeom prst="rect">
            <a:avLst/>
          </a:prstGeom>
          <a:noFill/>
          <a:ln/>
        </p:spPr>
        <p:txBody>
          <a:bodyPr wrap="square" lIns="0" tIns="0" rIns="0" bIns="0" rtlCol="0" anchor="t"/>
          <a:lstStyle/>
          <a:p>
            <a:pPr algn="r" indent="0" marL="0">
              <a:buNone/>
            </a:pPr>
            <a:r>
              <a:rPr lang="en-US" sz="800" dirty="0">
                <a:solidFill>
                  <a:srgbClr val="A3A3A3"/>
                </a:solidFill>
                <a:latin typeface="Poppins" pitchFamily="34" charset="0"/>
                <a:ea typeface="Poppins" pitchFamily="34" charset="-122"/>
                <a:cs typeface="Poppins" pitchFamily="34" charset="-120"/>
              </a:rPr>
              <a:t>8.6%</a:t>
            </a:r>
            <a:endParaRPr lang="en-US" sz="800" dirty="0"/>
          </a:p>
        </p:txBody>
      </p:sp>
      <p:sp>
        <p:nvSpPr>
          <p:cNvPr id="86" name="Text 84"/>
          <p:cNvSpPr txBox="1"/>
          <p:nvPr/>
        </p:nvSpPr>
        <p:spPr>
          <a:xfrm>
            <a:off x="9235440" y="4700016"/>
            <a:ext cx="1005840" cy="201168"/>
          </a:xfrm>
          <a:prstGeom prst="rect">
            <a:avLst/>
          </a:prstGeom>
          <a:noFill/>
          <a:ln/>
        </p:spPr>
        <p:txBody>
          <a:bodyPr wrap="square" lIns="0" tIns="0" rIns="0" bIns="0" rtlCol="0" anchor="t"/>
          <a:lstStyle/>
          <a:p>
            <a:pPr algn="r" indent="0" marL="0">
              <a:buNone/>
            </a:pPr>
            <a:r>
              <a:rPr lang="en-US" sz="800" dirty="0">
                <a:solidFill>
                  <a:srgbClr val="A3A3A3"/>
                </a:solidFill>
                <a:latin typeface="Poppins" pitchFamily="34" charset="0"/>
                <a:ea typeface="Poppins" pitchFamily="34" charset="-122"/>
                <a:cs typeface="Poppins" pitchFamily="34" charset="-120"/>
              </a:rPr>
              <a:t>8.7%</a:t>
            </a:r>
            <a:endParaRPr lang="en-US" sz="800" dirty="0"/>
          </a:p>
        </p:txBody>
      </p:sp>
      <p:sp>
        <p:nvSpPr>
          <p:cNvPr id="87" name="Text 85"/>
          <p:cNvSpPr txBox="1"/>
          <p:nvPr/>
        </p:nvSpPr>
        <p:spPr>
          <a:xfrm>
            <a:off x="10332720" y="4700016"/>
            <a:ext cx="1005840" cy="201168"/>
          </a:xfrm>
          <a:prstGeom prst="rect">
            <a:avLst/>
          </a:prstGeom>
          <a:noFill/>
          <a:ln/>
        </p:spPr>
        <p:txBody>
          <a:bodyPr wrap="square" lIns="0" tIns="0" rIns="0" bIns="0" rtlCol="0" anchor="t"/>
          <a:lstStyle/>
          <a:p>
            <a:pPr algn="r" indent="0" marL="0">
              <a:buNone/>
            </a:pPr>
            <a:r>
              <a:rPr lang="en-US" sz="800" dirty="0">
                <a:solidFill>
                  <a:srgbClr val="A3A3A3"/>
                </a:solidFill>
                <a:latin typeface="Poppins" pitchFamily="34" charset="0"/>
                <a:ea typeface="Poppins" pitchFamily="34" charset="-122"/>
                <a:cs typeface="Poppins" pitchFamily="34" charset="-120"/>
              </a:rPr>
              <a:t>10.3%</a:t>
            </a:r>
            <a:endParaRPr lang="en-US" sz="800" dirty="0"/>
          </a:p>
        </p:txBody>
      </p:sp>
      <p:sp>
        <p:nvSpPr>
          <p:cNvPr id="88" name="Text 86"/>
          <p:cNvSpPr txBox="1"/>
          <p:nvPr/>
        </p:nvSpPr>
        <p:spPr>
          <a:xfrm>
            <a:off x="4892040" y="5111496"/>
            <a:ext cx="6446520" cy="822960"/>
          </a:xfrm>
          <a:prstGeom prst="rect">
            <a:avLst/>
          </a:prstGeom>
          <a:noFill/>
          <a:ln/>
        </p:spPr>
        <p:txBody>
          <a:bodyPr wrap="square" lIns="0" tIns="0" rIns="0" bIns="0" rtlCol="0" anchor="t"/>
          <a:lstStyle/>
          <a:p>
            <a:pPr indent="0" marL="0">
              <a:buNone/>
            </a:pPr>
            <a:r>
              <a:rPr lang="en-US" sz="850" dirty="0">
                <a:solidFill>
                  <a:srgbClr val="A3A3A3"/>
                </a:solidFill>
                <a:latin typeface="Poppins" pitchFamily="34" charset="0"/>
                <a:ea typeface="Poppins" pitchFamily="34" charset="-122"/>
                <a:cs typeface="Poppins" pitchFamily="34" charset="-120"/>
              </a:rPr>
              <a:t>A reading of exactly 0 mph is an offline sensor, not stopped traffic: a highway never averages zero over five minutes, the zeros come in runs, and on 6% of slots all 207 sensors read 0 at once. We mark them unknown — nothing deleted, nothing invented. Tree models accept unknown inputs; an unknown answer is skipped in training and in scoring.</a:t>
            </a:r>
            <a:endParaRPr lang="en-US" sz="850" dirty="0"/>
          </a:p>
        </p:txBody>
      </p:sp>
      <p:sp>
        <p:nvSpPr>
          <p:cNvPr id="89" name="Shape 87"/>
          <p:cNvSpPr/>
          <p:nvPr/>
        </p:nvSpPr>
        <p:spPr>
          <a:xfrm>
            <a:off x="11274552" y="5989320"/>
            <a:ext cx="365760" cy="365760"/>
          </a:xfrm>
          <a:prstGeom prst="ellipse">
            <a:avLst/>
          </a:prstGeom>
          <a:solidFill>
            <a:srgbClr val="1A1A1A"/>
          </a:solidFill>
          <a:ln w="12700">
            <a:solidFill>
              <a:srgbClr val="1A1A1A"/>
            </a:solidFill>
            <a:prstDash val="solid"/>
          </a:ln>
        </p:spPr>
      </p:sp>
      <p:sp>
        <p:nvSpPr>
          <p:cNvPr id="90" name="Text 88"/>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1A1A1A"/>
          </a:solidFill>
          <a:ln w="12700">
            <a:solidFill>
              <a:srgbClr val="1A1A1A"/>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headline"/>
          <p:cNvSpPr txBox="1"/>
          <p:nvPr/>
        </p:nvSpPr>
        <p:spPr>
          <a:xfrm>
            <a:off x="658368" y="1051560"/>
            <a:ext cx="3291840" cy="1527048"/>
          </a:xfrm>
          <a:prstGeom prst="rect">
            <a:avLst/>
          </a:prstGeom>
          <a:noFill/>
          <a:ln/>
        </p:spPr>
        <p:txBody>
          <a:bodyPr wrap="square" lIns="0" tIns="0" rIns="0" bIns="0" rtlCol="0" anchor="t"/>
          <a:lstStyle/>
          <a:p>
            <a:pPr algn="l" indent="0" marL="0">
              <a:lnSpc>
                <a:spcPct val="86000"/>
              </a:lnSpc>
              <a:buNone/>
            </a:pPr>
            <a:r>
              <a:rPr lang="en-US" sz="5400" b="1" dirty="0">
                <a:solidFill>
                  <a:srgbClr val="1A1A1A"/>
                </a:solidFill>
                <a:latin typeface="Poppins" pitchFamily="34" charset="0"/>
                <a:ea typeface="Poppins" pitchFamily="34" charset="-122"/>
                <a:cs typeface="Poppins" pitchFamily="34" charset="-120"/>
              </a:rPr>
              <a:t>THE</a:t>
            </a:r>
            <a:endParaRPr lang="en-US" sz="5400" dirty="0"/>
          </a:p>
          <a:p>
            <a:pPr algn="l" indent="0" marL="0">
              <a:lnSpc>
                <a:spcPct val="86000"/>
              </a:lnSpc>
              <a:buNone/>
            </a:pPr>
            <a:r>
              <a:rPr lang="en-US" sz="5400" b="1" dirty="0">
                <a:solidFill>
                  <a:srgbClr val="1A1A1A"/>
                </a:solidFill>
                <a:latin typeface="Poppins" pitchFamily="34" charset="0"/>
                <a:ea typeface="Poppins" pitchFamily="34" charset="-122"/>
                <a:cs typeface="Poppins" pitchFamily="34" charset="-120"/>
              </a:rPr>
              <a:t>INPUTS</a:t>
            </a:r>
            <a:endParaRPr lang="en-US" sz="5400" dirty="0"/>
          </a:p>
        </p:txBody>
      </p:sp>
      <p:sp>
        <p:nvSpPr>
          <p:cNvPr id="15" name="Shape 13"/>
          <p:cNvSpPr/>
          <p:nvPr/>
        </p:nvSpPr>
        <p:spPr>
          <a:xfrm>
            <a:off x="658368" y="2697480"/>
            <a:ext cx="3246120" cy="1508760"/>
          </a:xfrm>
          <a:prstGeom prst="roundRect">
            <a:avLst>
              <a:gd name="adj" fmla="val 12121"/>
            </a:avLst>
          </a:prstGeom>
          <a:solidFill>
            <a:srgbClr val="E6E6E6"/>
          </a:solidFill>
          <a:ln w="12700">
            <a:solidFill>
              <a:srgbClr val="E6E6E6"/>
            </a:solidFill>
            <a:prstDash val="solid"/>
          </a:ln>
        </p:spPr>
      </p:sp>
      <p:sp>
        <p:nvSpPr>
          <p:cNvPr id="16" name="Text 14"/>
          <p:cNvSpPr txBox="1"/>
          <p:nvPr/>
        </p:nvSpPr>
        <p:spPr>
          <a:xfrm>
            <a:off x="841248" y="2834640"/>
            <a:ext cx="2926080" cy="228600"/>
          </a:xfrm>
          <a:prstGeom prst="rect">
            <a:avLst/>
          </a:prstGeom>
          <a:noFill/>
          <a:ln/>
        </p:spPr>
        <p:txBody>
          <a:bodyPr wrap="square" lIns="0" tIns="0" rIns="0" bIns="0" rtlCol="0" anchor="t"/>
          <a:lstStyle/>
          <a:p>
            <a:pPr indent="0" marL="0">
              <a:buNone/>
            </a:pPr>
            <a:r>
              <a:rPr lang="en-US" sz="1050" b="1" dirty="0">
                <a:solidFill>
                  <a:srgbClr val="1A1A1A"/>
                </a:solidFill>
                <a:latin typeface="Poppins" pitchFamily="34" charset="0"/>
                <a:ea typeface="Poppins" pitchFamily="34" charset="-122"/>
                <a:cs typeface="Poppins" pitchFamily="34" charset="-120"/>
              </a:rPr>
              <a:t>What is local / spatial?</a:t>
            </a:r>
            <a:endParaRPr lang="en-US" sz="1050" dirty="0"/>
          </a:p>
        </p:txBody>
      </p:sp>
      <p:sp>
        <p:nvSpPr>
          <p:cNvPr id="17" name="Text 15"/>
          <p:cNvSpPr txBox="1"/>
          <p:nvPr/>
        </p:nvSpPr>
        <p:spPr>
          <a:xfrm>
            <a:off x="841248" y="3108960"/>
            <a:ext cx="2926080" cy="1051560"/>
          </a:xfrm>
          <a:prstGeom prst="rect">
            <a:avLst/>
          </a:prstGeom>
          <a:noFill/>
          <a:ln/>
        </p:spPr>
        <p:txBody>
          <a:bodyPr wrap="square" lIns="0" tIns="0" rIns="0" bIns="0" rtlCol="0" anchor="t"/>
          <a:lstStyle/>
          <a:p>
            <a:pPr indent="0" marL="0">
              <a:buNone/>
            </a:pPr>
            <a:r>
              <a:rPr lang="en-US" sz="900" dirty="0">
                <a:solidFill>
                  <a:srgbClr val="3A3A3A"/>
                </a:solidFill>
                <a:latin typeface="Poppins" pitchFamily="34" charset="0"/>
                <a:ea typeface="Poppins" pitchFamily="34" charset="-122"/>
                <a:cs typeface="Poppins" pitchFamily="34" charset="-120"/>
              </a:rPr>
              <a:t>Local = the 26 numbers a sensor knows about itself. Spatial = those plus 8 numbers about its neighbours. Every model is trained both ways, so the difference measures exactly what the neighbours are worth.</a:t>
            </a:r>
            <a:endParaRPr lang="en-US" sz="900" dirty="0"/>
          </a:p>
        </p:txBody>
      </p:sp>
      <p:sp>
        <p:nvSpPr>
          <p:cNvPr id="18" name="Shape 16"/>
          <p:cNvSpPr/>
          <p:nvPr/>
        </p:nvSpPr>
        <p:spPr>
          <a:xfrm>
            <a:off x="658368" y="4343400"/>
            <a:ext cx="3246120" cy="1874520"/>
          </a:xfrm>
          <a:prstGeom prst="roundRect">
            <a:avLst>
              <a:gd name="adj" fmla="val 9756"/>
            </a:avLst>
          </a:prstGeom>
          <a:solidFill>
            <a:srgbClr val="E6E6E6"/>
          </a:solidFill>
          <a:ln w="12700">
            <a:solidFill>
              <a:srgbClr val="E6E6E6"/>
            </a:solidFill>
            <a:prstDash val="solid"/>
          </a:ln>
        </p:spPr>
      </p:sp>
      <p:sp>
        <p:nvSpPr>
          <p:cNvPr id="19" name="Text 17"/>
          <p:cNvSpPr txBox="1"/>
          <p:nvPr/>
        </p:nvSpPr>
        <p:spPr>
          <a:xfrm>
            <a:off x="841248" y="4480560"/>
            <a:ext cx="2926080" cy="228600"/>
          </a:xfrm>
          <a:prstGeom prst="rect">
            <a:avLst/>
          </a:prstGeom>
          <a:noFill/>
          <a:ln/>
        </p:spPr>
        <p:txBody>
          <a:bodyPr wrap="square" lIns="0" tIns="0" rIns="0" bIns="0" rtlCol="0" anchor="t"/>
          <a:lstStyle/>
          <a:p>
            <a:pPr indent="0" marL="0">
              <a:buNone/>
            </a:pPr>
            <a:r>
              <a:rPr lang="en-US" sz="1050" b="1" dirty="0">
                <a:solidFill>
                  <a:srgbClr val="1A1A1A"/>
                </a:solidFill>
                <a:latin typeface="Poppins" pitchFamily="34" charset="0"/>
                <a:ea typeface="Poppins" pitchFamily="34" charset="-122"/>
                <a:cs typeface="Poppins" pitchFamily="34" charset="-120"/>
              </a:rPr>
              <a:t>How are the groups made?</a:t>
            </a:r>
            <a:endParaRPr lang="en-US" sz="1050" dirty="0"/>
          </a:p>
        </p:txBody>
      </p:sp>
      <p:sp>
        <p:nvSpPr>
          <p:cNvPr id="20" name="Text 18"/>
          <p:cNvSpPr txBox="1"/>
          <p:nvPr/>
        </p:nvSpPr>
        <p:spPr>
          <a:xfrm>
            <a:off x="841248" y="4736592"/>
            <a:ext cx="2926080" cy="502920"/>
          </a:xfrm>
          <a:prstGeom prst="rect">
            <a:avLst/>
          </a:prstGeom>
          <a:noFill/>
          <a:ln/>
        </p:spPr>
        <p:txBody>
          <a:bodyPr wrap="square" lIns="0" tIns="0" rIns="0" bIns="0" rtlCol="0" anchor="t"/>
          <a:lstStyle/>
          <a:p>
            <a:pPr indent="0" marL="0">
              <a:buNone/>
            </a:pPr>
            <a:r>
              <a:rPr lang="en-US" sz="850" dirty="0">
                <a:solidFill>
                  <a:srgbClr val="3A3A3A"/>
                </a:solidFill>
                <a:latin typeface="Poppins" pitchFamily="34" charset="0"/>
                <a:ea typeface="Poppins" pitchFamily="34" charset="-122"/>
                <a:cs typeface="Poppins" pitchFamily="34" charset="-120"/>
              </a:rPr>
              <a:t>By what the number describes. Nothing from the future leaks in: lags look backwards, the usual speed is computed from training weeks only.</a:t>
            </a:r>
            <a:endParaRPr lang="en-US" sz="850" dirty="0"/>
          </a:p>
        </p:txBody>
      </p:sp>
      <p:sp>
        <p:nvSpPr>
          <p:cNvPr id="21" name="Shape 19"/>
          <p:cNvSpPr/>
          <p:nvPr/>
        </p:nvSpPr>
        <p:spPr>
          <a:xfrm>
            <a:off x="841248" y="5298948"/>
            <a:ext cx="146304" cy="146304"/>
          </a:xfrm>
          <a:prstGeom prst="ellipse">
            <a:avLst/>
          </a:prstGeom>
          <a:solidFill>
            <a:srgbClr val="1A1A1A"/>
          </a:solidFill>
          <a:ln w="12700">
            <a:solidFill>
              <a:srgbClr val="1A1A1A"/>
            </a:solidFill>
            <a:prstDash val="solid"/>
          </a:ln>
        </p:spPr>
      </p:sp>
      <p:sp>
        <p:nvSpPr>
          <p:cNvPr id="22" name="Text 20"/>
          <p:cNvSpPr txBox="1"/>
          <p:nvPr/>
        </p:nvSpPr>
        <p:spPr>
          <a:xfrm>
            <a:off x="841248" y="5298948"/>
            <a:ext cx="14630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A</a:t>
            </a:r>
            <a:endParaRPr lang="en-US" sz="600" dirty="0"/>
          </a:p>
        </p:txBody>
      </p:sp>
      <p:sp>
        <p:nvSpPr>
          <p:cNvPr id="23" name="Text 21"/>
          <p:cNvSpPr txBox="1"/>
          <p:nvPr/>
        </p:nvSpPr>
        <p:spPr>
          <a:xfrm>
            <a:off x="1051560" y="5285232"/>
            <a:ext cx="2011680" cy="182880"/>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Own last hour</a:t>
            </a:r>
            <a:endParaRPr lang="en-US" sz="850" dirty="0"/>
          </a:p>
        </p:txBody>
      </p:sp>
      <p:sp>
        <p:nvSpPr>
          <p:cNvPr id="24" name="Text 22"/>
          <p:cNvSpPr txBox="1"/>
          <p:nvPr/>
        </p:nvSpPr>
        <p:spPr>
          <a:xfrm>
            <a:off x="2743200" y="5285232"/>
            <a:ext cx="1005840" cy="182880"/>
          </a:xfrm>
          <a:prstGeom prst="rect">
            <a:avLst/>
          </a:prstGeom>
          <a:noFill/>
          <a:ln/>
        </p:spPr>
        <p:txBody>
          <a:bodyPr wrap="square" lIns="0" tIns="0" rIns="0" bIns="0" rtlCol="0" anchor="ctr"/>
          <a:lstStyle/>
          <a:p>
            <a:pPr algn="r" indent="0" marL="0">
              <a:buNone/>
            </a:pPr>
            <a:r>
              <a:rPr lang="en-US" sz="800" dirty="0">
                <a:solidFill>
                  <a:srgbClr val="6B6B6B"/>
                </a:solidFill>
                <a:latin typeface="Poppins" pitchFamily="34" charset="0"/>
                <a:ea typeface="Poppins" pitchFamily="34" charset="-122"/>
                <a:cs typeface="Poppins" pitchFamily="34" charset="-120"/>
              </a:rPr>
              <a:t>12 numbers</a:t>
            </a:r>
            <a:endParaRPr lang="en-US" sz="800" dirty="0"/>
          </a:p>
        </p:txBody>
      </p:sp>
      <p:sp>
        <p:nvSpPr>
          <p:cNvPr id="25" name="Shape 23"/>
          <p:cNvSpPr/>
          <p:nvPr/>
        </p:nvSpPr>
        <p:spPr>
          <a:xfrm>
            <a:off x="841248" y="5481828"/>
            <a:ext cx="146304" cy="146304"/>
          </a:xfrm>
          <a:prstGeom prst="ellipse">
            <a:avLst/>
          </a:prstGeom>
          <a:solidFill>
            <a:srgbClr val="1A1A1A"/>
          </a:solidFill>
          <a:ln w="12700">
            <a:solidFill>
              <a:srgbClr val="1A1A1A"/>
            </a:solidFill>
            <a:prstDash val="solid"/>
          </a:ln>
        </p:spPr>
      </p:sp>
      <p:sp>
        <p:nvSpPr>
          <p:cNvPr id="26" name="Text 24"/>
          <p:cNvSpPr txBox="1"/>
          <p:nvPr/>
        </p:nvSpPr>
        <p:spPr>
          <a:xfrm>
            <a:off x="841248" y="5481828"/>
            <a:ext cx="14630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B</a:t>
            </a:r>
            <a:endParaRPr lang="en-US" sz="600" dirty="0"/>
          </a:p>
        </p:txBody>
      </p:sp>
      <p:sp>
        <p:nvSpPr>
          <p:cNvPr id="27" name="Text 25"/>
          <p:cNvSpPr txBox="1"/>
          <p:nvPr/>
        </p:nvSpPr>
        <p:spPr>
          <a:xfrm>
            <a:off x="1051560" y="5468112"/>
            <a:ext cx="2011680" cy="182880"/>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Summary of that hour</a:t>
            </a:r>
            <a:endParaRPr lang="en-US" sz="850" dirty="0"/>
          </a:p>
        </p:txBody>
      </p:sp>
      <p:sp>
        <p:nvSpPr>
          <p:cNvPr id="28" name="Text 26"/>
          <p:cNvSpPr txBox="1"/>
          <p:nvPr/>
        </p:nvSpPr>
        <p:spPr>
          <a:xfrm>
            <a:off x="2743200" y="5468112"/>
            <a:ext cx="1005840" cy="182880"/>
          </a:xfrm>
          <a:prstGeom prst="rect">
            <a:avLst/>
          </a:prstGeom>
          <a:noFill/>
          <a:ln/>
        </p:spPr>
        <p:txBody>
          <a:bodyPr wrap="square" lIns="0" tIns="0" rIns="0" bIns="0" rtlCol="0" anchor="ctr"/>
          <a:lstStyle/>
          <a:p>
            <a:pPr algn="r" indent="0" marL="0">
              <a:buNone/>
            </a:pPr>
            <a:r>
              <a:rPr lang="en-US" sz="800" dirty="0">
                <a:solidFill>
                  <a:srgbClr val="6B6B6B"/>
                </a:solidFill>
                <a:latin typeface="Poppins" pitchFamily="34" charset="0"/>
                <a:ea typeface="Poppins" pitchFamily="34" charset="-122"/>
                <a:cs typeface="Poppins" pitchFamily="34" charset="-120"/>
              </a:rPr>
              <a:t>6 numbers</a:t>
            </a:r>
            <a:endParaRPr lang="en-US" sz="800" dirty="0"/>
          </a:p>
        </p:txBody>
      </p:sp>
      <p:sp>
        <p:nvSpPr>
          <p:cNvPr id="29" name="Shape 27"/>
          <p:cNvSpPr/>
          <p:nvPr/>
        </p:nvSpPr>
        <p:spPr>
          <a:xfrm>
            <a:off x="841248" y="5664708"/>
            <a:ext cx="146304" cy="146304"/>
          </a:xfrm>
          <a:prstGeom prst="ellipse">
            <a:avLst/>
          </a:prstGeom>
          <a:solidFill>
            <a:srgbClr val="1A1A1A"/>
          </a:solidFill>
          <a:ln w="12700">
            <a:solidFill>
              <a:srgbClr val="1A1A1A"/>
            </a:solidFill>
            <a:prstDash val="solid"/>
          </a:ln>
        </p:spPr>
      </p:sp>
      <p:sp>
        <p:nvSpPr>
          <p:cNvPr id="30" name="Text 28"/>
          <p:cNvSpPr txBox="1"/>
          <p:nvPr/>
        </p:nvSpPr>
        <p:spPr>
          <a:xfrm>
            <a:off x="841248" y="5664708"/>
            <a:ext cx="14630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C</a:t>
            </a:r>
            <a:endParaRPr lang="en-US" sz="600" dirty="0"/>
          </a:p>
        </p:txBody>
      </p:sp>
      <p:sp>
        <p:nvSpPr>
          <p:cNvPr id="31" name="Text 29"/>
          <p:cNvSpPr txBox="1"/>
          <p:nvPr/>
        </p:nvSpPr>
        <p:spPr>
          <a:xfrm>
            <a:off x="1051560" y="5650992"/>
            <a:ext cx="2011680" cy="182880"/>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The clock</a:t>
            </a:r>
            <a:endParaRPr lang="en-US" sz="850" dirty="0"/>
          </a:p>
        </p:txBody>
      </p:sp>
      <p:sp>
        <p:nvSpPr>
          <p:cNvPr id="32" name="Text 30"/>
          <p:cNvSpPr txBox="1"/>
          <p:nvPr/>
        </p:nvSpPr>
        <p:spPr>
          <a:xfrm>
            <a:off x="2743200" y="5650992"/>
            <a:ext cx="1005840" cy="182880"/>
          </a:xfrm>
          <a:prstGeom prst="rect">
            <a:avLst/>
          </a:prstGeom>
          <a:noFill/>
          <a:ln/>
        </p:spPr>
        <p:txBody>
          <a:bodyPr wrap="square" lIns="0" tIns="0" rIns="0" bIns="0" rtlCol="0" anchor="ctr"/>
          <a:lstStyle/>
          <a:p>
            <a:pPr algn="r" indent="0" marL="0">
              <a:buNone/>
            </a:pPr>
            <a:r>
              <a:rPr lang="en-US" sz="800" dirty="0">
                <a:solidFill>
                  <a:srgbClr val="6B6B6B"/>
                </a:solidFill>
                <a:latin typeface="Poppins" pitchFamily="34" charset="0"/>
                <a:ea typeface="Poppins" pitchFamily="34" charset="-122"/>
                <a:cs typeface="Poppins" pitchFamily="34" charset="-120"/>
              </a:rPr>
              <a:t>6 numbers</a:t>
            </a:r>
            <a:endParaRPr lang="en-US" sz="800" dirty="0"/>
          </a:p>
        </p:txBody>
      </p:sp>
      <p:sp>
        <p:nvSpPr>
          <p:cNvPr id="33" name="Shape 31"/>
          <p:cNvSpPr/>
          <p:nvPr/>
        </p:nvSpPr>
        <p:spPr>
          <a:xfrm>
            <a:off x="841248" y="5847588"/>
            <a:ext cx="146304" cy="146304"/>
          </a:xfrm>
          <a:prstGeom prst="ellipse">
            <a:avLst/>
          </a:prstGeom>
          <a:solidFill>
            <a:srgbClr val="1A1A1A"/>
          </a:solidFill>
          <a:ln w="12700">
            <a:solidFill>
              <a:srgbClr val="1A1A1A"/>
            </a:solidFill>
            <a:prstDash val="solid"/>
          </a:ln>
        </p:spPr>
      </p:sp>
      <p:sp>
        <p:nvSpPr>
          <p:cNvPr id="34" name="Text 32"/>
          <p:cNvSpPr txBox="1"/>
          <p:nvPr/>
        </p:nvSpPr>
        <p:spPr>
          <a:xfrm>
            <a:off x="841248" y="5847588"/>
            <a:ext cx="14630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D</a:t>
            </a:r>
            <a:endParaRPr lang="en-US" sz="600" dirty="0"/>
          </a:p>
        </p:txBody>
      </p:sp>
      <p:sp>
        <p:nvSpPr>
          <p:cNvPr id="35" name="Text 33"/>
          <p:cNvSpPr txBox="1"/>
          <p:nvPr/>
        </p:nvSpPr>
        <p:spPr>
          <a:xfrm>
            <a:off x="1051560" y="5833872"/>
            <a:ext cx="2011680" cy="182880"/>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Usual speed</a:t>
            </a:r>
            <a:endParaRPr lang="en-US" sz="850" dirty="0"/>
          </a:p>
        </p:txBody>
      </p:sp>
      <p:sp>
        <p:nvSpPr>
          <p:cNvPr id="36" name="Text 34"/>
          <p:cNvSpPr txBox="1"/>
          <p:nvPr/>
        </p:nvSpPr>
        <p:spPr>
          <a:xfrm>
            <a:off x="2743200" y="5833872"/>
            <a:ext cx="1005840" cy="182880"/>
          </a:xfrm>
          <a:prstGeom prst="rect">
            <a:avLst/>
          </a:prstGeom>
          <a:noFill/>
          <a:ln/>
        </p:spPr>
        <p:txBody>
          <a:bodyPr wrap="square" lIns="0" tIns="0" rIns="0" bIns="0" rtlCol="0" anchor="ctr"/>
          <a:lstStyle/>
          <a:p>
            <a:pPr algn="r" indent="0" marL="0">
              <a:buNone/>
            </a:pPr>
            <a:r>
              <a:rPr lang="en-US" sz="800" dirty="0">
                <a:solidFill>
                  <a:srgbClr val="6B6B6B"/>
                </a:solidFill>
                <a:latin typeface="Poppins" pitchFamily="34" charset="0"/>
                <a:ea typeface="Poppins" pitchFamily="34" charset="-122"/>
                <a:cs typeface="Poppins" pitchFamily="34" charset="-120"/>
              </a:rPr>
              <a:t>2 numbers</a:t>
            </a:r>
            <a:endParaRPr lang="en-US" sz="800" dirty="0"/>
          </a:p>
        </p:txBody>
      </p:sp>
      <p:sp>
        <p:nvSpPr>
          <p:cNvPr id="37" name="Shape 35"/>
          <p:cNvSpPr/>
          <p:nvPr/>
        </p:nvSpPr>
        <p:spPr>
          <a:xfrm>
            <a:off x="841248" y="6030468"/>
            <a:ext cx="146304" cy="146304"/>
          </a:xfrm>
          <a:prstGeom prst="ellipse">
            <a:avLst/>
          </a:prstGeom>
          <a:solidFill>
            <a:srgbClr val="1A1A1A"/>
          </a:solidFill>
          <a:ln w="12700">
            <a:solidFill>
              <a:srgbClr val="1A1A1A"/>
            </a:solidFill>
            <a:prstDash val="solid"/>
          </a:ln>
        </p:spPr>
      </p:sp>
      <p:sp>
        <p:nvSpPr>
          <p:cNvPr id="38" name="Text 36"/>
          <p:cNvSpPr txBox="1"/>
          <p:nvPr/>
        </p:nvSpPr>
        <p:spPr>
          <a:xfrm>
            <a:off x="841248" y="6030468"/>
            <a:ext cx="14630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E</a:t>
            </a:r>
            <a:endParaRPr lang="en-US" sz="600" dirty="0"/>
          </a:p>
        </p:txBody>
      </p:sp>
      <p:sp>
        <p:nvSpPr>
          <p:cNvPr id="39" name="Text 37"/>
          <p:cNvSpPr txBox="1"/>
          <p:nvPr/>
        </p:nvSpPr>
        <p:spPr>
          <a:xfrm>
            <a:off x="1051560" y="6016752"/>
            <a:ext cx="2011680" cy="182880"/>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Neighbours</a:t>
            </a:r>
            <a:endParaRPr lang="en-US" sz="850" dirty="0"/>
          </a:p>
        </p:txBody>
      </p:sp>
      <p:sp>
        <p:nvSpPr>
          <p:cNvPr id="40" name="Text 38"/>
          <p:cNvSpPr txBox="1"/>
          <p:nvPr/>
        </p:nvSpPr>
        <p:spPr>
          <a:xfrm>
            <a:off x="2743200" y="6016752"/>
            <a:ext cx="1005840" cy="182880"/>
          </a:xfrm>
          <a:prstGeom prst="rect">
            <a:avLst/>
          </a:prstGeom>
          <a:noFill/>
          <a:ln/>
        </p:spPr>
        <p:txBody>
          <a:bodyPr wrap="square" lIns="0" tIns="0" rIns="0" bIns="0" rtlCol="0" anchor="ctr"/>
          <a:lstStyle/>
          <a:p>
            <a:pPr algn="r" indent="0" marL="0">
              <a:buNone/>
            </a:pPr>
            <a:r>
              <a:rPr lang="en-US" sz="800" dirty="0">
                <a:solidFill>
                  <a:srgbClr val="6B6B6B"/>
                </a:solidFill>
                <a:latin typeface="Poppins" pitchFamily="34" charset="0"/>
                <a:ea typeface="Poppins" pitchFamily="34" charset="-122"/>
                <a:cs typeface="Poppins" pitchFamily="34" charset="-120"/>
              </a:rPr>
              <a:t>8 numbers</a:t>
            </a:r>
            <a:endParaRPr lang="en-US" sz="800" dirty="0"/>
          </a:p>
        </p:txBody>
      </p:sp>
      <p:sp>
        <p:nvSpPr>
          <p:cNvPr id="41" name="Shape 39"/>
          <p:cNvSpPr/>
          <p:nvPr/>
        </p:nvSpPr>
        <p:spPr>
          <a:xfrm>
            <a:off x="4160520" y="1097280"/>
            <a:ext cx="7452360" cy="5074920"/>
          </a:xfrm>
          <a:prstGeom prst="roundRect">
            <a:avLst>
              <a:gd name="adj" fmla="val 5045"/>
            </a:avLst>
          </a:prstGeom>
          <a:solidFill>
            <a:srgbClr val="1A1A1A"/>
          </a:solidFill>
          <a:ln w="12700">
            <a:solidFill>
              <a:srgbClr val="1A1A1A"/>
            </a:solidFill>
            <a:prstDash val="solid"/>
          </a:ln>
        </p:spPr>
      </p:sp>
      <p:sp>
        <p:nvSpPr>
          <p:cNvPr id="42" name="Text 40"/>
          <p:cNvSpPr txBox="1"/>
          <p:nvPr/>
        </p:nvSpPr>
        <p:spPr>
          <a:xfrm>
            <a:off x="4389120" y="1371600"/>
            <a:ext cx="36576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GRP</a:t>
            </a:r>
            <a:endParaRPr lang="en-US" sz="700" dirty="0"/>
          </a:p>
        </p:txBody>
      </p:sp>
      <p:sp>
        <p:nvSpPr>
          <p:cNvPr id="43" name="Text 41"/>
          <p:cNvSpPr txBox="1"/>
          <p:nvPr/>
        </p:nvSpPr>
        <p:spPr>
          <a:xfrm>
            <a:off x="4754880" y="1371600"/>
            <a:ext cx="196596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FEATURE</a:t>
            </a:r>
            <a:endParaRPr lang="en-US" sz="700" dirty="0"/>
          </a:p>
        </p:txBody>
      </p:sp>
      <p:sp>
        <p:nvSpPr>
          <p:cNvPr id="44" name="Text 42"/>
          <p:cNvSpPr txBox="1"/>
          <p:nvPr/>
        </p:nvSpPr>
        <p:spPr>
          <a:xfrm>
            <a:off x="6720840" y="1371600"/>
            <a:ext cx="301752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WHAT IT TELLS THE MODEL</a:t>
            </a:r>
            <a:endParaRPr lang="en-US" sz="700" dirty="0"/>
          </a:p>
        </p:txBody>
      </p:sp>
      <p:sp>
        <p:nvSpPr>
          <p:cNvPr id="45" name="Text 43"/>
          <p:cNvSpPr txBox="1"/>
          <p:nvPr/>
        </p:nvSpPr>
        <p:spPr>
          <a:xfrm>
            <a:off x="9738360" y="1371600"/>
            <a:ext cx="50292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COUNT</a:t>
            </a:r>
            <a:endParaRPr lang="en-US" sz="700" dirty="0"/>
          </a:p>
        </p:txBody>
      </p:sp>
      <p:sp>
        <p:nvSpPr>
          <p:cNvPr id="46" name="Text 44"/>
          <p:cNvSpPr txBox="1"/>
          <p:nvPr/>
        </p:nvSpPr>
        <p:spPr>
          <a:xfrm>
            <a:off x="10241280" y="1371600"/>
            <a:ext cx="54864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USED BY</a:t>
            </a:r>
            <a:endParaRPr lang="en-US" sz="700" dirty="0"/>
          </a:p>
        </p:txBody>
      </p:sp>
      <p:sp>
        <p:nvSpPr>
          <p:cNvPr id="47" name="Text 45"/>
          <p:cNvSpPr txBox="1"/>
          <p:nvPr/>
        </p:nvSpPr>
        <p:spPr>
          <a:xfrm>
            <a:off x="10789920" y="1371600"/>
            <a:ext cx="59436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IMPOR.</a:t>
            </a:r>
            <a:endParaRPr lang="en-US" sz="700" dirty="0"/>
          </a:p>
        </p:txBody>
      </p:sp>
      <p:sp>
        <p:nvSpPr>
          <p:cNvPr id="48" name="Shape 46"/>
          <p:cNvSpPr/>
          <p:nvPr/>
        </p:nvSpPr>
        <p:spPr>
          <a:xfrm>
            <a:off x="4389120" y="1609344"/>
            <a:ext cx="6995160" cy="0"/>
          </a:xfrm>
          <a:prstGeom prst="line">
            <a:avLst/>
          </a:prstGeom>
          <a:noFill/>
          <a:ln w="9525">
            <a:solidFill>
              <a:srgbClr val="4A4A4A"/>
            </a:solidFill>
            <a:prstDash val="solid"/>
          </a:ln>
        </p:spPr>
      </p:sp>
      <p:sp>
        <p:nvSpPr>
          <p:cNvPr id="49" name="Text 47"/>
          <p:cNvSpPr txBox="1"/>
          <p:nvPr/>
        </p:nvSpPr>
        <p:spPr>
          <a:xfrm>
            <a:off x="4389120" y="163677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A</a:t>
            </a:r>
            <a:endParaRPr lang="en-US" sz="850" dirty="0"/>
          </a:p>
        </p:txBody>
      </p:sp>
      <p:sp>
        <p:nvSpPr>
          <p:cNvPr id="50" name="Text 48"/>
          <p:cNvSpPr txBox="1"/>
          <p:nvPr/>
        </p:nvSpPr>
        <p:spPr>
          <a:xfrm>
            <a:off x="4754880" y="163677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lag_0 … lag_11</a:t>
            </a:r>
            <a:endParaRPr lang="en-US" sz="750" dirty="0"/>
          </a:p>
        </p:txBody>
      </p:sp>
      <p:sp>
        <p:nvSpPr>
          <p:cNvPr id="51" name="Text 49"/>
          <p:cNvSpPr txBox="1"/>
          <p:nvPr/>
        </p:nvSpPr>
        <p:spPr>
          <a:xfrm>
            <a:off x="6720840" y="163677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speed now and in the previous 11 slots (one hour)</a:t>
            </a:r>
            <a:endParaRPr lang="en-US" sz="850" dirty="0"/>
          </a:p>
        </p:txBody>
      </p:sp>
      <p:sp>
        <p:nvSpPr>
          <p:cNvPr id="52" name="Text 50"/>
          <p:cNvSpPr txBox="1"/>
          <p:nvPr/>
        </p:nvSpPr>
        <p:spPr>
          <a:xfrm>
            <a:off x="9738360" y="163677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12</a:t>
            </a:r>
            <a:endParaRPr lang="en-US" sz="850" dirty="0"/>
          </a:p>
        </p:txBody>
      </p:sp>
      <p:sp>
        <p:nvSpPr>
          <p:cNvPr id="53" name="Text 51"/>
          <p:cNvSpPr txBox="1"/>
          <p:nvPr/>
        </p:nvSpPr>
        <p:spPr>
          <a:xfrm>
            <a:off x="10241280" y="163677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54" name="Text 52"/>
          <p:cNvSpPr txBox="1"/>
          <p:nvPr/>
        </p:nvSpPr>
        <p:spPr>
          <a:xfrm>
            <a:off x="10789920" y="163677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34%</a:t>
            </a:r>
            <a:endParaRPr lang="en-US" sz="850" dirty="0"/>
          </a:p>
        </p:txBody>
      </p:sp>
      <p:sp>
        <p:nvSpPr>
          <p:cNvPr id="55" name="Shape 53"/>
          <p:cNvSpPr/>
          <p:nvPr/>
        </p:nvSpPr>
        <p:spPr>
          <a:xfrm>
            <a:off x="4389120" y="2002536"/>
            <a:ext cx="6995160" cy="0"/>
          </a:xfrm>
          <a:prstGeom prst="line">
            <a:avLst/>
          </a:prstGeom>
          <a:noFill/>
          <a:ln w="6350">
            <a:solidFill>
              <a:srgbClr val="343434"/>
            </a:solidFill>
            <a:prstDash val="solid"/>
          </a:ln>
        </p:spPr>
      </p:sp>
      <p:sp>
        <p:nvSpPr>
          <p:cNvPr id="56" name="Text 54"/>
          <p:cNvSpPr txBox="1"/>
          <p:nvPr/>
        </p:nvSpPr>
        <p:spPr>
          <a:xfrm>
            <a:off x="4389120" y="200253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B</a:t>
            </a:r>
            <a:endParaRPr lang="en-US" sz="850" dirty="0"/>
          </a:p>
        </p:txBody>
      </p:sp>
      <p:sp>
        <p:nvSpPr>
          <p:cNvPr id="57" name="Text 55"/>
          <p:cNvSpPr txBox="1"/>
          <p:nvPr/>
        </p:nvSpPr>
        <p:spPr>
          <a:xfrm>
            <a:off x="4754880" y="200253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win_mean / std / min / max</a:t>
            </a:r>
            <a:endParaRPr lang="en-US" sz="750" dirty="0"/>
          </a:p>
        </p:txBody>
      </p:sp>
      <p:sp>
        <p:nvSpPr>
          <p:cNvPr id="58" name="Text 56"/>
          <p:cNvSpPr txBox="1"/>
          <p:nvPr/>
        </p:nvSpPr>
        <p:spPr>
          <a:xfrm>
            <a:off x="6720840" y="200253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summary of that hour</a:t>
            </a:r>
            <a:endParaRPr lang="en-US" sz="850" dirty="0"/>
          </a:p>
        </p:txBody>
      </p:sp>
      <p:sp>
        <p:nvSpPr>
          <p:cNvPr id="59" name="Text 57"/>
          <p:cNvSpPr txBox="1"/>
          <p:nvPr/>
        </p:nvSpPr>
        <p:spPr>
          <a:xfrm>
            <a:off x="9738360" y="200253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4</a:t>
            </a:r>
            <a:endParaRPr lang="en-US" sz="850" dirty="0"/>
          </a:p>
        </p:txBody>
      </p:sp>
      <p:sp>
        <p:nvSpPr>
          <p:cNvPr id="60" name="Text 58"/>
          <p:cNvSpPr txBox="1"/>
          <p:nvPr/>
        </p:nvSpPr>
        <p:spPr>
          <a:xfrm>
            <a:off x="10241280" y="200253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61" name="Text 59"/>
          <p:cNvSpPr txBox="1"/>
          <p:nvPr/>
        </p:nvSpPr>
        <p:spPr>
          <a:xfrm>
            <a:off x="10789920" y="200253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12%</a:t>
            </a:r>
            <a:endParaRPr lang="en-US" sz="850" dirty="0"/>
          </a:p>
        </p:txBody>
      </p:sp>
      <p:sp>
        <p:nvSpPr>
          <p:cNvPr id="62" name="Shape 60"/>
          <p:cNvSpPr/>
          <p:nvPr/>
        </p:nvSpPr>
        <p:spPr>
          <a:xfrm>
            <a:off x="4389120" y="2368296"/>
            <a:ext cx="6995160" cy="0"/>
          </a:xfrm>
          <a:prstGeom prst="line">
            <a:avLst/>
          </a:prstGeom>
          <a:noFill/>
          <a:ln w="6350">
            <a:solidFill>
              <a:srgbClr val="343434"/>
            </a:solidFill>
            <a:prstDash val="solid"/>
          </a:ln>
        </p:spPr>
      </p:sp>
      <p:sp>
        <p:nvSpPr>
          <p:cNvPr id="63" name="Text 61"/>
          <p:cNvSpPr txBox="1"/>
          <p:nvPr/>
        </p:nvSpPr>
        <p:spPr>
          <a:xfrm>
            <a:off x="4389120" y="236829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B</a:t>
            </a:r>
            <a:endParaRPr lang="en-US" sz="850" dirty="0"/>
          </a:p>
        </p:txBody>
      </p:sp>
      <p:sp>
        <p:nvSpPr>
          <p:cNvPr id="64" name="Text 62"/>
          <p:cNvSpPr txBox="1"/>
          <p:nvPr/>
        </p:nvSpPr>
        <p:spPr>
          <a:xfrm>
            <a:off x="4754880" y="236829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win_frac_missing, trend_15min</a:t>
            </a:r>
            <a:endParaRPr lang="en-US" sz="750" dirty="0"/>
          </a:p>
        </p:txBody>
      </p:sp>
      <p:sp>
        <p:nvSpPr>
          <p:cNvPr id="65" name="Text 63"/>
          <p:cNvSpPr txBox="1"/>
          <p:nvPr/>
        </p:nvSpPr>
        <p:spPr>
          <a:xfrm>
            <a:off x="6720840" y="236829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share of the hour unknown; change over 15 min</a:t>
            </a:r>
            <a:endParaRPr lang="en-US" sz="850" dirty="0"/>
          </a:p>
        </p:txBody>
      </p:sp>
      <p:sp>
        <p:nvSpPr>
          <p:cNvPr id="66" name="Text 64"/>
          <p:cNvSpPr txBox="1"/>
          <p:nvPr/>
        </p:nvSpPr>
        <p:spPr>
          <a:xfrm>
            <a:off x="9738360" y="236829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2</a:t>
            </a:r>
            <a:endParaRPr lang="en-US" sz="850" dirty="0"/>
          </a:p>
        </p:txBody>
      </p:sp>
      <p:sp>
        <p:nvSpPr>
          <p:cNvPr id="67" name="Text 65"/>
          <p:cNvSpPr txBox="1"/>
          <p:nvPr/>
        </p:nvSpPr>
        <p:spPr>
          <a:xfrm>
            <a:off x="10241280" y="236829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68" name="Text 66"/>
          <p:cNvSpPr txBox="1"/>
          <p:nvPr/>
        </p:nvSpPr>
        <p:spPr>
          <a:xfrm>
            <a:off x="10789920" y="236829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2%</a:t>
            </a:r>
            <a:endParaRPr lang="en-US" sz="850" dirty="0"/>
          </a:p>
        </p:txBody>
      </p:sp>
      <p:sp>
        <p:nvSpPr>
          <p:cNvPr id="69" name="Shape 67"/>
          <p:cNvSpPr/>
          <p:nvPr/>
        </p:nvSpPr>
        <p:spPr>
          <a:xfrm>
            <a:off x="4389120" y="2734056"/>
            <a:ext cx="6995160" cy="0"/>
          </a:xfrm>
          <a:prstGeom prst="line">
            <a:avLst/>
          </a:prstGeom>
          <a:noFill/>
          <a:ln w="6350">
            <a:solidFill>
              <a:srgbClr val="343434"/>
            </a:solidFill>
            <a:prstDash val="solid"/>
          </a:ln>
        </p:spPr>
      </p:sp>
      <p:sp>
        <p:nvSpPr>
          <p:cNvPr id="70" name="Text 68"/>
          <p:cNvSpPr txBox="1"/>
          <p:nvPr/>
        </p:nvSpPr>
        <p:spPr>
          <a:xfrm>
            <a:off x="4389120" y="273405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C</a:t>
            </a:r>
            <a:endParaRPr lang="en-US" sz="850" dirty="0"/>
          </a:p>
        </p:txBody>
      </p:sp>
      <p:sp>
        <p:nvSpPr>
          <p:cNvPr id="71" name="Text 69"/>
          <p:cNvSpPr txBox="1"/>
          <p:nvPr/>
        </p:nvSpPr>
        <p:spPr>
          <a:xfrm>
            <a:off x="4754880" y="273405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tod_sin / cos, dow_sin / cos</a:t>
            </a:r>
            <a:endParaRPr lang="en-US" sz="750" dirty="0"/>
          </a:p>
        </p:txBody>
      </p:sp>
      <p:sp>
        <p:nvSpPr>
          <p:cNvPr id="72" name="Text 70"/>
          <p:cNvSpPr txBox="1"/>
          <p:nvPr/>
        </p:nvSpPr>
        <p:spPr>
          <a:xfrm>
            <a:off x="6720840" y="273405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time of day, day of week — midnight wraps round</a:t>
            </a:r>
            <a:endParaRPr lang="en-US" sz="850" dirty="0"/>
          </a:p>
        </p:txBody>
      </p:sp>
      <p:sp>
        <p:nvSpPr>
          <p:cNvPr id="73" name="Text 71"/>
          <p:cNvSpPr txBox="1"/>
          <p:nvPr/>
        </p:nvSpPr>
        <p:spPr>
          <a:xfrm>
            <a:off x="9738360" y="273405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4</a:t>
            </a:r>
            <a:endParaRPr lang="en-US" sz="850" dirty="0"/>
          </a:p>
        </p:txBody>
      </p:sp>
      <p:sp>
        <p:nvSpPr>
          <p:cNvPr id="74" name="Text 72"/>
          <p:cNvSpPr txBox="1"/>
          <p:nvPr/>
        </p:nvSpPr>
        <p:spPr>
          <a:xfrm>
            <a:off x="10241280" y="273405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75" name="Text 73"/>
          <p:cNvSpPr txBox="1"/>
          <p:nvPr/>
        </p:nvSpPr>
        <p:spPr>
          <a:xfrm>
            <a:off x="10789920" y="273405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10%</a:t>
            </a:r>
            <a:endParaRPr lang="en-US" sz="850" dirty="0"/>
          </a:p>
        </p:txBody>
      </p:sp>
      <p:sp>
        <p:nvSpPr>
          <p:cNvPr id="76" name="Shape 74"/>
          <p:cNvSpPr/>
          <p:nvPr/>
        </p:nvSpPr>
        <p:spPr>
          <a:xfrm>
            <a:off x="4389120" y="3099816"/>
            <a:ext cx="6995160" cy="0"/>
          </a:xfrm>
          <a:prstGeom prst="line">
            <a:avLst/>
          </a:prstGeom>
          <a:noFill/>
          <a:ln w="6350">
            <a:solidFill>
              <a:srgbClr val="343434"/>
            </a:solidFill>
            <a:prstDash val="solid"/>
          </a:ln>
        </p:spPr>
      </p:sp>
      <p:sp>
        <p:nvSpPr>
          <p:cNvPr id="77" name="Text 75"/>
          <p:cNvSpPr txBox="1"/>
          <p:nvPr/>
        </p:nvSpPr>
        <p:spPr>
          <a:xfrm>
            <a:off x="4389120" y="309981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C</a:t>
            </a:r>
            <a:endParaRPr lang="en-US" sz="850" dirty="0"/>
          </a:p>
        </p:txBody>
      </p:sp>
      <p:sp>
        <p:nvSpPr>
          <p:cNvPr id="78" name="Text 76"/>
          <p:cNvSpPr txBox="1"/>
          <p:nvPr/>
        </p:nvSpPr>
        <p:spPr>
          <a:xfrm>
            <a:off x="4754880" y="309981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is_weekend, hour</a:t>
            </a:r>
            <a:endParaRPr lang="en-US" sz="750" dirty="0"/>
          </a:p>
        </p:txBody>
      </p:sp>
      <p:sp>
        <p:nvSpPr>
          <p:cNvPr id="79" name="Text 77"/>
          <p:cNvSpPr txBox="1"/>
          <p:nvPr/>
        </p:nvSpPr>
        <p:spPr>
          <a:xfrm>
            <a:off x="6720840" y="309981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weekend flag; hour of the day</a:t>
            </a:r>
            <a:endParaRPr lang="en-US" sz="850" dirty="0"/>
          </a:p>
        </p:txBody>
      </p:sp>
      <p:sp>
        <p:nvSpPr>
          <p:cNvPr id="80" name="Text 78"/>
          <p:cNvSpPr txBox="1"/>
          <p:nvPr/>
        </p:nvSpPr>
        <p:spPr>
          <a:xfrm>
            <a:off x="9738360" y="309981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2</a:t>
            </a:r>
            <a:endParaRPr lang="en-US" sz="850" dirty="0"/>
          </a:p>
        </p:txBody>
      </p:sp>
      <p:sp>
        <p:nvSpPr>
          <p:cNvPr id="81" name="Text 79"/>
          <p:cNvSpPr txBox="1"/>
          <p:nvPr/>
        </p:nvSpPr>
        <p:spPr>
          <a:xfrm>
            <a:off x="10241280" y="309981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82" name="Text 80"/>
          <p:cNvSpPr txBox="1"/>
          <p:nvPr/>
        </p:nvSpPr>
        <p:spPr>
          <a:xfrm>
            <a:off x="10789920" y="309981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8%</a:t>
            </a:r>
            <a:endParaRPr lang="en-US" sz="850" dirty="0"/>
          </a:p>
        </p:txBody>
      </p:sp>
      <p:sp>
        <p:nvSpPr>
          <p:cNvPr id="83" name="Shape 81"/>
          <p:cNvSpPr/>
          <p:nvPr/>
        </p:nvSpPr>
        <p:spPr>
          <a:xfrm>
            <a:off x="4389120" y="3465576"/>
            <a:ext cx="6995160" cy="0"/>
          </a:xfrm>
          <a:prstGeom prst="line">
            <a:avLst/>
          </a:prstGeom>
          <a:noFill/>
          <a:ln w="6350">
            <a:solidFill>
              <a:srgbClr val="343434"/>
            </a:solidFill>
            <a:prstDash val="solid"/>
          </a:ln>
        </p:spPr>
      </p:sp>
      <p:sp>
        <p:nvSpPr>
          <p:cNvPr id="84" name="Text 82"/>
          <p:cNvSpPr txBox="1"/>
          <p:nvPr/>
        </p:nvSpPr>
        <p:spPr>
          <a:xfrm>
            <a:off x="4389120" y="346557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D</a:t>
            </a:r>
            <a:endParaRPr lang="en-US" sz="850" dirty="0"/>
          </a:p>
        </p:txBody>
      </p:sp>
      <p:sp>
        <p:nvSpPr>
          <p:cNvPr id="85" name="Text 83"/>
          <p:cNvSpPr txBox="1"/>
          <p:nvPr/>
        </p:nvSpPr>
        <p:spPr>
          <a:xfrm>
            <a:off x="4754880" y="346557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ha_now, dev_from_ha</a:t>
            </a:r>
            <a:endParaRPr lang="en-US" sz="750" dirty="0"/>
          </a:p>
        </p:txBody>
      </p:sp>
      <p:sp>
        <p:nvSpPr>
          <p:cNvPr id="86" name="Text 84"/>
          <p:cNvSpPr txBox="1"/>
          <p:nvPr/>
        </p:nvSpPr>
        <p:spPr>
          <a:xfrm>
            <a:off x="6720840" y="346557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usual speed at this time of week (train only); gap from usual</a:t>
            </a:r>
            <a:endParaRPr lang="en-US" sz="850" dirty="0"/>
          </a:p>
        </p:txBody>
      </p:sp>
      <p:sp>
        <p:nvSpPr>
          <p:cNvPr id="87" name="Text 85"/>
          <p:cNvSpPr txBox="1"/>
          <p:nvPr/>
        </p:nvSpPr>
        <p:spPr>
          <a:xfrm>
            <a:off x="9738360" y="346557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2</a:t>
            </a:r>
            <a:endParaRPr lang="en-US" sz="850" dirty="0"/>
          </a:p>
        </p:txBody>
      </p:sp>
      <p:sp>
        <p:nvSpPr>
          <p:cNvPr id="88" name="Text 86"/>
          <p:cNvSpPr txBox="1"/>
          <p:nvPr/>
        </p:nvSpPr>
        <p:spPr>
          <a:xfrm>
            <a:off x="10241280" y="346557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L + S</a:t>
            </a:r>
            <a:endParaRPr lang="en-US" sz="850" dirty="0"/>
          </a:p>
        </p:txBody>
      </p:sp>
      <p:sp>
        <p:nvSpPr>
          <p:cNvPr id="89" name="Text 87"/>
          <p:cNvSpPr txBox="1"/>
          <p:nvPr/>
        </p:nvSpPr>
        <p:spPr>
          <a:xfrm>
            <a:off x="10789920" y="346557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9%</a:t>
            </a:r>
            <a:endParaRPr lang="en-US" sz="850" dirty="0"/>
          </a:p>
        </p:txBody>
      </p:sp>
      <p:sp>
        <p:nvSpPr>
          <p:cNvPr id="90" name="Shape 88"/>
          <p:cNvSpPr/>
          <p:nvPr/>
        </p:nvSpPr>
        <p:spPr>
          <a:xfrm>
            <a:off x="4389120" y="3831336"/>
            <a:ext cx="6995160" cy="0"/>
          </a:xfrm>
          <a:prstGeom prst="line">
            <a:avLst/>
          </a:prstGeom>
          <a:noFill/>
          <a:ln w="6350">
            <a:solidFill>
              <a:srgbClr val="343434"/>
            </a:solidFill>
            <a:prstDash val="solid"/>
          </a:ln>
        </p:spPr>
      </p:sp>
      <p:sp>
        <p:nvSpPr>
          <p:cNvPr id="91" name="Text 89"/>
          <p:cNvSpPr txBox="1"/>
          <p:nvPr/>
        </p:nvSpPr>
        <p:spPr>
          <a:xfrm>
            <a:off x="4389120" y="383133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E</a:t>
            </a:r>
            <a:endParaRPr lang="en-US" sz="850" dirty="0"/>
          </a:p>
        </p:txBody>
      </p:sp>
      <p:sp>
        <p:nvSpPr>
          <p:cNvPr id="92" name="Text 90"/>
          <p:cNvSpPr txBox="1"/>
          <p:nvPr/>
        </p:nvSpPr>
        <p:spPr>
          <a:xfrm>
            <a:off x="4754880" y="383133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up_mean (now, −5, −10 min)</a:t>
            </a:r>
            <a:endParaRPr lang="en-US" sz="750" dirty="0"/>
          </a:p>
        </p:txBody>
      </p:sp>
      <p:sp>
        <p:nvSpPr>
          <p:cNvPr id="93" name="Text 91"/>
          <p:cNvSpPr txBox="1"/>
          <p:nvPr/>
        </p:nvSpPr>
        <p:spPr>
          <a:xfrm>
            <a:off x="6720840" y="383133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upstream neighbours: what is about to arrive</a:t>
            </a:r>
            <a:endParaRPr lang="en-US" sz="850" dirty="0"/>
          </a:p>
        </p:txBody>
      </p:sp>
      <p:sp>
        <p:nvSpPr>
          <p:cNvPr id="94" name="Text 92"/>
          <p:cNvSpPr txBox="1"/>
          <p:nvPr/>
        </p:nvSpPr>
        <p:spPr>
          <a:xfrm>
            <a:off x="9738360" y="383133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3</a:t>
            </a:r>
            <a:endParaRPr lang="en-US" sz="850" dirty="0"/>
          </a:p>
        </p:txBody>
      </p:sp>
      <p:sp>
        <p:nvSpPr>
          <p:cNvPr id="95" name="Text 93"/>
          <p:cNvSpPr txBox="1"/>
          <p:nvPr/>
        </p:nvSpPr>
        <p:spPr>
          <a:xfrm>
            <a:off x="10241280" y="383133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S</a:t>
            </a:r>
            <a:endParaRPr lang="en-US" sz="850" dirty="0"/>
          </a:p>
        </p:txBody>
      </p:sp>
      <p:sp>
        <p:nvSpPr>
          <p:cNvPr id="96" name="Text 94"/>
          <p:cNvSpPr txBox="1"/>
          <p:nvPr/>
        </p:nvSpPr>
        <p:spPr>
          <a:xfrm>
            <a:off x="10789920" y="383133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8%</a:t>
            </a:r>
            <a:endParaRPr lang="en-US" sz="850" dirty="0"/>
          </a:p>
        </p:txBody>
      </p:sp>
      <p:sp>
        <p:nvSpPr>
          <p:cNvPr id="97" name="Shape 95"/>
          <p:cNvSpPr/>
          <p:nvPr/>
        </p:nvSpPr>
        <p:spPr>
          <a:xfrm>
            <a:off x="4389120" y="4197096"/>
            <a:ext cx="6995160" cy="0"/>
          </a:xfrm>
          <a:prstGeom prst="line">
            <a:avLst/>
          </a:prstGeom>
          <a:noFill/>
          <a:ln w="6350">
            <a:solidFill>
              <a:srgbClr val="343434"/>
            </a:solidFill>
            <a:prstDash val="solid"/>
          </a:ln>
        </p:spPr>
      </p:sp>
      <p:sp>
        <p:nvSpPr>
          <p:cNvPr id="98" name="Shape 96"/>
          <p:cNvSpPr/>
          <p:nvPr/>
        </p:nvSpPr>
        <p:spPr>
          <a:xfrm>
            <a:off x="4315968" y="4224528"/>
            <a:ext cx="7141464" cy="329184"/>
          </a:xfrm>
          <a:prstGeom prst="roundRect">
            <a:avLst>
              <a:gd name="adj" fmla="val 22222"/>
            </a:avLst>
          </a:prstGeom>
          <a:solidFill>
            <a:srgbClr val="2C2C2C"/>
          </a:solidFill>
          <a:ln w="12700">
            <a:solidFill>
              <a:srgbClr val="2C2C2C"/>
            </a:solidFill>
            <a:prstDash val="solid"/>
          </a:ln>
        </p:spPr>
      </p:sp>
      <p:sp>
        <p:nvSpPr>
          <p:cNvPr id="99" name="Text 97"/>
          <p:cNvSpPr txBox="1"/>
          <p:nvPr/>
        </p:nvSpPr>
        <p:spPr>
          <a:xfrm>
            <a:off x="4389120" y="419709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E</a:t>
            </a:r>
            <a:endParaRPr lang="en-US" sz="850" dirty="0"/>
          </a:p>
        </p:txBody>
      </p:sp>
      <p:sp>
        <p:nvSpPr>
          <p:cNvPr id="100" name="Text 98"/>
          <p:cNvSpPr txBox="1"/>
          <p:nvPr/>
        </p:nvSpPr>
        <p:spPr>
          <a:xfrm>
            <a:off x="4754880" y="419709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down_mean (now, −5, −10 min)</a:t>
            </a:r>
            <a:endParaRPr lang="en-US" sz="750" dirty="0"/>
          </a:p>
        </p:txBody>
      </p:sp>
      <p:sp>
        <p:nvSpPr>
          <p:cNvPr id="101" name="Text 99"/>
          <p:cNvSpPr txBox="1"/>
          <p:nvPr/>
        </p:nvSpPr>
        <p:spPr>
          <a:xfrm>
            <a:off x="6720840" y="4197096"/>
            <a:ext cx="3017520" cy="365760"/>
          </a:xfrm>
          <a:prstGeom prst="rect">
            <a:avLst/>
          </a:prstGeom>
          <a:noFill/>
          <a:ln/>
        </p:spPr>
        <p:txBody>
          <a:bodyPr wrap="square" lIns="0" tIns="0" rIns="0" bIns="0" rtlCol="0" anchor="ctr"/>
          <a:lstStyle/>
          <a:p>
            <a:pPr algn="l" indent="0" marL="0">
              <a:buNone/>
            </a:pPr>
            <a:r>
              <a:rPr lang="en-US" sz="850" b="1" dirty="0">
                <a:solidFill>
                  <a:srgbClr val="FFFFFF"/>
                </a:solidFill>
                <a:latin typeface="Poppins" pitchFamily="34" charset="0"/>
                <a:ea typeface="Poppins" pitchFamily="34" charset="-122"/>
                <a:cs typeface="Poppins" pitchFamily="34" charset="-120"/>
              </a:rPr>
              <a:t>downstream neighbours: a queue growing back to you</a:t>
            </a:r>
            <a:endParaRPr lang="en-US" sz="850" dirty="0"/>
          </a:p>
        </p:txBody>
      </p:sp>
      <p:sp>
        <p:nvSpPr>
          <p:cNvPr id="102" name="Text 100"/>
          <p:cNvSpPr txBox="1"/>
          <p:nvPr/>
        </p:nvSpPr>
        <p:spPr>
          <a:xfrm>
            <a:off x="9738360" y="419709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3</a:t>
            </a:r>
            <a:endParaRPr lang="en-US" sz="850" dirty="0"/>
          </a:p>
        </p:txBody>
      </p:sp>
      <p:sp>
        <p:nvSpPr>
          <p:cNvPr id="103" name="Text 101"/>
          <p:cNvSpPr txBox="1"/>
          <p:nvPr/>
        </p:nvSpPr>
        <p:spPr>
          <a:xfrm>
            <a:off x="10241280" y="419709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S</a:t>
            </a:r>
            <a:endParaRPr lang="en-US" sz="850" dirty="0"/>
          </a:p>
        </p:txBody>
      </p:sp>
      <p:sp>
        <p:nvSpPr>
          <p:cNvPr id="104" name="Shape 102"/>
          <p:cNvSpPr/>
          <p:nvPr/>
        </p:nvSpPr>
        <p:spPr>
          <a:xfrm>
            <a:off x="10881360" y="4251960"/>
            <a:ext cx="502920" cy="256032"/>
          </a:xfrm>
          <a:prstGeom prst="roundRect">
            <a:avLst>
              <a:gd name="adj" fmla="val 17857"/>
            </a:avLst>
          </a:prstGeom>
          <a:solidFill>
            <a:srgbClr val="FFFFFF"/>
          </a:solidFill>
          <a:ln w="12700">
            <a:solidFill>
              <a:srgbClr val="FFFFFF"/>
            </a:solidFill>
            <a:prstDash val="solid"/>
          </a:ln>
        </p:spPr>
      </p:sp>
      <p:sp>
        <p:nvSpPr>
          <p:cNvPr id="105" name="Text 103"/>
          <p:cNvSpPr txBox="1"/>
          <p:nvPr/>
        </p:nvSpPr>
        <p:spPr>
          <a:xfrm>
            <a:off x="10789920" y="4197096"/>
            <a:ext cx="594360" cy="365760"/>
          </a:xfrm>
          <a:prstGeom prst="rect">
            <a:avLst/>
          </a:prstGeom>
          <a:noFill/>
          <a:ln/>
        </p:spPr>
        <p:txBody>
          <a:bodyPr wrap="square" lIns="0" tIns="0" rIns="0" bIns="0" rtlCol="0" anchor="ctr"/>
          <a:lstStyle/>
          <a:p>
            <a:pPr algn="r" indent="0" marL="0">
              <a:buNone/>
            </a:pPr>
            <a:r>
              <a:rPr lang="en-US" sz="850" dirty="0">
                <a:solidFill>
                  <a:srgbClr val="1A1A1A"/>
                </a:solidFill>
                <a:latin typeface="Poppins" pitchFamily="34" charset="0"/>
                <a:ea typeface="Poppins" pitchFamily="34" charset="-122"/>
                <a:cs typeface="Poppins" pitchFamily="34" charset="-120"/>
              </a:rPr>
              <a:t>10%</a:t>
            </a:r>
            <a:endParaRPr lang="en-US" sz="850" dirty="0"/>
          </a:p>
        </p:txBody>
      </p:sp>
      <p:sp>
        <p:nvSpPr>
          <p:cNvPr id="106" name="Shape 104"/>
          <p:cNvSpPr/>
          <p:nvPr/>
        </p:nvSpPr>
        <p:spPr>
          <a:xfrm>
            <a:off x="4389120" y="4562856"/>
            <a:ext cx="6995160" cy="0"/>
          </a:xfrm>
          <a:prstGeom prst="line">
            <a:avLst/>
          </a:prstGeom>
          <a:noFill/>
          <a:ln w="6350">
            <a:solidFill>
              <a:srgbClr val="343434"/>
            </a:solidFill>
            <a:prstDash val="solid"/>
          </a:ln>
        </p:spPr>
      </p:sp>
      <p:sp>
        <p:nvSpPr>
          <p:cNvPr id="107" name="Text 105"/>
          <p:cNvSpPr txBox="1"/>
          <p:nvPr/>
        </p:nvSpPr>
        <p:spPr>
          <a:xfrm>
            <a:off x="4389120" y="456285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E</a:t>
            </a:r>
            <a:endParaRPr lang="en-US" sz="850" dirty="0"/>
          </a:p>
        </p:txBody>
      </p:sp>
      <p:sp>
        <p:nvSpPr>
          <p:cNvPr id="108" name="Text 106"/>
          <p:cNvSpPr txBox="1"/>
          <p:nvPr/>
        </p:nvSpPr>
        <p:spPr>
          <a:xfrm>
            <a:off x="4754880" y="456285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nbr_min, nbr_frac_congested</a:t>
            </a:r>
            <a:endParaRPr lang="en-US" sz="750" dirty="0"/>
          </a:p>
        </p:txBody>
      </p:sp>
      <p:sp>
        <p:nvSpPr>
          <p:cNvPr id="109" name="Text 107"/>
          <p:cNvSpPr txBox="1"/>
          <p:nvPr/>
        </p:nvSpPr>
        <p:spPr>
          <a:xfrm>
            <a:off x="6720840" y="456285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slowest neighbour; share of neighbours jammed</a:t>
            </a:r>
            <a:endParaRPr lang="en-US" sz="850" dirty="0"/>
          </a:p>
        </p:txBody>
      </p:sp>
      <p:sp>
        <p:nvSpPr>
          <p:cNvPr id="110" name="Text 108"/>
          <p:cNvSpPr txBox="1"/>
          <p:nvPr/>
        </p:nvSpPr>
        <p:spPr>
          <a:xfrm>
            <a:off x="9738360" y="456285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2</a:t>
            </a:r>
            <a:endParaRPr lang="en-US" sz="850" dirty="0"/>
          </a:p>
        </p:txBody>
      </p:sp>
      <p:sp>
        <p:nvSpPr>
          <p:cNvPr id="111" name="Text 109"/>
          <p:cNvSpPr txBox="1"/>
          <p:nvPr/>
        </p:nvSpPr>
        <p:spPr>
          <a:xfrm>
            <a:off x="10241280" y="456285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S</a:t>
            </a:r>
            <a:endParaRPr lang="en-US" sz="850" dirty="0"/>
          </a:p>
        </p:txBody>
      </p:sp>
      <p:sp>
        <p:nvSpPr>
          <p:cNvPr id="112" name="Text 110"/>
          <p:cNvSpPr txBox="1"/>
          <p:nvPr/>
        </p:nvSpPr>
        <p:spPr>
          <a:xfrm>
            <a:off x="10789920" y="456285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7%</a:t>
            </a:r>
            <a:endParaRPr lang="en-US" sz="850" dirty="0"/>
          </a:p>
        </p:txBody>
      </p:sp>
      <p:sp>
        <p:nvSpPr>
          <p:cNvPr id="113" name="Shape 111"/>
          <p:cNvSpPr/>
          <p:nvPr/>
        </p:nvSpPr>
        <p:spPr>
          <a:xfrm>
            <a:off x="4389120" y="4928616"/>
            <a:ext cx="6995160" cy="0"/>
          </a:xfrm>
          <a:prstGeom prst="line">
            <a:avLst/>
          </a:prstGeom>
          <a:noFill/>
          <a:ln w="6350">
            <a:solidFill>
              <a:srgbClr val="343434"/>
            </a:solidFill>
            <a:prstDash val="solid"/>
          </a:ln>
        </p:spPr>
      </p:sp>
      <p:sp>
        <p:nvSpPr>
          <p:cNvPr id="114" name="Text 112"/>
          <p:cNvSpPr txBox="1"/>
          <p:nvPr/>
        </p:nvSpPr>
        <p:spPr>
          <a:xfrm>
            <a:off x="4389120" y="4928616"/>
            <a:ext cx="36576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a:t>
            </a:r>
            <a:endParaRPr lang="en-US" sz="850" dirty="0"/>
          </a:p>
        </p:txBody>
      </p:sp>
      <p:sp>
        <p:nvSpPr>
          <p:cNvPr id="115" name="Text 113"/>
          <p:cNvSpPr txBox="1"/>
          <p:nvPr/>
        </p:nvSpPr>
        <p:spPr>
          <a:xfrm>
            <a:off x="4754880" y="4928616"/>
            <a:ext cx="1965960" cy="365760"/>
          </a:xfrm>
          <a:prstGeom prst="rect">
            <a:avLst/>
          </a:prstGeom>
          <a:noFill/>
          <a:ln/>
        </p:spPr>
        <p:txBody>
          <a:bodyPr wrap="square" lIns="0" tIns="0" rIns="0" bIns="0" rtlCol="0" anchor="ctr"/>
          <a:lstStyle/>
          <a:p>
            <a:pPr algn="l" indent="0" marL="0">
              <a:buNone/>
            </a:pPr>
            <a:r>
              <a:rPr lang="en-US" sz="750" b="1" dirty="0">
                <a:solidFill>
                  <a:srgbClr val="FFFFFF"/>
                </a:solidFill>
                <a:latin typeface="Poppins" pitchFamily="34" charset="0"/>
                <a:ea typeface="Poppins" pitchFamily="34" charset="-122"/>
                <a:cs typeface="Poppins" pitchFamily="34" charset="-120"/>
              </a:rPr>
              <a:t>speed +15 / +30 / +60 min</a:t>
            </a:r>
            <a:endParaRPr lang="en-US" sz="750" dirty="0"/>
          </a:p>
        </p:txBody>
      </p:sp>
      <p:sp>
        <p:nvSpPr>
          <p:cNvPr id="116" name="Text 114"/>
          <p:cNvSpPr txBox="1"/>
          <p:nvPr/>
        </p:nvSpPr>
        <p:spPr>
          <a:xfrm>
            <a:off x="6720840" y="4928616"/>
            <a:ext cx="3017520" cy="365760"/>
          </a:xfrm>
          <a:prstGeom prst="rect">
            <a:avLst/>
          </a:prstGeom>
          <a:noFill/>
          <a:ln/>
        </p:spPr>
        <p:txBody>
          <a:bodyPr wrap="square" lIns="0" tIns="0" rIns="0" bIns="0" rtlCol="0" anchor="ctr"/>
          <a:lstStyle/>
          <a:p>
            <a:pPr algn="l" indent="0" marL="0">
              <a:buNone/>
            </a:pPr>
            <a:r>
              <a:rPr lang="en-US" sz="850" dirty="0">
                <a:solidFill>
                  <a:srgbClr val="FFFFFF"/>
                </a:solidFill>
                <a:latin typeface="Poppins" pitchFamily="34" charset="0"/>
                <a:ea typeface="Poppins" pitchFamily="34" charset="-122"/>
                <a:cs typeface="Poppins" pitchFamily="34" charset="-120"/>
              </a:rPr>
              <a:t>the answers we predict</a:t>
            </a:r>
            <a:endParaRPr lang="en-US" sz="850" dirty="0"/>
          </a:p>
        </p:txBody>
      </p:sp>
      <p:sp>
        <p:nvSpPr>
          <p:cNvPr id="117" name="Text 115"/>
          <p:cNvSpPr txBox="1"/>
          <p:nvPr/>
        </p:nvSpPr>
        <p:spPr>
          <a:xfrm>
            <a:off x="9738360" y="4928616"/>
            <a:ext cx="50292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3</a:t>
            </a:r>
            <a:endParaRPr lang="en-US" sz="850" dirty="0"/>
          </a:p>
        </p:txBody>
      </p:sp>
      <p:sp>
        <p:nvSpPr>
          <p:cNvPr id="118" name="Text 116"/>
          <p:cNvSpPr txBox="1"/>
          <p:nvPr/>
        </p:nvSpPr>
        <p:spPr>
          <a:xfrm>
            <a:off x="10241280" y="4928616"/>
            <a:ext cx="54864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a:t>
            </a:r>
            <a:endParaRPr lang="en-US" sz="850" dirty="0"/>
          </a:p>
        </p:txBody>
      </p:sp>
      <p:sp>
        <p:nvSpPr>
          <p:cNvPr id="119" name="Text 117"/>
          <p:cNvSpPr txBox="1"/>
          <p:nvPr/>
        </p:nvSpPr>
        <p:spPr>
          <a:xfrm>
            <a:off x="10789920" y="4928616"/>
            <a:ext cx="594360" cy="365760"/>
          </a:xfrm>
          <a:prstGeom prst="rect">
            <a:avLst/>
          </a:prstGeom>
          <a:noFill/>
          <a:ln/>
        </p:spPr>
        <p:txBody>
          <a:bodyPr wrap="square" lIns="0" tIns="0" rIns="0" bIns="0" rtlCol="0" anchor="ctr"/>
          <a:lstStyle/>
          <a:p>
            <a:pPr algn="r" indent="0" marL="0">
              <a:buNone/>
            </a:pPr>
            <a:r>
              <a:rPr lang="en-US" sz="850" dirty="0">
                <a:solidFill>
                  <a:srgbClr val="FFFFFF"/>
                </a:solidFill>
                <a:latin typeface="Poppins" pitchFamily="34" charset="0"/>
                <a:ea typeface="Poppins" pitchFamily="34" charset="-122"/>
                <a:cs typeface="Poppins" pitchFamily="34" charset="-120"/>
              </a:rPr>
              <a:t>—</a:t>
            </a:r>
            <a:endParaRPr lang="en-US" sz="850" dirty="0"/>
          </a:p>
        </p:txBody>
      </p:sp>
      <p:sp>
        <p:nvSpPr>
          <p:cNvPr id="120" name="Text 118"/>
          <p:cNvSpPr txBox="1"/>
          <p:nvPr/>
        </p:nvSpPr>
        <p:spPr>
          <a:xfrm>
            <a:off x="4389120" y="5486400"/>
            <a:ext cx="6995160" cy="548640"/>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Importance = share of XGBoost's split gain, averaged over all 207 sensors and 3 horizons. L = local models, S = spatial models. Neighbour weights follow the road graph: nearer neighbours count more (Gaussian kernel on road distance, as in DCRNN).</a:t>
            </a:r>
            <a:endParaRPr lang="en-US" sz="800" dirty="0"/>
          </a:p>
        </p:txBody>
      </p:sp>
      <p:sp>
        <p:nvSpPr>
          <p:cNvPr id="121" name="Shape 119"/>
          <p:cNvSpPr/>
          <p:nvPr/>
        </p:nvSpPr>
        <p:spPr>
          <a:xfrm>
            <a:off x="11274552" y="5989320"/>
            <a:ext cx="365760" cy="365760"/>
          </a:xfrm>
          <a:prstGeom prst="ellipse">
            <a:avLst/>
          </a:prstGeom>
          <a:solidFill>
            <a:srgbClr val="1A1A1A"/>
          </a:solidFill>
          <a:ln w="12700">
            <a:solidFill>
              <a:srgbClr val="1A1A1A"/>
            </a:solidFill>
            <a:prstDash val="solid"/>
          </a:ln>
        </p:spPr>
      </p:sp>
      <p:sp>
        <p:nvSpPr>
          <p:cNvPr id="122" name="Text 120"/>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1A1A1A"/>
          </a:solidFill>
          <a:ln w="12700">
            <a:solidFill>
              <a:srgbClr val="1A1A1A"/>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headline"/>
          <p:cNvSpPr txBox="1"/>
          <p:nvPr/>
        </p:nvSpPr>
        <p:spPr>
          <a:xfrm>
            <a:off x="658368" y="1051560"/>
            <a:ext cx="3840480" cy="914400"/>
          </a:xfrm>
          <a:prstGeom prst="rect">
            <a:avLst/>
          </a:prstGeom>
          <a:noFill/>
          <a:ln/>
        </p:spPr>
        <p:txBody>
          <a:bodyPr wrap="square" lIns="0" tIns="0" rIns="0" bIns="0" rtlCol="0" anchor="t"/>
          <a:lstStyle/>
          <a:p>
            <a:pPr algn="l" indent="0" marL="0">
              <a:lnSpc>
                <a:spcPct val="86000"/>
              </a:lnSpc>
              <a:buNone/>
            </a:pPr>
            <a:r>
              <a:rPr lang="en-US" sz="5800" b="1" dirty="0">
                <a:solidFill>
                  <a:srgbClr val="1A1A1A"/>
                </a:solidFill>
                <a:latin typeface="Poppins" pitchFamily="34" charset="0"/>
                <a:ea typeface="Poppins" pitchFamily="34" charset="-122"/>
                <a:cs typeface="Poppins" pitchFamily="34" charset="-120"/>
              </a:rPr>
              <a:t>EDA</a:t>
            </a:r>
            <a:endParaRPr lang="en-US" sz="5800" dirty="0"/>
          </a:p>
        </p:txBody>
      </p:sp>
      <p:sp>
        <p:nvSpPr>
          <p:cNvPr id="15" name="Text 13"/>
          <p:cNvSpPr txBox="1"/>
          <p:nvPr/>
        </p:nvSpPr>
        <p:spPr>
          <a:xfrm>
            <a:off x="658368" y="1965960"/>
            <a:ext cx="3931920" cy="274320"/>
          </a:xfrm>
          <a:prstGeom prst="rect">
            <a:avLst/>
          </a:prstGeom>
          <a:noFill/>
          <a:ln/>
        </p:spPr>
        <p:txBody>
          <a:bodyPr wrap="square" lIns="0" tIns="0" rIns="0" bIns="0" rtlCol="0" anchor="t"/>
          <a:lstStyle/>
          <a:p>
            <a:pPr indent="0" marL="0">
              <a:buNone/>
            </a:pPr>
            <a:r>
              <a:rPr lang="en-US" sz="1050" dirty="0">
                <a:solidFill>
                  <a:srgbClr val="6B6B6B"/>
                </a:solidFill>
                <a:latin typeface="Poppins" pitchFamily="34" charset="0"/>
                <a:ea typeface="Poppins" pitchFamily="34" charset="-122"/>
                <a:cs typeface="Poppins" pitchFamily="34" charset="-120"/>
              </a:rPr>
              <a:t>Exploratory data analysis, all four months</a:t>
            </a:r>
            <a:endParaRPr lang="en-US" sz="1050" dirty="0"/>
          </a:p>
        </p:txBody>
      </p:sp>
      <p:sp>
        <p:nvSpPr>
          <p:cNvPr id="16" name="Text 14"/>
          <p:cNvSpPr txBox="1"/>
          <p:nvPr/>
        </p:nvSpPr>
        <p:spPr>
          <a:xfrm>
            <a:off x="658368" y="2423160"/>
            <a:ext cx="246888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AVERAGE VALUE</a:t>
            </a:r>
            <a:endParaRPr lang="en-US" sz="700" dirty="0"/>
          </a:p>
        </p:txBody>
      </p:sp>
      <p:sp>
        <p:nvSpPr>
          <p:cNvPr id="17" name="Text 15"/>
          <p:cNvSpPr txBox="1"/>
          <p:nvPr/>
        </p:nvSpPr>
        <p:spPr>
          <a:xfrm>
            <a:off x="3127248" y="2423160"/>
            <a:ext cx="77724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OFF-PEAK</a:t>
            </a:r>
            <a:endParaRPr lang="en-US" sz="700" dirty="0"/>
          </a:p>
        </p:txBody>
      </p:sp>
      <p:sp>
        <p:nvSpPr>
          <p:cNvPr id="18" name="Text 16"/>
          <p:cNvSpPr txBox="1"/>
          <p:nvPr/>
        </p:nvSpPr>
        <p:spPr>
          <a:xfrm>
            <a:off x="3904488" y="2423160"/>
            <a:ext cx="86868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RUSH HOUR</a:t>
            </a:r>
            <a:endParaRPr lang="en-US" sz="700" dirty="0"/>
          </a:p>
        </p:txBody>
      </p:sp>
      <p:sp>
        <p:nvSpPr>
          <p:cNvPr id="19" name="Shape 17"/>
          <p:cNvSpPr/>
          <p:nvPr/>
        </p:nvSpPr>
        <p:spPr>
          <a:xfrm>
            <a:off x="658368" y="2660904"/>
            <a:ext cx="4114800" cy="0"/>
          </a:xfrm>
          <a:prstGeom prst="line">
            <a:avLst/>
          </a:prstGeom>
          <a:noFill/>
          <a:ln w="9525">
            <a:solidFill>
              <a:srgbClr val="D9D9D9"/>
            </a:solidFill>
            <a:prstDash val="solid"/>
          </a:ln>
        </p:spPr>
      </p:sp>
      <p:sp>
        <p:nvSpPr>
          <p:cNvPr id="20" name="Text 18"/>
          <p:cNvSpPr txBox="1"/>
          <p:nvPr/>
        </p:nvSpPr>
        <p:spPr>
          <a:xfrm>
            <a:off x="658368" y="2688336"/>
            <a:ext cx="2468880" cy="365760"/>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Mean speed (mph)</a:t>
            </a:r>
            <a:endParaRPr lang="en-US" sz="1000" dirty="0"/>
          </a:p>
        </p:txBody>
      </p:sp>
      <p:sp>
        <p:nvSpPr>
          <p:cNvPr id="21" name="Text 19"/>
          <p:cNvSpPr txBox="1"/>
          <p:nvPr/>
        </p:nvSpPr>
        <p:spPr>
          <a:xfrm>
            <a:off x="3127248" y="2688336"/>
            <a:ext cx="77724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59.6</a:t>
            </a:r>
            <a:endParaRPr lang="en-US" sz="1000" dirty="0"/>
          </a:p>
        </p:txBody>
      </p:sp>
      <p:sp>
        <p:nvSpPr>
          <p:cNvPr id="22" name="Text 20"/>
          <p:cNvSpPr txBox="1"/>
          <p:nvPr/>
        </p:nvSpPr>
        <p:spPr>
          <a:xfrm>
            <a:off x="3904488" y="2688336"/>
            <a:ext cx="86868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50.1</a:t>
            </a:r>
            <a:endParaRPr lang="en-US" sz="1000" dirty="0"/>
          </a:p>
        </p:txBody>
      </p:sp>
      <p:sp>
        <p:nvSpPr>
          <p:cNvPr id="23" name="Shape 21"/>
          <p:cNvSpPr/>
          <p:nvPr/>
        </p:nvSpPr>
        <p:spPr>
          <a:xfrm>
            <a:off x="658368" y="3054096"/>
            <a:ext cx="4114800" cy="0"/>
          </a:xfrm>
          <a:prstGeom prst="line">
            <a:avLst/>
          </a:prstGeom>
          <a:noFill/>
          <a:ln w="6350">
            <a:solidFill>
              <a:srgbClr val="D9D9D9"/>
            </a:solidFill>
            <a:prstDash val="solid"/>
          </a:ln>
        </p:spPr>
      </p:sp>
      <p:sp>
        <p:nvSpPr>
          <p:cNvPr id="24" name="Text 22"/>
          <p:cNvSpPr txBox="1"/>
          <p:nvPr/>
        </p:nvSpPr>
        <p:spPr>
          <a:xfrm>
            <a:off x="658368" y="3054096"/>
            <a:ext cx="2468880" cy="365760"/>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Spread of speeds, std (mph)</a:t>
            </a:r>
            <a:endParaRPr lang="en-US" sz="1000" dirty="0"/>
          </a:p>
        </p:txBody>
      </p:sp>
      <p:sp>
        <p:nvSpPr>
          <p:cNvPr id="25" name="Text 23"/>
          <p:cNvSpPr txBox="1"/>
          <p:nvPr/>
        </p:nvSpPr>
        <p:spPr>
          <a:xfrm>
            <a:off x="3127248" y="3054096"/>
            <a:ext cx="77724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10.6</a:t>
            </a:r>
            <a:endParaRPr lang="en-US" sz="1000" dirty="0"/>
          </a:p>
        </p:txBody>
      </p:sp>
      <p:sp>
        <p:nvSpPr>
          <p:cNvPr id="26" name="Text 24"/>
          <p:cNvSpPr txBox="1"/>
          <p:nvPr/>
        </p:nvSpPr>
        <p:spPr>
          <a:xfrm>
            <a:off x="3904488" y="3054096"/>
            <a:ext cx="86868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18.5</a:t>
            </a:r>
            <a:endParaRPr lang="en-US" sz="1000" dirty="0"/>
          </a:p>
        </p:txBody>
      </p:sp>
      <p:sp>
        <p:nvSpPr>
          <p:cNvPr id="27" name="Shape 25"/>
          <p:cNvSpPr/>
          <p:nvPr/>
        </p:nvSpPr>
        <p:spPr>
          <a:xfrm>
            <a:off x="658368" y="3419856"/>
            <a:ext cx="4114800" cy="0"/>
          </a:xfrm>
          <a:prstGeom prst="line">
            <a:avLst/>
          </a:prstGeom>
          <a:noFill/>
          <a:ln w="6350">
            <a:solidFill>
              <a:srgbClr val="D9D9D9"/>
            </a:solidFill>
            <a:prstDash val="solid"/>
          </a:ln>
        </p:spPr>
      </p:sp>
      <p:sp>
        <p:nvSpPr>
          <p:cNvPr id="28" name="Text 26"/>
          <p:cNvSpPr txBox="1"/>
          <p:nvPr/>
        </p:nvSpPr>
        <p:spPr>
          <a:xfrm>
            <a:off x="658368" y="3419856"/>
            <a:ext cx="2468880" cy="365760"/>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Readings below 35 mph</a:t>
            </a:r>
            <a:endParaRPr lang="en-US" sz="1000" dirty="0"/>
          </a:p>
        </p:txBody>
      </p:sp>
      <p:sp>
        <p:nvSpPr>
          <p:cNvPr id="29" name="Text 27"/>
          <p:cNvSpPr txBox="1"/>
          <p:nvPr/>
        </p:nvSpPr>
        <p:spPr>
          <a:xfrm>
            <a:off x="3127248" y="3419856"/>
            <a:ext cx="77724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5.2%</a:t>
            </a:r>
            <a:endParaRPr lang="en-US" sz="1000" dirty="0"/>
          </a:p>
        </p:txBody>
      </p:sp>
      <p:sp>
        <p:nvSpPr>
          <p:cNvPr id="30" name="Text 28"/>
          <p:cNvSpPr txBox="1"/>
          <p:nvPr/>
        </p:nvSpPr>
        <p:spPr>
          <a:xfrm>
            <a:off x="3904488" y="3419856"/>
            <a:ext cx="868680" cy="365760"/>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26.5%</a:t>
            </a:r>
            <a:endParaRPr lang="en-US" sz="1000" dirty="0"/>
          </a:p>
        </p:txBody>
      </p:sp>
      <p:sp>
        <p:nvSpPr>
          <p:cNvPr id="31" name="Shape 29"/>
          <p:cNvSpPr/>
          <p:nvPr/>
        </p:nvSpPr>
        <p:spPr>
          <a:xfrm>
            <a:off x="658368" y="3785616"/>
            <a:ext cx="4114800" cy="0"/>
          </a:xfrm>
          <a:prstGeom prst="line">
            <a:avLst/>
          </a:prstGeom>
          <a:noFill/>
          <a:ln w="6350">
            <a:solidFill>
              <a:srgbClr val="D9D9D9"/>
            </a:solidFill>
            <a:prstDash val="solid"/>
          </a:ln>
        </p:spPr>
      </p:sp>
      <p:sp>
        <p:nvSpPr>
          <p:cNvPr id="32" name="Text 30"/>
          <p:cNvSpPr txBox="1"/>
          <p:nvPr/>
        </p:nvSpPr>
        <p:spPr>
          <a:xfrm>
            <a:off x="658368" y="3785616"/>
            <a:ext cx="2468880" cy="365760"/>
          </a:xfrm>
          <a:prstGeom prst="rect">
            <a:avLst/>
          </a:prstGeom>
          <a:noFill/>
          <a:ln/>
        </p:spPr>
        <p:txBody>
          <a:bodyPr wrap="square" lIns="0" tIns="0" rIns="0" bIns="0" rtlCol="0" anchor="ctr"/>
          <a:lstStyle/>
          <a:p>
            <a:pPr algn="l" indent="0" marL="0">
              <a:buNone/>
            </a:pPr>
            <a:r>
              <a:rPr lang="en-US" sz="1000" b="1" dirty="0">
                <a:solidFill>
                  <a:srgbClr val="1A1A1A"/>
                </a:solidFill>
                <a:latin typeface="Poppins" pitchFamily="34" charset="0"/>
                <a:ea typeface="Poppins" pitchFamily="34" charset="-122"/>
                <a:cs typeface="Poppins" pitchFamily="34" charset="-120"/>
              </a:rPr>
              <a:t>Sensors jammed at 17:00, weekdays</a:t>
            </a:r>
            <a:endParaRPr lang="en-US" sz="1000" dirty="0"/>
          </a:p>
        </p:txBody>
      </p:sp>
      <p:sp>
        <p:nvSpPr>
          <p:cNvPr id="33" name="Text 31"/>
          <p:cNvSpPr txBox="1"/>
          <p:nvPr/>
        </p:nvSpPr>
        <p:spPr>
          <a:xfrm>
            <a:off x="3127248" y="3785616"/>
            <a:ext cx="777240" cy="365760"/>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a:t>
            </a:r>
            <a:endParaRPr lang="en-US" sz="1000" dirty="0"/>
          </a:p>
        </p:txBody>
      </p:sp>
      <p:sp>
        <p:nvSpPr>
          <p:cNvPr id="34" name="Text 32"/>
          <p:cNvSpPr txBox="1"/>
          <p:nvPr/>
        </p:nvSpPr>
        <p:spPr>
          <a:xfrm>
            <a:off x="3904488" y="3785616"/>
            <a:ext cx="868680" cy="365760"/>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35%</a:t>
            </a:r>
            <a:endParaRPr lang="en-US" sz="1000" dirty="0"/>
          </a:p>
        </p:txBody>
      </p:sp>
      <p:sp>
        <p:nvSpPr>
          <p:cNvPr id="35" name="Shape 33"/>
          <p:cNvSpPr/>
          <p:nvPr/>
        </p:nvSpPr>
        <p:spPr>
          <a:xfrm>
            <a:off x="658368" y="4151376"/>
            <a:ext cx="4114800" cy="0"/>
          </a:xfrm>
          <a:prstGeom prst="line">
            <a:avLst/>
          </a:prstGeom>
          <a:noFill/>
          <a:ln w="6350">
            <a:solidFill>
              <a:srgbClr val="D9D9D9"/>
            </a:solidFill>
            <a:prstDash val="solid"/>
          </a:ln>
        </p:spPr>
      </p:sp>
      <p:sp>
        <p:nvSpPr>
          <p:cNvPr id="36" name="Text 34"/>
          <p:cNvSpPr txBox="1"/>
          <p:nvPr/>
        </p:nvSpPr>
        <p:spPr>
          <a:xfrm>
            <a:off x="658368" y="4379976"/>
            <a:ext cx="4023360" cy="1005840"/>
          </a:xfrm>
          <a:prstGeom prst="rect">
            <a:avLst/>
          </a:prstGeom>
          <a:noFill/>
          <a:ln/>
        </p:spPr>
        <p:txBody>
          <a:bodyPr wrap="square" lIns="0" tIns="0" rIns="0" bIns="0" rtlCol="0" anchor="t"/>
          <a:lstStyle/>
          <a:p>
            <a:pPr indent="0" marL="0">
              <a:buNone/>
            </a:pPr>
            <a:r>
              <a:rPr lang="en-US" sz="900" dirty="0">
                <a:solidFill>
                  <a:srgbClr val="6B6B6B"/>
                </a:solidFill>
                <a:latin typeface="Poppins" pitchFamily="34" charset="0"/>
                <a:ea typeface="Poppins" pitchFamily="34" charset="-122"/>
                <a:cs typeface="Poppins" pitchFamily="34" charset="-120"/>
              </a:rPr>
              <a:t>Rush hour = weekdays 07–10 and 16–19. Weekends look like off-peak all day (mean 61.7 mph). The same pattern repeats every week, so "the usual speed at this time of week" becomes an input, and the models are scored in rush hour and off-peak separately.</a:t>
            </a:r>
            <a:endParaRPr lang="en-US" sz="900" dirty="0"/>
          </a:p>
        </p:txBody>
      </p:sp>
      <p:sp>
        <p:nvSpPr>
          <p:cNvPr id="37" name="Shape 35"/>
          <p:cNvSpPr/>
          <p:nvPr/>
        </p:nvSpPr>
        <p:spPr>
          <a:xfrm>
            <a:off x="4937760" y="1097280"/>
            <a:ext cx="6675120" cy="4023360"/>
          </a:xfrm>
          <a:prstGeom prst="roundRect">
            <a:avLst>
              <a:gd name="adj" fmla="val 6364"/>
            </a:avLst>
          </a:prstGeom>
          <a:solidFill>
            <a:srgbClr val="1A1A1A"/>
          </a:solidFill>
          <a:ln w="12700">
            <a:solidFill>
              <a:srgbClr val="1A1A1A"/>
            </a:solidFill>
            <a:prstDash val="solid"/>
          </a:ln>
        </p:spPr>
      </p:sp>
      <p:sp>
        <p:nvSpPr>
          <p:cNvPr id="38" name="Text 36"/>
          <p:cNvSpPr txBox="1"/>
          <p:nvPr/>
        </p:nvSpPr>
        <p:spPr>
          <a:xfrm>
            <a:off x="5212080" y="1353312"/>
            <a:ext cx="6126480" cy="201168"/>
          </a:xfrm>
          <a:prstGeom prst="rect">
            <a:avLst/>
          </a:prstGeom>
          <a:noFill/>
          <a:ln/>
        </p:spPr>
        <p:txBody>
          <a:bodyPr wrap="square" lIns="0" tIns="0" rIns="0" bIns="0" rtlCol="0" anchor="t"/>
          <a:lstStyle/>
          <a:p>
            <a:pPr indent="0" marL="0">
              <a:buNone/>
            </a:pPr>
            <a:r>
              <a:rPr lang="en-US" sz="750" b="1" spc="160" kern="0" dirty="0">
                <a:solidFill>
                  <a:srgbClr val="FFFFFF"/>
                </a:solidFill>
                <a:latin typeface="Poppins" pitchFamily="34" charset="0"/>
                <a:ea typeface="Poppins" pitchFamily="34" charset="-122"/>
                <a:cs typeface="Poppins" pitchFamily="34" charset="-120"/>
              </a:rPr>
              <a:t>AVERAGE SPEED BY TIME OF DAY · ALL FOUR MONTHS</a:t>
            </a:r>
            <a:endParaRPr lang="en-US" sz="750" dirty="0"/>
          </a:p>
        </p:txBody>
      </p:sp>
      <p:pic>
        <p:nvPicPr>
          <p:cNvPr id="39" name="daily profile" descr="/tmp/claude-0/-home-claude/da092323-5f3d-56db-8152-6e606916a9e5/scratchpad/deck2/assets/daily_profile_dark.png">    </p:cNvPr>
          <p:cNvPicPr>
            <a:picLocks noChangeAspect="1"/>
          </p:cNvPicPr>
          <p:nvPr/>
        </p:nvPicPr>
        <p:blipFill>
          <a:blip r:embed="rId1"/>
          <a:stretch>
            <a:fillRect/>
          </a:stretch>
        </p:blipFill>
        <p:spPr>
          <a:xfrm>
            <a:off x="5029200" y="1481328"/>
            <a:ext cx="4846320" cy="2578608"/>
          </a:xfrm>
          <a:prstGeom prst="rect">
            <a:avLst/>
          </a:prstGeom>
        </p:spPr>
      </p:pic>
      <p:sp>
        <p:nvSpPr>
          <p:cNvPr id="40" name="Text 37"/>
          <p:cNvSpPr txBox="1"/>
          <p:nvPr/>
        </p:nvSpPr>
        <p:spPr>
          <a:xfrm>
            <a:off x="10012680" y="1554480"/>
            <a:ext cx="1463040" cy="822960"/>
          </a:xfrm>
          <a:prstGeom prst="rect">
            <a:avLst/>
          </a:prstGeom>
          <a:noFill/>
          <a:ln/>
        </p:spPr>
        <p:txBody>
          <a:bodyPr wrap="square" lIns="0" tIns="0" rIns="0" bIns="0" rtlCol="0" anchor="t"/>
          <a:lstStyle/>
          <a:p>
            <a:pPr indent="0" marL="0">
              <a:buNone/>
            </a:pPr>
            <a:r>
              <a:rPr lang="en-US" sz="850" b="1" dirty="0">
                <a:solidFill>
                  <a:srgbClr val="FFFFFF"/>
                </a:solidFill>
                <a:latin typeface="Poppins" pitchFamily="34" charset="0"/>
                <a:ea typeface="Poppins" pitchFamily="34" charset="-122"/>
                <a:cs typeface="Poppins" pitchFamily="34" charset="-120"/>
              </a:rPr>
              <a:t>35%</a:t>
            </a:r>
            <a:pPr indent="0" marL="0">
              <a:buNone/>
            </a:pPr>
            <a:r>
              <a:rPr lang="en-US" sz="850" dirty="0">
                <a:solidFill>
                  <a:srgbClr val="A3A3A3"/>
                </a:solidFill>
                <a:latin typeface="Poppins" pitchFamily="34" charset="0"/>
                <a:ea typeface="Poppins" pitchFamily="34" charset="-122"/>
                <a:cs typeface="Poppins" pitchFamily="34" charset="-120"/>
              </a:rPr>
              <a:t> of sensors are jammed at 17:00 on a weekday; about 24% at 08:00, under 1% at 03:00</a:t>
            </a:r>
            <a:endParaRPr lang="en-US" sz="850" dirty="0"/>
          </a:p>
        </p:txBody>
      </p:sp>
      <p:sp>
        <p:nvSpPr>
          <p:cNvPr id="41" name="Text 38"/>
          <p:cNvSpPr txBox="1"/>
          <p:nvPr/>
        </p:nvSpPr>
        <p:spPr>
          <a:xfrm>
            <a:off x="10012680" y="2423160"/>
            <a:ext cx="1463040" cy="822960"/>
          </a:xfrm>
          <a:prstGeom prst="rect">
            <a:avLst/>
          </a:prstGeom>
          <a:noFill/>
          <a:ln/>
        </p:spPr>
        <p:txBody>
          <a:bodyPr wrap="square" lIns="0" tIns="0" rIns="0" bIns="0" rtlCol="0" anchor="t"/>
          <a:lstStyle/>
          <a:p>
            <a:pPr indent="0" marL="0">
              <a:buNone/>
            </a:pPr>
            <a:r>
              <a:rPr lang="en-US" sz="850" b="1" dirty="0">
                <a:solidFill>
                  <a:srgbClr val="FFFFFF"/>
                </a:solidFill>
                <a:latin typeface="Poppins" pitchFamily="34" charset="0"/>
                <a:ea typeface="Poppins" pitchFamily="34" charset="-122"/>
                <a:cs typeface="Poppins" pitchFamily="34" charset="-120"/>
              </a:rPr>
              <a:t>.84</a:t>
            </a:r>
            <a:pPr indent="0" marL="0">
              <a:buNone/>
            </a:pPr>
            <a:r>
              <a:rPr lang="en-US" sz="850" dirty="0">
                <a:solidFill>
                  <a:srgbClr val="A3A3A3"/>
                </a:solidFill>
                <a:latin typeface="Poppins" pitchFamily="34" charset="0"/>
                <a:ea typeface="Poppins" pitchFamily="34" charset="-122"/>
                <a:cs typeface="Poppins" pitchFamily="34" charset="-120"/>
              </a:rPr>
              <a:t> correlation of a sensor's speed with its own speed one hour earlier → the last hour is a strong input</a:t>
            </a:r>
            <a:endParaRPr lang="en-US" sz="850" dirty="0"/>
          </a:p>
        </p:txBody>
      </p:sp>
      <p:sp>
        <p:nvSpPr>
          <p:cNvPr id="42" name="Text 39"/>
          <p:cNvSpPr txBox="1"/>
          <p:nvPr/>
        </p:nvSpPr>
        <p:spPr>
          <a:xfrm>
            <a:off x="10012680" y="3291840"/>
            <a:ext cx="1463040" cy="822960"/>
          </a:xfrm>
          <a:prstGeom prst="rect">
            <a:avLst/>
          </a:prstGeom>
          <a:noFill/>
          <a:ln/>
        </p:spPr>
        <p:txBody>
          <a:bodyPr wrap="square" lIns="0" tIns="0" rIns="0" bIns="0" rtlCol="0" anchor="t"/>
          <a:lstStyle/>
          <a:p>
            <a:pPr indent="0" marL="0">
              <a:buNone/>
            </a:pPr>
            <a:r>
              <a:rPr lang="en-US" sz="850" b="1" dirty="0">
                <a:solidFill>
                  <a:srgbClr val="FFFFFF"/>
                </a:solidFill>
                <a:latin typeface="Poppins" pitchFamily="34" charset="0"/>
                <a:ea typeface="Poppins" pitchFamily="34" charset="-122"/>
                <a:cs typeface="Poppins" pitchFamily="34" charset="-120"/>
              </a:rPr>
              <a:t>.64</a:t>
            </a:r>
            <a:pPr indent="0" marL="0">
              <a:buNone/>
            </a:pPr>
            <a:r>
              <a:rPr lang="en-US" sz="850" dirty="0">
                <a:solidFill>
                  <a:srgbClr val="A3A3A3"/>
                </a:solidFill>
                <a:latin typeface="Poppins" pitchFamily="34" charset="0"/>
                <a:ea typeface="Poppins" pitchFamily="34" charset="-122"/>
                <a:cs typeface="Poppins" pitchFamily="34" charset="-120"/>
              </a:rPr>
              <a:t> with 24 hours earlier → a daily cycle worth a feature</a:t>
            </a:r>
            <a:endParaRPr lang="en-US" sz="850" dirty="0"/>
          </a:p>
        </p:txBody>
      </p:sp>
      <p:sp>
        <p:nvSpPr>
          <p:cNvPr id="43" name="Text 40"/>
          <p:cNvSpPr txBox="1"/>
          <p:nvPr/>
        </p:nvSpPr>
        <p:spPr>
          <a:xfrm>
            <a:off x="5212080" y="4343400"/>
            <a:ext cx="6126480" cy="548640"/>
          </a:xfrm>
          <a:prstGeom prst="rect">
            <a:avLst/>
          </a:prstGeom>
          <a:noFill/>
          <a:ln/>
        </p:spPr>
        <p:txBody>
          <a:bodyPr wrap="square" lIns="0" tIns="0" rIns="0" bIns="0" rtlCol="0" anchor="t"/>
          <a:lstStyle/>
          <a:p>
            <a:pPr indent="0" marL="0">
              <a:buNone/>
            </a:pPr>
            <a:r>
              <a:rPr lang="en-US" sz="850" dirty="0">
                <a:solidFill>
                  <a:srgbClr val="A3A3A3"/>
                </a:solidFill>
                <a:latin typeface="Poppins" pitchFamily="34" charset="0"/>
                <a:ea typeface="Poppins" pitchFamily="34" charset="-122"/>
                <a:cs typeface="Poppins" pitchFamily="34" charset="-120"/>
              </a:rPr>
              <a:t>Two slow periods on weekdays, the evening one deeper; weekends flat. The shaded bands are the rush-hour windows used in the evaluation.</a:t>
            </a:r>
            <a:endParaRPr lang="en-US" sz="850" dirty="0"/>
          </a:p>
        </p:txBody>
      </p:sp>
      <p:sp>
        <p:nvSpPr>
          <p:cNvPr id="44" name="Shape 41"/>
          <p:cNvSpPr/>
          <p:nvPr/>
        </p:nvSpPr>
        <p:spPr>
          <a:xfrm>
            <a:off x="11274552" y="5989320"/>
            <a:ext cx="365760" cy="365760"/>
          </a:xfrm>
          <a:prstGeom prst="ellipse">
            <a:avLst/>
          </a:prstGeom>
          <a:solidFill>
            <a:srgbClr val="1A1A1A"/>
          </a:solidFill>
          <a:ln w="12700">
            <a:solidFill>
              <a:srgbClr val="1A1A1A"/>
            </a:solidFill>
            <a:prstDash val="solid"/>
          </a:ln>
        </p:spPr>
      </p:sp>
      <p:sp>
        <p:nvSpPr>
          <p:cNvPr id="45" name="Text 42"/>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1A1A1A"/>
          </a:solidFill>
          <a:ln w="12700">
            <a:solidFill>
              <a:srgbClr val="1A1A1A"/>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Shape 12"/>
          <p:cNvSpPr/>
          <p:nvPr/>
        </p:nvSpPr>
        <p:spPr>
          <a:xfrm>
            <a:off x="658368" y="1097280"/>
            <a:ext cx="4572000" cy="4480560"/>
          </a:xfrm>
          <a:prstGeom prst="roundRect">
            <a:avLst>
              <a:gd name="adj" fmla="val 5714"/>
            </a:avLst>
          </a:prstGeom>
          <a:solidFill>
            <a:srgbClr val="1A1A1A"/>
          </a:solidFill>
          <a:ln w="12700">
            <a:solidFill>
              <a:srgbClr val="1A1A1A"/>
            </a:solidFill>
            <a:prstDash val="solid"/>
          </a:ln>
        </p:spPr>
      </p:sp>
      <p:pic>
        <p:nvPicPr>
          <p:cNvPr id="15" name="spatial correlation" descr="/tmp/claude-0/-home-claude/da092323-5f3d-56db-8152-6e606916a9e5/scratchpad/deck2/assets/spatial_corr_dark.png">    </p:cNvPr>
          <p:cNvPicPr>
            <a:picLocks noChangeAspect="1"/>
          </p:cNvPicPr>
          <p:nvPr/>
        </p:nvPicPr>
        <p:blipFill>
          <a:blip r:embed="rId1"/>
          <a:stretch>
            <a:fillRect/>
          </a:stretch>
        </p:blipFill>
        <p:spPr>
          <a:xfrm>
            <a:off x="749808" y="1188720"/>
            <a:ext cx="4389120" cy="3255264"/>
          </a:xfrm>
          <a:prstGeom prst="rect">
            <a:avLst/>
          </a:prstGeom>
        </p:spPr>
      </p:pic>
      <p:sp>
        <p:nvSpPr>
          <p:cNvPr id="16" name="Text 13"/>
          <p:cNvSpPr txBox="1"/>
          <p:nvPr/>
        </p:nvSpPr>
        <p:spPr>
          <a:xfrm>
            <a:off x="914400" y="4572000"/>
            <a:ext cx="4206240" cy="201168"/>
          </a:xfrm>
          <a:prstGeom prst="rect">
            <a:avLst/>
          </a:prstGeom>
          <a:noFill/>
          <a:ln/>
        </p:spPr>
        <p:txBody>
          <a:bodyPr wrap="square" lIns="0" tIns="0" rIns="0" bIns="0" rtlCol="0" anchor="t"/>
          <a:lstStyle/>
          <a:p>
            <a:pPr indent="0" marL="0">
              <a:buNone/>
            </a:pPr>
            <a:r>
              <a:rPr lang="en-US" sz="650" b="1" spc="160" kern="0" dirty="0">
                <a:solidFill>
                  <a:srgbClr val="FFFFFF"/>
                </a:solidFill>
                <a:latin typeface="Poppins" pitchFamily="34" charset="0"/>
                <a:ea typeface="Poppins" pitchFamily="34" charset="-122"/>
                <a:cs typeface="Poppins" pitchFamily="34" charset="-120"/>
              </a:rPr>
              <a:t>CORRELATION OF TWO SENSORS' SPEEDS VS THEIR ROAD DISTANCE</a:t>
            </a:r>
            <a:endParaRPr lang="en-US" sz="650" dirty="0"/>
          </a:p>
        </p:txBody>
      </p:sp>
      <p:sp>
        <p:nvSpPr>
          <p:cNvPr id="17" name="Shape 14"/>
          <p:cNvSpPr/>
          <p:nvPr/>
        </p:nvSpPr>
        <p:spPr>
          <a:xfrm>
            <a:off x="914400" y="4983480"/>
            <a:ext cx="1371600" cy="256032"/>
          </a:xfrm>
          <a:prstGeom prst="roundRect">
            <a:avLst>
              <a:gd name="adj" fmla="val 50000"/>
            </a:avLst>
          </a:prstGeom>
          <a:solidFill>
            <a:srgbClr val="FFFFFF"/>
          </a:solidFill>
          <a:ln w="12700">
            <a:solidFill>
              <a:srgbClr val="FFFFFF"/>
            </a:solidFill>
            <a:prstDash val="solid"/>
          </a:ln>
        </p:spPr>
      </p:sp>
      <p:sp>
        <p:nvSpPr>
          <p:cNvPr id="18" name="Text 15"/>
          <p:cNvSpPr txBox="1"/>
          <p:nvPr/>
        </p:nvSpPr>
        <p:spPr>
          <a:xfrm>
            <a:off x="914400" y="4983480"/>
            <a:ext cx="1371600" cy="256032"/>
          </a:xfrm>
          <a:prstGeom prst="rect">
            <a:avLst/>
          </a:prstGeom>
          <a:noFill/>
          <a:ln/>
        </p:spPr>
        <p:txBody>
          <a:bodyPr wrap="square" lIns="0" tIns="0" rIns="0" bIns="0" rtlCol="0" anchor="ctr"/>
          <a:lstStyle/>
          <a:p>
            <a:pPr algn="ctr" indent="0" marL="0">
              <a:buNone/>
            </a:pPr>
            <a:r>
              <a:rPr lang="en-US" sz="750" b="1" dirty="0">
                <a:solidFill>
                  <a:srgbClr val="1A1A1A"/>
                </a:solidFill>
                <a:latin typeface="Poppins" pitchFamily="34" charset="0"/>
                <a:ea typeface="Poppins" pitchFamily="34" charset="-122"/>
                <a:cs typeface="Poppins" pitchFamily="34" charset="-120"/>
              </a:rPr>
              <a:t>20,000 sensor pairs</a:t>
            </a:r>
            <a:endParaRPr lang="en-US" sz="750" dirty="0"/>
          </a:p>
        </p:txBody>
      </p:sp>
      <p:sp>
        <p:nvSpPr>
          <p:cNvPr id="19" name="Shape 16"/>
          <p:cNvSpPr/>
          <p:nvPr/>
        </p:nvSpPr>
        <p:spPr>
          <a:xfrm>
            <a:off x="2377440" y="4983480"/>
            <a:ext cx="1600200" cy="256032"/>
          </a:xfrm>
          <a:prstGeom prst="roundRect">
            <a:avLst>
              <a:gd name="adj" fmla="val 50000"/>
            </a:avLst>
          </a:prstGeom>
          <a:solidFill>
            <a:srgbClr val="FFFFFF"/>
          </a:solidFill>
          <a:ln w="12700">
            <a:solidFill>
              <a:srgbClr val="FFFFFF"/>
            </a:solidFill>
            <a:prstDash val="solid"/>
          </a:ln>
        </p:spPr>
      </p:sp>
      <p:sp>
        <p:nvSpPr>
          <p:cNvPr id="20" name="Text 17"/>
          <p:cNvSpPr txBox="1"/>
          <p:nvPr/>
        </p:nvSpPr>
        <p:spPr>
          <a:xfrm>
            <a:off x="2377440" y="4983480"/>
            <a:ext cx="1600200" cy="256032"/>
          </a:xfrm>
          <a:prstGeom prst="rect">
            <a:avLst/>
          </a:prstGeom>
          <a:noFill/>
          <a:ln/>
        </p:spPr>
        <p:txBody>
          <a:bodyPr wrap="square" lIns="0" tIns="0" rIns="0" bIns="0" rtlCol="0" anchor="ctr"/>
          <a:lstStyle/>
          <a:p>
            <a:pPr algn="ctr" indent="0" marL="0">
              <a:buNone/>
            </a:pPr>
            <a:r>
              <a:rPr lang="en-US" sz="750" b="1" dirty="0">
                <a:solidFill>
                  <a:srgbClr val="1A1A1A"/>
                </a:solidFill>
                <a:latin typeface="Poppins" pitchFamily="34" charset="0"/>
                <a:ea typeface="Poppins" pitchFamily="34" charset="-122"/>
                <a:cs typeface="Poppins" pitchFamily="34" charset="-120"/>
              </a:rPr>
              <a:t>white line = median per km</a:t>
            </a:r>
            <a:endParaRPr lang="en-US" sz="750" dirty="0"/>
          </a:p>
        </p:txBody>
      </p:sp>
      <p:sp>
        <p:nvSpPr>
          <p:cNvPr id="21" name="Shape 18"/>
          <p:cNvSpPr/>
          <p:nvPr/>
        </p:nvSpPr>
        <p:spPr>
          <a:xfrm>
            <a:off x="4069080" y="4983480"/>
            <a:ext cx="1051560" cy="256032"/>
          </a:xfrm>
          <a:prstGeom prst="roundRect">
            <a:avLst>
              <a:gd name="adj" fmla="val 50000"/>
            </a:avLst>
          </a:prstGeom>
          <a:solidFill>
            <a:srgbClr val="FFFFFF"/>
          </a:solidFill>
          <a:ln w="12700">
            <a:solidFill>
              <a:srgbClr val="FFFFFF"/>
            </a:solidFill>
            <a:prstDash val="solid"/>
          </a:ln>
        </p:spPr>
      </p:sp>
      <p:sp>
        <p:nvSpPr>
          <p:cNvPr id="22" name="Text 19"/>
          <p:cNvSpPr txBox="1"/>
          <p:nvPr/>
        </p:nvSpPr>
        <p:spPr>
          <a:xfrm>
            <a:off x="4069080" y="4983480"/>
            <a:ext cx="1051560" cy="256032"/>
          </a:xfrm>
          <a:prstGeom prst="rect">
            <a:avLst/>
          </a:prstGeom>
          <a:noFill/>
          <a:ln/>
        </p:spPr>
        <p:txBody>
          <a:bodyPr wrap="square" lIns="0" tIns="0" rIns="0" bIns="0" rtlCol="0" anchor="ctr"/>
          <a:lstStyle/>
          <a:p>
            <a:pPr algn="ctr" indent="0" marL="0">
              <a:buNone/>
            </a:pPr>
            <a:r>
              <a:rPr lang="en-US" sz="750" b="1" dirty="0">
                <a:solidFill>
                  <a:srgbClr val="1A1A1A"/>
                </a:solidFill>
                <a:latin typeface="Poppins" pitchFamily="34" charset="0"/>
                <a:ea typeface="Poppins" pitchFamily="34" charset="-122"/>
                <a:cs typeface="Poppins" pitchFamily="34" charset="-120"/>
              </a:rPr>
              <a:t>12 training days</a:t>
            </a:r>
            <a:endParaRPr lang="en-US" sz="750" dirty="0"/>
          </a:p>
        </p:txBody>
      </p:sp>
      <p:sp>
        <p:nvSpPr>
          <p:cNvPr id="23" name="headline"/>
          <p:cNvSpPr txBox="1"/>
          <p:nvPr/>
        </p:nvSpPr>
        <p:spPr>
          <a:xfrm>
            <a:off x="5623560" y="960120"/>
            <a:ext cx="6035040" cy="1327912"/>
          </a:xfrm>
          <a:prstGeom prst="rect">
            <a:avLst/>
          </a:prstGeom>
          <a:noFill/>
          <a:ln/>
        </p:spPr>
        <p:txBody>
          <a:bodyPr wrap="square" lIns="0" tIns="0" rIns="0" bIns="0" rtlCol="0" anchor="t"/>
          <a:lstStyle/>
          <a:p>
            <a:pPr algn="l" indent="0" marL="0">
              <a:lnSpc>
                <a:spcPct val="86000"/>
              </a:lnSpc>
              <a:buNone/>
            </a:pPr>
            <a:r>
              <a:rPr lang="en-US" sz="4600" b="1" dirty="0">
                <a:solidFill>
                  <a:srgbClr val="1A1A1A"/>
                </a:solidFill>
                <a:latin typeface="Poppins" pitchFamily="34" charset="0"/>
                <a:ea typeface="Poppins" pitchFamily="34" charset="-122"/>
                <a:cs typeface="Poppins" pitchFamily="34" charset="-120"/>
              </a:rPr>
              <a:t>WHY</a:t>
            </a:r>
            <a:endParaRPr lang="en-US" sz="4600" dirty="0"/>
          </a:p>
          <a:p>
            <a:pPr algn="l" indent="0" marL="0">
              <a:lnSpc>
                <a:spcPct val="86000"/>
              </a:lnSpc>
              <a:buNone/>
            </a:pPr>
            <a:r>
              <a:rPr lang="en-US" sz="4600" b="1" dirty="0">
                <a:solidFill>
                  <a:srgbClr val="1A1A1A"/>
                </a:solidFill>
                <a:latin typeface="Poppins" pitchFamily="34" charset="0"/>
                <a:ea typeface="Poppins" pitchFamily="34" charset="-122"/>
                <a:cs typeface="Poppins" pitchFamily="34" charset="-120"/>
              </a:rPr>
              <a:t>NEIGHBOURS</a:t>
            </a:r>
            <a:endParaRPr lang="en-US" sz="4600" dirty="0"/>
          </a:p>
        </p:txBody>
      </p:sp>
      <p:sp>
        <p:nvSpPr>
          <p:cNvPr id="24" name="Text 21"/>
          <p:cNvSpPr txBox="1"/>
          <p:nvPr/>
        </p:nvSpPr>
        <p:spPr>
          <a:xfrm>
            <a:off x="5623560" y="2194560"/>
            <a:ext cx="5943600" cy="685800"/>
          </a:xfrm>
          <a:prstGeom prst="rect">
            <a:avLst/>
          </a:prstGeom>
          <a:noFill/>
          <a:ln/>
        </p:spPr>
        <p:txBody>
          <a:bodyPr wrap="square" lIns="0" tIns="0" rIns="0" bIns="0" rtlCol="0" anchor="t"/>
          <a:lstStyle/>
          <a:p>
            <a:pPr indent="0" marL="0">
              <a:buNone/>
            </a:pPr>
            <a:r>
              <a:rPr lang="en-US" sz="950" dirty="0">
                <a:solidFill>
                  <a:srgbClr val="3A3A3A"/>
                </a:solidFill>
                <a:latin typeface="Poppins" pitchFamily="34" charset="0"/>
                <a:ea typeface="Poppins" pitchFamily="34" charset="-122"/>
                <a:cs typeface="Poppins" pitchFamily="34" charset="-120"/>
              </a:rPr>
              <a:t>A jam grows like a queue: cars join at the back, so its tail moves against the traffic at 15–20 km/h (Lighthill–Whitham–Richards model, 1955). The sensor ahead of you sees your next few minutes first. We turned that into eight numbers.</a:t>
            </a:r>
            <a:endParaRPr lang="en-US" sz="950" dirty="0"/>
          </a:p>
        </p:txBody>
      </p:sp>
      <p:sp>
        <p:nvSpPr>
          <p:cNvPr id="25" name="Text 22"/>
          <p:cNvSpPr txBox="1"/>
          <p:nvPr/>
        </p:nvSpPr>
        <p:spPr>
          <a:xfrm>
            <a:off x="5623560" y="3017520"/>
            <a:ext cx="2194560" cy="283464"/>
          </a:xfrm>
          <a:prstGeom prst="rect">
            <a:avLst/>
          </a:prstGeom>
          <a:noFill/>
          <a:ln/>
        </p:spPr>
        <p:txBody>
          <a:bodyPr wrap="square" lIns="0" tIns="0" rIns="0" bIns="0" rtlCol="0" anchor="ctr"/>
          <a:lstStyle/>
          <a:p>
            <a:pPr algn="l" indent="0" marL="0">
              <a:buNone/>
            </a:pPr>
            <a:r>
              <a:rPr lang="en-US" sz="900" b="1" dirty="0">
                <a:solidFill>
                  <a:srgbClr val="1A1A1A"/>
                </a:solidFill>
                <a:latin typeface="Poppins" pitchFamily="34" charset="0"/>
                <a:ea typeface="Poppins" pitchFamily="34" charset="-122"/>
                <a:cs typeface="Poppins" pitchFamily="34" charset="-120"/>
              </a:rPr>
              <a:t>up_mean  (now, −5, −10 min)</a:t>
            </a:r>
            <a:endParaRPr lang="en-US" sz="900" dirty="0"/>
          </a:p>
        </p:txBody>
      </p:sp>
      <p:sp>
        <p:nvSpPr>
          <p:cNvPr id="26" name="Text 23"/>
          <p:cNvSpPr txBox="1"/>
          <p:nvPr/>
        </p:nvSpPr>
        <p:spPr>
          <a:xfrm>
            <a:off x="7818120" y="3017520"/>
            <a:ext cx="3749040" cy="283464"/>
          </a:xfrm>
          <a:prstGeom prst="rect">
            <a:avLst/>
          </a:prstGeom>
          <a:noFill/>
          <a:ln/>
        </p:spPr>
        <p:txBody>
          <a:bodyPr wrap="square" lIns="0" tIns="0" rIns="0" bIns="0" rtlCol="0" anchor="ctr"/>
          <a:lstStyle/>
          <a:p>
            <a:pPr algn="l" indent="0" marL="0">
              <a:buNone/>
            </a:pPr>
            <a:r>
              <a:rPr lang="en-US" sz="900" dirty="0">
                <a:solidFill>
                  <a:srgbClr val="1A1A1A"/>
                </a:solidFill>
                <a:latin typeface="Poppins" pitchFamily="34" charset="0"/>
                <a:ea typeface="Poppins" pitchFamily="34" charset="-122"/>
                <a:cs typeface="Poppins" pitchFamily="34" charset="-120"/>
              </a:rPr>
              <a:t>upstream neighbours: what is about to arrive</a:t>
            </a:r>
            <a:endParaRPr lang="en-US" sz="900" dirty="0"/>
          </a:p>
        </p:txBody>
      </p:sp>
      <p:sp>
        <p:nvSpPr>
          <p:cNvPr id="27" name="Shape 24"/>
          <p:cNvSpPr/>
          <p:nvPr/>
        </p:nvSpPr>
        <p:spPr>
          <a:xfrm>
            <a:off x="5623560" y="3300984"/>
            <a:ext cx="5943600" cy="0"/>
          </a:xfrm>
          <a:prstGeom prst="line">
            <a:avLst/>
          </a:prstGeom>
          <a:noFill/>
          <a:ln w="6350">
            <a:solidFill>
              <a:srgbClr val="D9D9D9"/>
            </a:solidFill>
            <a:prstDash val="solid"/>
          </a:ln>
        </p:spPr>
      </p:sp>
      <p:sp>
        <p:nvSpPr>
          <p:cNvPr id="28" name="Text 25"/>
          <p:cNvSpPr txBox="1"/>
          <p:nvPr/>
        </p:nvSpPr>
        <p:spPr>
          <a:xfrm>
            <a:off x="5623560" y="3300984"/>
            <a:ext cx="2194560" cy="283464"/>
          </a:xfrm>
          <a:prstGeom prst="rect">
            <a:avLst/>
          </a:prstGeom>
          <a:noFill/>
          <a:ln/>
        </p:spPr>
        <p:txBody>
          <a:bodyPr wrap="square" lIns="0" tIns="0" rIns="0" bIns="0" rtlCol="0" anchor="ctr"/>
          <a:lstStyle/>
          <a:p>
            <a:pPr algn="l" indent="0" marL="0">
              <a:buNone/>
            </a:pPr>
            <a:r>
              <a:rPr lang="en-US" sz="900" b="1" dirty="0">
                <a:solidFill>
                  <a:srgbClr val="1A1A1A"/>
                </a:solidFill>
                <a:latin typeface="Poppins" pitchFamily="34" charset="0"/>
                <a:ea typeface="Poppins" pitchFamily="34" charset="-122"/>
                <a:cs typeface="Poppins" pitchFamily="34" charset="-120"/>
              </a:rPr>
              <a:t>down_mean  (now, −5, −10 min)</a:t>
            </a:r>
            <a:endParaRPr lang="en-US" sz="900" dirty="0"/>
          </a:p>
        </p:txBody>
      </p:sp>
      <p:sp>
        <p:nvSpPr>
          <p:cNvPr id="29" name="Text 26"/>
          <p:cNvSpPr txBox="1"/>
          <p:nvPr/>
        </p:nvSpPr>
        <p:spPr>
          <a:xfrm>
            <a:off x="7818120" y="3300984"/>
            <a:ext cx="3749040" cy="283464"/>
          </a:xfrm>
          <a:prstGeom prst="rect">
            <a:avLst/>
          </a:prstGeom>
          <a:noFill/>
          <a:ln/>
        </p:spPr>
        <p:txBody>
          <a:bodyPr wrap="square" lIns="0" tIns="0" rIns="0" bIns="0" rtlCol="0" anchor="ctr"/>
          <a:lstStyle/>
          <a:p>
            <a:pPr algn="l" indent="0" marL="0">
              <a:buNone/>
            </a:pPr>
            <a:r>
              <a:rPr lang="en-US" sz="900" b="1" dirty="0">
                <a:solidFill>
                  <a:srgbClr val="1A1A1A"/>
                </a:solidFill>
                <a:latin typeface="Poppins" pitchFamily="34" charset="0"/>
                <a:ea typeface="Poppins" pitchFamily="34" charset="-122"/>
                <a:cs typeface="Poppins" pitchFamily="34" charset="-120"/>
              </a:rPr>
              <a:t>downstream neighbours: a queue growing back to you</a:t>
            </a:r>
            <a:endParaRPr lang="en-US" sz="900" dirty="0"/>
          </a:p>
        </p:txBody>
      </p:sp>
      <p:sp>
        <p:nvSpPr>
          <p:cNvPr id="30" name="Shape 27"/>
          <p:cNvSpPr/>
          <p:nvPr/>
        </p:nvSpPr>
        <p:spPr>
          <a:xfrm>
            <a:off x="5623560" y="3584448"/>
            <a:ext cx="5943600" cy="0"/>
          </a:xfrm>
          <a:prstGeom prst="line">
            <a:avLst/>
          </a:prstGeom>
          <a:noFill/>
          <a:ln w="6350">
            <a:solidFill>
              <a:srgbClr val="D9D9D9"/>
            </a:solidFill>
            <a:prstDash val="solid"/>
          </a:ln>
        </p:spPr>
      </p:sp>
      <p:sp>
        <p:nvSpPr>
          <p:cNvPr id="31" name="Text 28"/>
          <p:cNvSpPr txBox="1"/>
          <p:nvPr/>
        </p:nvSpPr>
        <p:spPr>
          <a:xfrm>
            <a:off x="5623560" y="3584448"/>
            <a:ext cx="2194560" cy="283464"/>
          </a:xfrm>
          <a:prstGeom prst="rect">
            <a:avLst/>
          </a:prstGeom>
          <a:noFill/>
          <a:ln/>
        </p:spPr>
        <p:txBody>
          <a:bodyPr wrap="square" lIns="0" tIns="0" rIns="0" bIns="0" rtlCol="0" anchor="ctr"/>
          <a:lstStyle/>
          <a:p>
            <a:pPr algn="l" indent="0" marL="0">
              <a:buNone/>
            </a:pPr>
            <a:r>
              <a:rPr lang="en-US" sz="900" b="1" dirty="0">
                <a:solidFill>
                  <a:srgbClr val="1A1A1A"/>
                </a:solidFill>
                <a:latin typeface="Poppins" pitchFamily="34" charset="0"/>
                <a:ea typeface="Poppins" pitchFamily="34" charset="-122"/>
                <a:cs typeface="Poppins" pitchFamily="34" charset="-120"/>
              </a:rPr>
              <a:t>nbr_min, nbr_frac_congested</a:t>
            </a:r>
            <a:endParaRPr lang="en-US" sz="900" dirty="0"/>
          </a:p>
        </p:txBody>
      </p:sp>
      <p:sp>
        <p:nvSpPr>
          <p:cNvPr id="32" name="Text 29"/>
          <p:cNvSpPr txBox="1"/>
          <p:nvPr/>
        </p:nvSpPr>
        <p:spPr>
          <a:xfrm>
            <a:off x="7818120" y="3584448"/>
            <a:ext cx="3749040" cy="283464"/>
          </a:xfrm>
          <a:prstGeom prst="rect">
            <a:avLst/>
          </a:prstGeom>
          <a:noFill/>
          <a:ln/>
        </p:spPr>
        <p:txBody>
          <a:bodyPr wrap="square" lIns="0" tIns="0" rIns="0" bIns="0" rtlCol="0" anchor="ctr"/>
          <a:lstStyle/>
          <a:p>
            <a:pPr algn="l" indent="0" marL="0">
              <a:buNone/>
            </a:pPr>
            <a:r>
              <a:rPr lang="en-US" sz="900" dirty="0">
                <a:solidFill>
                  <a:srgbClr val="1A1A1A"/>
                </a:solidFill>
                <a:latin typeface="Poppins" pitchFamily="34" charset="0"/>
                <a:ea typeface="Poppins" pitchFamily="34" charset="-122"/>
                <a:cs typeface="Poppins" pitchFamily="34" charset="-120"/>
              </a:rPr>
              <a:t>slowest neighbour; share of neighbours jammed</a:t>
            </a:r>
            <a:endParaRPr lang="en-US" sz="900" dirty="0"/>
          </a:p>
        </p:txBody>
      </p:sp>
      <p:sp>
        <p:nvSpPr>
          <p:cNvPr id="33" name="Shape 30"/>
          <p:cNvSpPr/>
          <p:nvPr/>
        </p:nvSpPr>
        <p:spPr>
          <a:xfrm>
            <a:off x="5623560" y="3867912"/>
            <a:ext cx="5943600" cy="0"/>
          </a:xfrm>
          <a:prstGeom prst="line">
            <a:avLst/>
          </a:prstGeom>
          <a:noFill/>
          <a:ln w="6350">
            <a:solidFill>
              <a:srgbClr val="D9D9D9"/>
            </a:solidFill>
            <a:prstDash val="solid"/>
          </a:ln>
        </p:spPr>
      </p:sp>
      <p:sp>
        <p:nvSpPr>
          <p:cNvPr id="34" name="Text 31"/>
          <p:cNvSpPr txBox="1"/>
          <p:nvPr/>
        </p:nvSpPr>
        <p:spPr>
          <a:xfrm>
            <a:off x="5623560" y="3867912"/>
            <a:ext cx="2194560" cy="283464"/>
          </a:xfrm>
          <a:prstGeom prst="rect">
            <a:avLst/>
          </a:prstGeom>
          <a:noFill/>
          <a:ln/>
        </p:spPr>
        <p:txBody>
          <a:bodyPr wrap="square" lIns="0" tIns="0" rIns="0" bIns="0" rtlCol="0" anchor="ctr"/>
          <a:lstStyle/>
          <a:p>
            <a:pPr algn="l" indent="0" marL="0">
              <a:buNone/>
            </a:pPr>
            <a:r>
              <a:rPr lang="en-US" sz="900" b="1" dirty="0">
                <a:solidFill>
                  <a:srgbClr val="1A1A1A"/>
                </a:solidFill>
                <a:latin typeface="Poppins" pitchFamily="34" charset="0"/>
                <a:ea typeface="Poppins" pitchFamily="34" charset="-122"/>
                <a:cs typeface="Poppins" pitchFamily="34" charset="-120"/>
              </a:rPr>
              <a:t>weights</a:t>
            </a:r>
            <a:endParaRPr lang="en-US" sz="900" dirty="0"/>
          </a:p>
        </p:txBody>
      </p:sp>
      <p:sp>
        <p:nvSpPr>
          <p:cNvPr id="35" name="Text 32"/>
          <p:cNvSpPr txBox="1"/>
          <p:nvPr/>
        </p:nvSpPr>
        <p:spPr>
          <a:xfrm>
            <a:off x="7818120" y="3867912"/>
            <a:ext cx="3749040" cy="283464"/>
          </a:xfrm>
          <a:prstGeom prst="rect">
            <a:avLst/>
          </a:prstGeom>
          <a:noFill/>
          <a:ln/>
        </p:spPr>
        <p:txBody>
          <a:bodyPr wrap="square" lIns="0" tIns="0" rIns="0" bIns="0" rtlCol="0" anchor="ctr"/>
          <a:lstStyle/>
          <a:p>
            <a:pPr algn="l" indent="0" marL="0">
              <a:buNone/>
            </a:pPr>
            <a:r>
              <a:rPr lang="en-US" sz="900" dirty="0">
                <a:solidFill>
                  <a:srgbClr val="1A1A1A"/>
                </a:solidFill>
                <a:latin typeface="Poppins" pitchFamily="34" charset="0"/>
                <a:ea typeface="Poppins" pitchFamily="34" charset="-122"/>
                <a:cs typeface="Poppins" pitchFamily="34" charset="-120"/>
              </a:rPr>
              <a:t>nearer neighbours count more; unknown neighbours left out</a:t>
            </a:r>
            <a:endParaRPr lang="en-US" sz="900" dirty="0"/>
          </a:p>
        </p:txBody>
      </p:sp>
      <p:sp>
        <p:nvSpPr>
          <p:cNvPr id="36" name="Shape 33"/>
          <p:cNvSpPr/>
          <p:nvPr/>
        </p:nvSpPr>
        <p:spPr>
          <a:xfrm>
            <a:off x="5623560" y="4151376"/>
            <a:ext cx="5943600" cy="0"/>
          </a:xfrm>
          <a:prstGeom prst="line">
            <a:avLst/>
          </a:prstGeom>
          <a:noFill/>
          <a:ln w="6350">
            <a:solidFill>
              <a:srgbClr val="D9D9D9"/>
            </a:solidFill>
            <a:prstDash val="solid"/>
          </a:ln>
        </p:spPr>
      </p:sp>
      <p:sp>
        <p:nvSpPr>
          <p:cNvPr id="37" name="Text 34"/>
          <p:cNvSpPr txBox="1"/>
          <p:nvPr/>
        </p:nvSpPr>
        <p:spPr>
          <a:xfrm>
            <a:off x="5623560" y="4315968"/>
            <a:ext cx="5486400" cy="201168"/>
          </a:xfrm>
          <a:prstGeom prst="rect">
            <a:avLst/>
          </a:prstGeom>
          <a:noFill/>
          <a:ln/>
        </p:spPr>
        <p:txBody>
          <a:bodyPr wrap="square" lIns="0" tIns="0" rIns="0" bIns="0" rtlCol="0" anchor="t"/>
          <a:lstStyle/>
          <a:p>
            <a:pPr indent="0" marL="0">
              <a:buNone/>
            </a:pPr>
            <a:r>
              <a:rPr lang="en-US" sz="700" b="1" spc="160" kern="0" dirty="0">
                <a:solidFill>
                  <a:srgbClr val="6B6B6B"/>
                </a:solidFill>
                <a:latin typeface="Poppins" pitchFamily="34" charset="0"/>
                <a:ea typeface="Poppins" pitchFamily="34" charset="-122"/>
                <a:cs typeface="Poppins" pitchFamily="34" charset="-120"/>
              </a:rPr>
              <a:t>CORRELATION WITH A NEIGHBOUR'S SPEED, BY ROAD DISTANCE</a:t>
            </a:r>
            <a:endParaRPr lang="en-US" sz="700" dirty="0"/>
          </a:p>
        </p:txBody>
      </p:sp>
      <p:sp>
        <p:nvSpPr>
          <p:cNvPr id="38" name="Text 35"/>
          <p:cNvSpPr txBox="1"/>
          <p:nvPr/>
        </p:nvSpPr>
        <p:spPr>
          <a:xfrm>
            <a:off x="5623560" y="4535424"/>
            <a:ext cx="5120640" cy="201168"/>
          </a:xfrm>
          <a:prstGeom prst="rect">
            <a:avLst/>
          </a:prstGeom>
          <a:noFill/>
          <a:ln/>
        </p:spPr>
        <p:txBody>
          <a:bodyPr wrap="square" lIns="0" tIns="0" rIns="0" bIns="0" rtlCol="0" anchor="t"/>
          <a:lstStyle/>
          <a:p>
            <a:pPr indent="0" marL="0">
              <a:buNone/>
            </a:pPr>
            <a:r>
              <a:rPr lang="en-US" sz="950" dirty="0">
                <a:solidFill>
                  <a:srgbClr val="1A1A1A"/>
                </a:solidFill>
                <a:latin typeface="Poppins" pitchFamily="34" charset="0"/>
                <a:ea typeface="Poppins" pitchFamily="34" charset="-122"/>
                <a:cs typeface="Poppins" pitchFamily="34" charset="-120"/>
              </a:rPr>
              <a:t>under 1 km apart</a:t>
            </a:r>
            <a:endParaRPr lang="en-US" sz="950" dirty="0"/>
          </a:p>
        </p:txBody>
      </p:sp>
      <p:sp>
        <p:nvSpPr>
          <p:cNvPr id="39" name="Text 36"/>
          <p:cNvSpPr txBox="1"/>
          <p:nvPr/>
        </p:nvSpPr>
        <p:spPr>
          <a:xfrm>
            <a:off x="10789920" y="4535424"/>
            <a:ext cx="777240" cy="201168"/>
          </a:xfrm>
          <a:prstGeom prst="rect">
            <a:avLst/>
          </a:prstGeom>
          <a:noFill/>
          <a:ln/>
        </p:spPr>
        <p:txBody>
          <a:bodyPr wrap="square" lIns="0" tIns="0" rIns="0" bIns="0" rtlCol="0" anchor="t"/>
          <a:lstStyle/>
          <a:p>
            <a:pPr algn="r" indent="0" marL="0">
              <a:buNone/>
            </a:pPr>
            <a:r>
              <a:rPr lang="en-US" sz="950" b="1" dirty="0">
                <a:solidFill>
                  <a:srgbClr val="1A1A1A"/>
                </a:solidFill>
                <a:latin typeface="Poppins" pitchFamily="34" charset="0"/>
                <a:ea typeface="Poppins" pitchFamily="34" charset="-122"/>
                <a:cs typeface="Poppins" pitchFamily="34" charset="-120"/>
              </a:rPr>
              <a:t>0.85</a:t>
            </a:r>
            <a:endParaRPr lang="en-US" sz="950" dirty="0"/>
          </a:p>
        </p:txBody>
      </p:sp>
      <p:sp>
        <p:nvSpPr>
          <p:cNvPr id="40" name="Shape 37"/>
          <p:cNvSpPr/>
          <p:nvPr/>
        </p:nvSpPr>
        <p:spPr>
          <a:xfrm>
            <a:off x="5623560" y="4782312"/>
            <a:ext cx="5029200" cy="182880"/>
          </a:xfrm>
          <a:prstGeom prst="roundRect">
            <a:avLst>
              <a:gd name="adj" fmla="val 50000"/>
            </a:avLst>
          </a:prstGeom>
          <a:solidFill>
            <a:srgbClr val="DCDCDC"/>
          </a:solidFill>
          <a:ln w="12700">
            <a:solidFill>
              <a:srgbClr val="DCDCDC"/>
            </a:solidFill>
            <a:prstDash val="solid"/>
          </a:ln>
        </p:spPr>
      </p:sp>
      <p:sp>
        <p:nvSpPr>
          <p:cNvPr id="41" name="Shape 38"/>
          <p:cNvSpPr/>
          <p:nvPr/>
        </p:nvSpPr>
        <p:spPr>
          <a:xfrm>
            <a:off x="5623560" y="4782312"/>
            <a:ext cx="5029200" cy="182880"/>
          </a:xfrm>
          <a:prstGeom prst="roundRect">
            <a:avLst>
              <a:gd name="adj" fmla="val 50000"/>
            </a:avLst>
          </a:prstGeom>
          <a:solidFill>
            <a:srgbClr val="1A1A1A"/>
          </a:solidFill>
          <a:ln w="12700">
            <a:solidFill>
              <a:srgbClr val="1A1A1A"/>
            </a:solidFill>
            <a:prstDash val="solid"/>
          </a:ln>
        </p:spPr>
      </p:sp>
      <p:sp>
        <p:nvSpPr>
          <p:cNvPr id="42" name="Text 39"/>
          <p:cNvSpPr txBox="1"/>
          <p:nvPr/>
        </p:nvSpPr>
        <p:spPr>
          <a:xfrm>
            <a:off x="5623560" y="4992624"/>
            <a:ext cx="5120640" cy="201168"/>
          </a:xfrm>
          <a:prstGeom prst="rect">
            <a:avLst/>
          </a:prstGeom>
          <a:noFill/>
          <a:ln/>
        </p:spPr>
        <p:txBody>
          <a:bodyPr wrap="square" lIns="0" tIns="0" rIns="0" bIns="0" rtlCol="0" anchor="t"/>
          <a:lstStyle/>
          <a:p>
            <a:pPr indent="0" marL="0">
              <a:buNone/>
            </a:pPr>
            <a:r>
              <a:rPr lang="en-US" sz="950" dirty="0">
                <a:solidFill>
                  <a:srgbClr val="1A1A1A"/>
                </a:solidFill>
                <a:latin typeface="Poppins" pitchFamily="34" charset="0"/>
                <a:ea typeface="Poppins" pitchFamily="34" charset="-122"/>
                <a:cs typeface="Poppins" pitchFamily="34" charset="-120"/>
              </a:rPr>
              <a:t>5–6 km apart</a:t>
            </a:r>
            <a:endParaRPr lang="en-US" sz="950" dirty="0"/>
          </a:p>
        </p:txBody>
      </p:sp>
      <p:sp>
        <p:nvSpPr>
          <p:cNvPr id="43" name="Text 40"/>
          <p:cNvSpPr txBox="1"/>
          <p:nvPr/>
        </p:nvSpPr>
        <p:spPr>
          <a:xfrm>
            <a:off x="10789920" y="4992624"/>
            <a:ext cx="777240" cy="201168"/>
          </a:xfrm>
          <a:prstGeom prst="rect">
            <a:avLst/>
          </a:prstGeom>
          <a:noFill/>
          <a:ln/>
        </p:spPr>
        <p:txBody>
          <a:bodyPr wrap="square" lIns="0" tIns="0" rIns="0" bIns="0" rtlCol="0" anchor="t"/>
          <a:lstStyle/>
          <a:p>
            <a:pPr algn="r" indent="0" marL="0">
              <a:buNone/>
            </a:pPr>
            <a:r>
              <a:rPr lang="en-US" sz="950" b="1" dirty="0">
                <a:solidFill>
                  <a:srgbClr val="1A1A1A"/>
                </a:solidFill>
                <a:latin typeface="Poppins" pitchFamily="34" charset="0"/>
                <a:ea typeface="Poppins" pitchFamily="34" charset="-122"/>
                <a:cs typeface="Poppins" pitchFamily="34" charset="-120"/>
              </a:rPr>
              <a:t>0.29</a:t>
            </a:r>
            <a:endParaRPr lang="en-US" sz="950" dirty="0"/>
          </a:p>
        </p:txBody>
      </p:sp>
      <p:sp>
        <p:nvSpPr>
          <p:cNvPr id="44" name="Shape 41"/>
          <p:cNvSpPr/>
          <p:nvPr/>
        </p:nvSpPr>
        <p:spPr>
          <a:xfrm>
            <a:off x="5623560" y="5239512"/>
            <a:ext cx="5029200" cy="182880"/>
          </a:xfrm>
          <a:prstGeom prst="roundRect">
            <a:avLst>
              <a:gd name="adj" fmla="val 50000"/>
            </a:avLst>
          </a:prstGeom>
          <a:solidFill>
            <a:srgbClr val="DCDCDC"/>
          </a:solidFill>
          <a:ln w="12700">
            <a:solidFill>
              <a:srgbClr val="DCDCDC"/>
            </a:solidFill>
            <a:prstDash val="solid"/>
          </a:ln>
        </p:spPr>
      </p:sp>
      <p:sp>
        <p:nvSpPr>
          <p:cNvPr id="45" name="Shape 42"/>
          <p:cNvSpPr/>
          <p:nvPr/>
        </p:nvSpPr>
        <p:spPr>
          <a:xfrm>
            <a:off x="5623560" y="5239512"/>
            <a:ext cx="1715845" cy="182880"/>
          </a:xfrm>
          <a:prstGeom prst="roundRect">
            <a:avLst>
              <a:gd name="adj" fmla="val 50000"/>
            </a:avLst>
          </a:prstGeom>
          <a:solidFill>
            <a:srgbClr val="1A1A1A"/>
          </a:solidFill>
          <a:ln w="12700">
            <a:solidFill>
              <a:srgbClr val="1A1A1A"/>
            </a:solidFill>
            <a:prstDash val="solid"/>
          </a:ln>
        </p:spPr>
      </p:sp>
      <p:sp>
        <p:nvSpPr>
          <p:cNvPr id="46" name="Text 43"/>
          <p:cNvSpPr txBox="1"/>
          <p:nvPr/>
        </p:nvSpPr>
        <p:spPr>
          <a:xfrm>
            <a:off x="5623560" y="5449824"/>
            <a:ext cx="5120640" cy="201168"/>
          </a:xfrm>
          <a:prstGeom prst="rect">
            <a:avLst/>
          </a:prstGeom>
          <a:noFill/>
          <a:ln/>
        </p:spPr>
        <p:txBody>
          <a:bodyPr wrap="square" lIns="0" tIns="0" rIns="0" bIns="0" rtlCol="0" anchor="t"/>
          <a:lstStyle/>
          <a:p>
            <a:pPr indent="0" marL="0">
              <a:buNone/>
            </a:pPr>
            <a:r>
              <a:rPr lang="en-US" sz="950" dirty="0">
                <a:solidFill>
                  <a:srgbClr val="1A1A1A"/>
                </a:solidFill>
                <a:latin typeface="Poppins" pitchFamily="34" charset="0"/>
                <a:ea typeface="Poppins" pitchFamily="34" charset="-122"/>
                <a:cs typeface="Poppins" pitchFamily="34" charset="-120"/>
              </a:rPr>
              <a:t>10–11 km apart</a:t>
            </a:r>
            <a:endParaRPr lang="en-US" sz="950" dirty="0"/>
          </a:p>
        </p:txBody>
      </p:sp>
      <p:sp>
        <p:nvSpPr>
          <p:cNvPr id="47" name="Text 44"/>
          <p:cNvSpPr txBox="1"/>
          <p:nvPr/>
        </p:nvSpPr>
        <p:spPr>
          <a:xfrm>
            <a:off x="10789920" y="5449824"/>
            <a:ext cx="777240" cy="201168"/>
          </a:xfrm>
          <a:prstGeom prst="rect">
            <a:avLst/>
          </a:prstGeom>
          <a:noFill/>
          <a:ln/>
        </p:spPr>
        <p:txBody>
          <a:bodyPr wrap="square" lIns="0" tIns="0" rIns="0" bIns="0" rtlCol="0" anchor="t"/>
          <a:lstStyle/>
          <a:p>
            <a:pPr algn="r" indent="0" marL="0">
              <a:buNone/>
            </a:pPr>
            <a:r>
              <a:rPr lang="en-US" sz="950" b="1" dirty="0">
                <a:solidFill>
                  <a:srgbClr val="1A1A1A"/>
                </a:solidFill>
                <a:latin typeface="Poppins" pitchFamily="34" charset="0"/>
                <a:ea typeface="Poppins" pitchFamily="34" charset="-122"/>
                <a:cs typeface="Poppins" pitchFamily="34" charset="-120"/>
              </a:rPr>
              <a:t>0.19</a:t>
            </a:r>
            <a:endParaRPr lang="en-US" sz="950" dirty="0"/>
          </a:p>
        </p:txBody>
      </p:sp>
      <p:sp>
        <p:nvSpPr>
          <p:cNvPr id="48" name="Shape 45"/>
          <p:cNvSpPr/>
          <p:nvPr/>
        </p:nvSpPr>
        <p:spPr>
          <a:xfrm>
            <a:off x="5623560" y="5696712"/>
            <a:ext cx="5029200" cy="182880"/>
          </a:xfrm>
          <a:prstGeom prst="roundRect">
            <a:avLst>
              <a:gd name="adj" fmla="val 50000"/>
            </a:avLst>
          </a:prstGeom>
          <a:solidFill>
            <a:srgbClr val="DCDCDC"/>
          </a:solidFill>
          <a:ln w="12700">
            <a:solidFill>
              <a:srgbClr val="DCDCDC"/>
            </a:solidFill>
            <a:prstDash val="solid"/>
          </a:ln>
        </p:spPr>
      </p:sp>
      <p:sp>
        <p:nvSpPr>
          <p:cNvPr id="49" name="Shape 46"/>
          <p:cNvSpPr/>
          <p:nvPr/>
        </p:nvSpPr>
        <p:spPr>
          <a:xfrm>
            <a:off x="5623560" y="5696712"/>
            <a:ext cx="1124174" cy="182880"/>
          </a:xfrm>
          <a:prstGeom prst="roundRect">
            <a:avLst>
              <a:gd name="adj" fmla="val 50000"/>
            </a:avLst>
          </a:prstGeom>
          <a:solidFill>
            <a:srgbClr val="1A1A1A"/>
          </a:solidFill>
          <a:ln w="12700">
            <a:solidFill>
              <a:srgbClr val="1A1A1A"/>
            </a:solidFill>
            <a:prstDash val="solid"/>
          </a:ln>
        </p:spPr>
      </p:sp>
      <p:sp>
        <p:nvSpPr>
          <p:cNvPr id="50" name="Text 47"/>
          <p:cNvSpPr txBox="1"/>
          <p:nvPr/>
        </p:nvSpPr>
        <p:spPr>
          <a:xfrm>
            <a:off x="5623560" y="5934456"/>
            <a:ext cx="5486400" cy="548640"/>
          </a:xfrm>
          <a:prstGeom prst="rect">
            <a:avLst/>
          </a:prstGeom>
          <a:noFill/>
          <a:ln/>
        </p:spPr>
        <p:txBody>
          <a:bodyPr wrap="square" lIns="0" tIns="0" rIns="0" bIns="0" rtlCol="0" anchor="t"/>
          <a:lstStyle/>
          <a:p>
            <a:pPr indent="0" marL="0">
              <a:buNone/>
            </a:pPr>
            <a:r>
              <a:rPr lang="en-US" sz="850" dirty="0">
                <a:solidFill>
                  <a:srgbClr val="6B6B6B"/>
                </a:solidFill>
                <a:latin typeface="Poppins" pitchFamily="34" charset="0"/>
                <a:ea typeface="Poppins" pitchFamily="34" charset="-122"/>
                <a:cs typeface="Poppins" pitchFamily="34" charset="-120"/>
              </a:rPr>
              <a:t>Only close neighbours carry information, so one-hop features are the right first step. A wave at 15–20 km/h crosses one hop (1–3 km) in 5–15 minutes, so they should help most at short horizons — keep that in mind for the results.</a:t>
            </a:r>
            <a:endParaRPr lang="en-US" sz="850" dirty="0"/>
          </a:p>
        </p:txBody>
      </p:sp>
      <p:sp>
        <p:nvSpPr>
          <p:cNvPr id="51" name="Shape 48"/>
          <p:cNvSpPr/>
          <p:nvPr/>
        </p:nvSpPr>
        <p:spPr>
          <a:xfrm>
            <a:off x="11274552" y="5989320"/>
            <a:ext cx="365760" cy="365760"/>
          </a:xfrm>
          <a:prstGeom prst="ellipse">
            <a:avLst/>
          </a:prstGeom>
          <a:solidFill>
            <a:srgbClr val="1A1A1A"/>
          </a:solidFill>
          <a:ln w="12700">
            <a:solidFill>
              <a:srgbClr val="1A1A1A"/>
            </a:solidFill>
            <a:prstDash val="solid"/>
          </a:ln>
        </p:spPr>
      </p:sp>
      <p:sp>
        <p:nvSpPr>
          <p:cNvPr id="52" name="Text 49"/>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road graph texture" descr="/tmp/claude-0/-home-claude/da092323-5f3d-56db-8152-6e606916a9e5/scratchpad/deck2/assets/band_texture.png">    </p:cNvPr>
          <p:cNvPicPr>
            <a:picLocks noChangeAspect="1"/>
          </p:cNvPicPr>
          <p:nvPr/>
        </p:nvPicPr>
        <p:blipFill>
          <a:blip r:embed="rId1"/>
          <a:stretch>
            <a:fillRect/>
          </a:stretch>
        </p:blipFill>
        <p:spPr>
          <a:xfrm>
            <a:off x="0" y="0"/>
            <a:ext cx="12188952" cy="3017520"/>
          </a:xfrm>
          <a:prstGeom prst="rect">
            <a:avLst/>
          </a:prstGeom>
        </p:spPr>
      </p:pic>
      <p:sp>
        <p:nvSpPr>
          <p:cNvPr id="3"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4"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5"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6"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7"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8"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9" name="Shape 6"/>
          <p:cNvSpPr/>
          <p:nvPr/>
        </p:nvSpPr>
        <p:spPr>
          <a:xfrm>
            <a:off x="6492240" y="411480"/>
            <a:ext cx="932688" cy="292608"/>
          </a:xfrm>
          <a:prstGeom prst="roundRect">
            <a:avLst>
              <a:gd name="adj" fmla="val 50000"/>
            </a:avLst>
          </a:prstGeom>
          <a:solidFill>
            <a:srgbClr val="D6D6D6"/>
          </a:solidFill>
          <a:ln w="12700">
            <a:solidFill>
              <a:srgbClr val="D6D6D6"/>
            </a:solidFill>
            <a:prstDash val="solid"/>
          </a:ln>
        </p:spPr>
      </p:sp>
      <p:sp>
        <p:nvSpPr>
          <p:cNvPr id="10"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Data</a:t>
            </a:r>
            <a:endParaRPr lang="en-US" sz="950" dirty="0"/>
          </a:p>
        </p:txBody>
      </p:sp>
      <p:sp>
        <p:nvSpPr>
          <p:cNvPr id="11" name="Shape 8"/>
          <p:cNvSpPr/>
          <p:nvPr/>
        </p:nvSpPr>
        <p:spPr>
          <a:xfrm>
            <a:off x="7498080" y="411480"/>
            <a:ext cx="932688" cy="292608"/>
          </a:xfrm>
          <a:prstGeom prst="roundRect">
            <a:avLst>
              <a:gd name="adj" fmla="val 50000"/>
            </a:avLst>
          </a:prstGeom>
          <a:solidFill>
            <a:srgbClr val="1A1A1A"/>
          </a:solidFill>
          <a:ln w="12700">
            <a:solidFill>
              <a:srgbClr val="1A1A1A"/>
            </a:solidFill>
            <a:prstDash val="solid"/>
          </a:ln>
        </p:spPr>
      </p:sp>
      <p:sp>
        <p:nvSpPr>
          <p:cNvPr id="12"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Models</a:t>
            </a:r>
            <a:endParaRPr lang="en-US" sz="950" dirty="0"/>
          </a:p>
        </p:txBody>
      </p:sp>
      <p:sp>
        <p:nvSpPr>
          <p:cNvPr id="13"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4"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5" name="Shape 12"/>
          <p:cNvSpPr/>
          <p:nvPr/>
        </p:nvSpPr>
        <p:spPr>
          <a:xfrm>
            <a:off x="388620" y="1051560"/>
            <a:ext cx="2157984" cy="1691640"/>
          </a:xfrm>
          <a:prstGeom prst="roundRect">
            <a:avLst>
              <a:gd name="adj" fmla="val 9730"/>
            </a:avLst>
          </a:prstGeom>
          <a:solidFill>
            <a:srgbClr val="2A2A2A"/>
          </a:solidFill>
          <a:ln w="9525">
            <a:solidFill>
              <a:srgbClr val="4A4A4A"/>
            </a:solidFill>
            <a:prstDash val="solid"/>
          </a:ln>
        </p:spPr>
      </p:sp>
      <p:sp>
        <p:nvSpPr>
          <p:cNvPr id="16" name="Text 13"/>
          <p:cNvSpPr txBox="1"/>
          <p:nvPr/>
        </p:nvSpPr>
        <p:spPr>
          <a:xfrm>
            <a:off x="571500" y="1207008"/>
            <a:ext cx="1792224"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01 · FLOOR</a:t>
            </a:r>
            <a:endParaRPr lang="en-US" sz="650" dirty="0"/>
          </a:p>
        </p:txBody>
      </p:sp>
      <p:sp>
        <p:nvSpPr>
          <p:cNvPr id="17" name="Text 14"/>
          <p:cNvSpPr txBox="1"/>
          <p:nvPr/>
        </p:nvSpPr>
        <p:spPr>
          <a:xfrm>
            <a:off x="571500" y="1399032"/>
            <a:ext cx="1792224" cy="274320"/>
          </a:xfrm>
          <a:prstGeom prst="rect">
            <a:avLst/>
          </a:prstGeom>
          <a:noFill/>
          <a:ln/>
        </p:spPr>
        <p:txBody>
          <a:bodyPr wrap="square" lIns="0" tIns="0" rIns="0" bIns="0" rtlCol="0" anchor="t"/>
          <a:lstStyle/>
          <a:p>
            <a:pPr indent="0" marL="0">
              <a:buNone/>
            </a:pPr>
            <a:r>
              <a:rPr lang="en-US" sz="1500" b="1" dirty="0">
                <a:solidFill>
                  <a:srgbClr val="FFFFFF"/>
                </a:solidFill>
                <a:latin typeface="Poppins" pitchFamily="34" charset="0"/>
                <a:ea typeface="Poppins" pitchFamily="34" charset="-122"/>
                <a:cs typeface="Poppins" pitchFamily="34" charset="-120"/>
              </a:rPr>
              <a:t>Hist. average</a:t>
            </a:r>
            <a:endParaRPr lang="en-US" sz="1500" dirty="0"/>
          </a:p>
        </p:txBody>
      </p:sp>
      <p:sp>
        <p:nvSpPr>
          <p:cNvPr id="18" name="Text 15"/>
          <p:cNvSpPr txBox="1"/>
          <p:nvPr/>
        </p:nvSpPr>
        <p:spPr>
          <a:xfrm>
            <a:off x="571500" y="1673352"/>
            <a:ext cx="1792224" cy="475488"/>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The usual speed at this time of week. No learning, no present.</a:t>
            </a:r>
            <a:endParaRPr lang="en-US" sz="800" dirty="0"/>
          </a:p>
        </p:txBody>
      </p:sp>
      <p:sp>
        <p:nvSpPr>
          <p:cNvPr id="19" name="Shape 16"/>
          <p:cNvSpPr/>
          <p:nvPr/>
        </p:nvSpPr>
        <p:spPr>
          <a:xfrm>
            <a:off x="571500" y="2167128"/>
            <a:ext cx="1792224" cy="0"/>
          </a:xfrm>
          <a:prstGeom prst="line">
            <a:avLst/>
          </a:prstGeom>
          <a:noFill/>
          <a:ln w="6350">
            <a:solidFill>
              <a:srgbClr val="4A4A4A"/>
            </a:solidFill>
            <a:prstDash val="solid"/>
          </a:ln>
        </p:spPr>
      </p:sp>
      <p:sp>
        <p:nvSpPr>
          <p:cNvPr id="20" name="Text 17"/>
          <p:cNvSpPr txBox="1"/>
          <p:nvPr/>
        </p:nvSpPr>
        <p:spPr>
          <a:xfrm>
            <a:off x="571500"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15</a:t>
            </a:r>
            <a:endParaRPr lang="en-US" sz="600" dirty="0"/>
          </a:p>
        </p:txBody>
      </p:sp>
      <p:sp>
        <p:nvSpPr>
          <p:cNvPr id="21" name="Text 18"/>
          <p:cNvSpPr txBox="1"/>
          <p:nvPr/>
        </p:nvSpPr>
        <p:spPr>
          <a:xfrm>
            <a:off x="1257300"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60</a:t>
            </a:r>
            <a:endParaRPr lang="en-US" sz="600" dirty="0"/>
          </a:p>
        </p:txBody>
      </p:sp>
      <p:sp>
        <p:nvSpPr>
          <p:cNvPr id="22" name="Text 19"/>
          <p:cNvSpPr txBox="1"/>
          <p:nvPr/>
        </p:nvSpPr>
        <p:spPr>
          <a:xfrm>
            <a:off x="571500"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4.32</a:t>
            </a:r>
            <a:endParaRPr lang="en-US" sz="1200" dirty="0"/>
          </a:p>
        </p:txBody>
      </p:sp>
      <p:sp>
        <p:nvSpPr>
          <p:cNvPr id="23" name="Text 20"/>
          <p:cNvSpPr txBox="1"/>
          <p:nvPr/>
        </p:nvSpPr>
        <p:spPr>
          <a:xfrm>
            <a:off x="1257300"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4.30</a:t>
            </a:r>
            <a:endParaRPr lang="en-US" sz="1200" dirty="0"/>
          </a:p>
        </p:txBody>
      </p:sp>
      <p:sp>
        <p:nvSpPr>
          <p:cNvPr id="24" name="Shape 21"/>
          <p:cNvSpPr/>
          <p:nvPr/>
        </p:nvSpPr>
        <p:spPr>
          <a:xfrm>
            <a:off x="1677924" y="2395728"/>
            <a:ext cx="713232" cy="237744"/>
          </a:xfrm>
          <a:prstGeom prst="roundRect">
            <a:avLst>
              <a:gd name="adj" fmla="val 50000"/>
            </a:avLst>
          </a:prstGeom>
          <a:solidFill>
            <a:srgbClr val="4A4A4A"/>
          </a:solidFill>
          <a:ln w="12700">
            <a:solidFill>
              <a:srgbClr val="4A4A4A"/>
            </a:solidFill>
            <a:prstDash val="solid"/>
          </a:ln>
        </p:spPr>
      </p:sp>
      <p:sp>
        <p:nvSpPr>
          <p:cNvPr id="25" name="Text 22"/>
          <p:cNvSpPr txBox="1"/>
          <p:nvPr/>
        </p:nvSpPr>
        <p:spPr>
          <a:xfrm>
            <a:off x="1677924" y="2395728"/>
            <a:ext cx="713232" cy="237744"/>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no present</a:t>
            </a:r>
            <a:endParaRPr lang="en-US" sz="650" dirty="0"/>
          </a:p>
        </p:txBody>
      </p:sp>
      <p:sp>
        <p:nvSpPr>
          <p:cNvPr id="26" name="Shape 23"/>
          <p:cNvSpPr/>
          <p:nvPr/>
        </p:nvSpPr>
        <p:spPr>
          <a:xfrm>
            <a:off x="2702052" y="1051560"/>
            <a:ext cx="2157984" cy="1691640"/>
          </a:xfrm>
          <a:prstGeom prst="roundRect">
            <a:avLst>
              <a:gd name="adj" fmla="val 9730"/>
            </a:avLst>
          </a:prstGeom>
          <a:solidFill>
            <a:srgbClr val="2A2A2A"/>
          </a:solidFill>
          <a:ln w="9525">
            <a:solidFill>
              <a:srgbClr val="4A4A4A"/>
            </a:solidFill>
            <a:prstDash val="solid"/>
          </a:ln>
        </p:spPr>
      </p:sp>
      <p:sp>
        <p:nvSpPr>
          <p:cNvPr id="27" name="Text 24"/>
          <p:cNvSpPr txBox="1"/>
          <p:nvPr/>
        </p:nvSpPr>
        <p:spPr>
          <a:xfrm>
            <a:off x="2884932" y="1207008"/>
            <a:ext cx="1792224"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02 · FLOOR</a:t>
            </a:r>
            <a:endParaRPr lang="en-US" sz="650" dirty="0"/>
          </a:p>
        </p:txBody>
      </p:sp>
      <p:sp>
        <p:nvSpPr>
          <p:cNvPr id="28" name="Text 25"/>
          <p:cNvSpPr txBox="1"/>
          <p:nvPr/>
        </p:nvSpPr>
        <p:spPr>
          <a:xfrm>
            <a:off x="2884932" y="1399032"/>
            <a:ext cx="1792224" cy="274320"/>
          </a:xfrm>
          <a:prstGeom prst="rect">
            <a:avLst/>
          </a:prstGeom>
          <a:noFill/>
          <a:ln/>
        </p:spPr>
        <p:txBody>
          <a:bodyPr wrap="square" lIns="0" tIns="0" rIns="0" bIns="0" rtlCol="0" anchor="t"/>
          <a:lstStyle/>
          <a:p>
            <a:pPr indent="0" marL="0">
              <a:buNone/>
            </a:pPr>
            <a:r>
              <a:rPr lang="en-US" sz="1500" b="1" dirty="0">
                <a:solidFill>
                  <a:srgbClr val="FFFFFF"/>
                </a:solidFill>
                <a:latin typeface="Poppins" pitchFamily="34" charset="0"/>
                <a:ea typeface="Poppins" pitchFamily="34" charset="-122"/>
                <a:cs typeface="Poppins" pitchFamily="34" charset="-120"/>
              </a:rPr>
              <a:t>Persistence</a:t>
            </a:r>
            <a:endParaRPr lang="en-US" sz="1500" dirty="0"/>
          </a:p>
        </p:txBody>
      </p:sp>
      <p:sp>
        <p:nvSpPr>
          <p:cNvPr id="29" name="Text 26"/>
          <p:cNvSpPr txBox="1"/>
          <p:nvPr/>
        </p:nvSpPr>
        <p:spPr>
          <a:xfrm>
            <a:off x="2884932" y="1673352"/>
            <a:ext cx="1792224" cy="475488"/>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The speed stays what it is now. No learning, no memory.</a:t>
            </a:r>
            <a:endParaRPr lang="en-US" sz="800" dirty="0"/>
          </a:p>
        </p:txBody>
      </p:sp>
      <p:sp>
        <p:nvSpPr>
          <p:cNvPr id="30" name="Shape 27"/>
          <p:cNvSpPr/>
          <p:nvPr/>
        </p:nvSpPr>
        <p:spPr>
          <a:xfrm>
            <a:off x="2884932" y="2167128"/>
            <a:ext cx="1792224" cy="0"/>
          </a:xfrm>
          <a:prstGeom prst="line">
            <a:avLst/>
          </a:prstGeom>
          <a:noFill/>
          <a:ln w="6350">
            <a:solidFill>
              <a:srgbClr val="4A4A4A"/>
            </a:solidFill>
            <a:prstDash val="solid"/>
          </a:ln>
        </p:spPr>
      </p:sp>
      <p:sp>
        <p:nvSpPr>
          <p:cNvPr id="31" name="Text 28"/>
          <p:cNvSpPr txBox="1"/>
          <p:nvPr/>
        </p:nvSpPr>
        <p:spPr>
          <a:xfrm>
            <a:off x="2884932"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15</a:t>
            </a:r>
            <a:endParaRPr lang="en-US" sz="600" dirty="0"/>
          </a:p>
        </p:txBody>
      </p:sp>
      <p:sp>
        <p:nvSpPr>
          <p:cNvPr id="32" name="Text 29"/>
          <p:cNvSpPr txBox="1"/>
          <p:nvPr/>
        </p:nvSpPr>
        <p:spPr>
          <a:xfrm>
            <a:off x="3570732"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60</a:t>
            </a:r>
            <a:endParaRPr lang="en-US" sz="600" dirty="0"/>
          </a:p>
        </p:txBody>
      </p:sp>
      <p:sp>
        <p:nvSpPr>
          <p:cNvPr id="33" name="Text 30"/>
          <p:cNvSpPr txBox="1"/>
          <p:nvPr/>
        </p:nvSpPr>
        <p:spPr>
          <a:xfrm>
            <a:off x="2884932"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3.21</a:t>
            </a:r>
            <a:endParaRPr lang="en-US" sz="1200" dirty="0"/>
          </a:p>
        </p:txBody>
      </p:sp>
      <p:sp>
        <p:nvSpPr>
          <p:cNvPr id="34" name="Text 31"/>
          <p:cNvSpPr txBox="1"/>
          <p:nvPr/>
        </p:nvSpPr>
        <p:spPr>
          <a:xfrm>
            <a:off x="3570732"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4.75</a:t>
            </a:r>
            <a:endParaRPr lang="en-US" sz="1200" dirty="0"/>
          </a:p>
        </p:txBody>
      </p:sp>
      <p:sp>
        <p:nvSpPr>
          <p:cNvPr id="35" name="Shape 32"/>
          <p:cNvSpPr/>
          <p:nvPr/>
        </p:nvSpPr>
        <p:spPr>
          <a:xfrm>
            <a:off x="3991356" y="2395728"/>
            <a:ext cx="713232" cy="237744"/>
          </a:xfrm>
          <a:prstGeom prst="roundRect">
            <a:avLst>
              <a:gd name="adj" fmla="val 50000"/>
            </a:avLst>
          </a:prstGeom>
          <a:solidFill>
            <a:srgbClr val="4A4A4A"/>
          </a:solidFill>
          <a:ln w="12700">
            <a:solidFill>
              <a:srgbClr val="4A4A4A"/>
            </a:solidFill>
            <a:prstDash val="solid"/>
          </a:ln>
        </p:spPr>
      </p:sp>
      <p:sp>
        <p:nvSpPr>
          <p:cNvPr id="36" name="Text 33"/>
          <p:cNvSpPr txBox="1"/>
          <p:nvPr/>
        </p:nvSpPr>
        <p:spPr>
          <a:xfrm>
            <a:off x="3991356" y="2395728"/>
            <a:ext cx="713232" cy="237744"/>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no memory</a:t>
            </a:r>
            <a:endParaRPr lang="en-US" sz="650" dirty="0"/>
          </a:p>
        </p:txBody>
      </p:sp>
      <p:sp>
        <p:nvSpPr>
          <p:cNvPr id="37" name="Shape 34"/>
          <p:cNvSpPr/>
          <p:nvPr/>
        </p:nvSpPr>
        <p:spPr>
          <a:xfrm>
            <a:off x="5015484" y="1051560"/>
            <a:ext cx="2157984" cy="1691640"/>
          </a:xfrm>
          <a:prstGeom prst="roundRect">
            <a:avLst>
              <a:gd name="adj" fmla="val 9730"/>
            </a:avLst>
          </a:prstGeom>
          <a:solidFill>
            <a:srgbClr val="2A2A2A"/>
          </a:solidFill>
          <a:ln w="9525">
            <a:solidFill>
              <a:srgbClr val="4A4A4A"/>
            </a:solidFill>
            <a:prstDash val="solid"/>
          </a:ln>
        </p:spPr>
      </p:sp>
      <p:sp>
        <p:nvSpPr>
          <p:cNvPr id="38" name="Text 35"/>
          <p:cNvSpPr txBox="1"/>
          <p:nvPr/>
        </p:nvSpPr>
        <p:spPr>
          <a:xfrm>
            <a:off x="5198364" y="1207008"/>
            <a:ext cx="1792224"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03 · LINEAR</a:t>
            </a:r>
            <a:endParaRPr lang="en-US" sz="650" dirty="0"/>
          </a:p>
        </p:txBody>
      </p:sp>
      <p:sp>
        <p:nvSpPr>
          <p:cNvPr id="39" name="Text 36"/>
          <p:cNvSpPr txBox="1"/>
          <p:nvPr/>
        </p:nvSpPr>
        <p:spPr>
          <a:xfrm>
            <a:off x="5198364" y="1399032"/>
            <a:ext cx="1792224" cy="274320"/>
          </a:xfrm>
          <a:prstGeom prst="rect">
            <a:avLst/>
          </a:prstGeom>
          <a:noFill/>
          <a:ln/>
        </p:spPr>
        <p:txBody>
          <a:bodyPr wrap="square" lIns="0" tIns="0" rIns="0" bIns="0" rtlCol="0" anchor="t"/>
          <a:lstStyle/>
          <a:p>
            <a:pPr indent="0" marL="0">
              <a:buNone/>
            </a:pPr>
            <a:r>
              <a:rPr lang="en-US" sz="1500" b="1" dirty="0">
                <a:solidFill>
                  <a:srgbClr val="FFFFFF"/>
                </a:solidFill>
                <a:latin typeface="Poppins" pitchFamily="34" charset="0"/>
                <a:ea typeface="Poppins" pitchFamily="34" charset="-122"/>
                <a:cs typeface="Poppins" pitchFamily="34" charset="-120"/>
              </a:rPr>
              <a:t>Ridge</a:t>
            </a:r>
            <a:endParaRPr lang="en-US" sz="1500" dirty="0"/>
          </a:p>
        </p:txBody>
      </p:sp>
      <p:sp>
        <p:nvSpPr>
          <p:cNvPr id="40" name="Text 37"/>
          <p:cNvSpPr txBox="1"/>
          <p:nvPr/>
        </p:nvSpPr>
        <p:spPr>
          <a:xfrm>
            <a:off x="5198364" y="1673352"/>
            <a:ext cx="1792224" cy="475488"/>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A weighted sum of the 26 inputs. Is a straight line enough?</a:t>
            </a:r>
            <a:endParaRPr lang="en-US" sz="800" dirty="0"/>
          </a:p>
        </p:txBody>
      </p:sp>
      <p:sp>
        <p:nvSpPr>
          <p:cNvPr id="41" name="Shape 38"/>
          <p:cNvSpPr/>
          <p:nvPr/>
        </p:nvSpPr>
        <p:spPr>
          <a:xfrm>
            <a:off x="5198364" y="2167128"/>
            <a:ext cx="1792224" cy="0"/>
          </a:xfrm>
          <a:prstGeom prst="line">
            <a:avLst/>
          </a:prstGeom>
          <a:noFill/>
          <a:ln w="6350">
            <a:solidFill>
              <a:srgbClr val="4A4A4A"/>
            </a:solidFill>
            <a:prstDash val="solid"/>
          </a:ln>
        </p:spPr>
      </p:sp>
      <p:sp>
        <p:nvSpPr>
          <p:cNvPr id="42" name="Text 39"/>
          <p:cNvSpPr txBox="1"/>
          <p:nvPr/>
        </p:nvSpPr>
        <p:spPr>
          <a:xfrm>
            <a:off x="5198364"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15</a:t>
            </a:r>
            <a:endParaRPr lang="en-US" sz="600" dirty="0"/>
          </a:p>
        </p:txBody>
      </p:sp>
      <p:sp>
        <p:nvSpPr>
          <p:cNvPr id="43" name="Text 40"/>
          <p:cNvSpPr txBox="1"/>
          <p:nvPr/>
        </p:nvSpPr>
        <p:spPr>
          <a:xfrm>
            <a:off x="5884164"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60</a:t>
            </a:r>
            <a:endParaRPr lang="en-US" sz="600" dirty="0"/>
          </a:p>
        </p:txBody>
      </p:sp>
      <p:sp>
        <p:nvSpPr>
          <p:cNvPr id="44" name="Text 41"/>
          <p:cNvSpPr txBox="1"/>
          <p:nvPr/>
        </p:nvSpPr>
        <p:spPr>
          <a:xfrm>
            <a:off x="5198364"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3.10</a:t>
            </a:r>
            <a:endParaRPr lang="en-US" sz="1200" dirty="0"/>
          </a:p>
        </p:txBody>
      </p:sp>
      <p:sp>
        <p:nvSpPr>
          <p:cNvPr id="45" name="Text 42"/>
          <p:cNvSpPr txBox="1"/>
          <p:nvPr/>
        </p:nvSpPr>
        <p:spPr>
          <a:xfrm>
            <a:off x="5884164"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4.87</a:t>
            </a:r>
            <a:endParaRPr lang="en-US" sz="1200" dirty="0"/>
          </a:p>
        </p:txBody>
      </p:sp>
      <p:sp>
        <p:nvSpPr>
          <p:cNvPr id="46" name="Shape 43"/>
          <p:cNvSpPr/>
          <p:nvPr/>
        </p:nvSpPr>
        <p:spPr>
          <a:xfrm>
            <a:off x="6304788" y="2395728"/>
            <a:ext cx="713232" cy="237744"/>
          </a:xfrm>
          <a:prstGeom prst="roundRect">
            <a:avLst>
              <a:gd name="adj" fmla="val 50000"/>
            </a:avLst>
          </a:prstGeom>
          <a:solidFill>
            <a:srgbClr val="4A4A4A"/>
          </a:solidFill>
          <a:ln w="12700">
            <a:solidFill>
              <a:srgbClr val="4A4A4A"/>
            </a:solidFill>
            <a:prstDash val="solid"/>
          </a:ln>
        </p:spPr>
      </p:sp>
      <p:sp>
        <p:nvSpPr>
          <p:cNvPr id="47" name="Text 44"/>
          <p:cNvSpPr txBox="1"/>
          <p:nvPr/>
        </p:nvSpPr>
        <p:spPr>
          <a:xfrm>
            <a:off x="6304788" y="2395728"/>
            <a:ext cx="713232" cy="237744"/>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straight lines</a:t>
            </a:r>
            <a:endParaRPr lang="en-US" sz="650" dirty="0"/>
          </a:p>
        </p:txBody>
      </p:sp>
      <p:sp>
        <p:nvSpPr>
          <p:cNvPr id="48" name="Shape 45"/>
          <p:cNvSpPr/>
          <p:nvPr/>
        </p:nvSpPr>
        <p:spPr>
          <a:xfrm>
            <a:off x="7328916" y="1051560"/>
            <a:ext cx="2157984" cy="1691640"/>
          </a:xfrm>
          <a:prstGeom prst="roundRect">
            <a:avLst>
              <a:gd name="adj" fmla="val 9730"/>
            </a:avLst>
          </a:prstGeom>
          <a:solidFill>
            <a:srgbClr val="F4F4F4"/>
          </a:solidFill>
          <a:ln w="9525">
            <a:solidFill>
              <a:srgbClr val="F4F4F4"/>
            </a:solidFill>
            <a:prstDash val="solid"/>
          </a:ln>
        </p:spPr>
      </p:sp>
      <p:sp>
        <p:nvSpPr>
          <p:cNvPr id="49" name="Text 46"/>
          <p:cNvSpPr txBox="1"/>
          <p:nvPr/>
        </p:nvSpPr>
        <p:spPr>
          <a:xfrm>
            <a:off x="7511796" y="1207008"/>
            <a:ext cx="1792224" cy="201168"/>
          </a:xfrm>
          <a:prstGeom prst="rect">
            <a:avLst/>
          </a:prstGeom>
          <a:noFill/>
          <a:ln/>
        </p:spPr>
        <p:txBody>
          <a:bodyPr wrap="square" lIns="0" tIns="0" rIns="0" bIns="0" rtlCol="0" anchor="t"/>
          <a:lstStyle/>
          <a:p>
            <a:pPr indent="0" marL="0">
              <a:buNone/>
            </a:pPr>
            <a:r>
              <a:rPr lang="en-US" sz="650" b="1" spc="160" kern="0" dirty="0">
                <a:solidFill>
                  <a:srgbClr val="6B6B6B"/>
                </a:solidFill>
                <a:latin typeface="Poppins" pitchFamily="34" charset="0"/>
                <a:ea typeface="Poppins" pitchFamily="34" charset="-122"/>
                <a:cs typeface="Poppins" pitchFamily="34" charset="-120"/>
              </a:rPr>
              <a:t>04 · MAIN MODEL</a:t>
            </a:r>
            <a:endParaRPr lang="en-US" sz="650" dirty="0"/>
          </a:p>
        </p:txBody>
      </p:sp>
      <p:sp>
        <p:nvSpPr>
          <p:cNvPr id="50" name="Text 47"/>
          <p:cNvSpPr txBox="1"/>
          <p:nvPr/>
        </p:nvSpPr>
        <p:spPr>
          <a:xfrm>
            <a:off x="7511796" y="1399032"/>
            <a:ext cx="1792224" cy="274320"/>
          </a:xfrm>
          <a:prstGeom prst="rect">
            <a:avLst/>
          </a:prstGeom>
          <a:noFill/>
          <a:ln/>
        </p:spPr>
        <p:txBody>
          <a:bodyPr wrap="square" lIns="0" tIns="0" rIns="0" bIns="0" rtlCol="0" anchor="t"/>
          <a:lstStyle/>
          <a:p>
            <a:pPr indent="0" marL="0">
              <a:buNone/>
            </a:pPr>
            <a:r>
              <a:rPr lang="en-US" sz="1500" b="1" dirty="0">
                <a:solidFill>
                  <a:srgbClr val="1A1A1A"/>
                </a:solidFill>
                <a:latin typeface="Poppins" pitchFamily="34" charset="0"/>
                <a:ea typeface="Poppins" pitchFamily="34" charset="-122"/>
                <a:cs typeface="Poppins" pitchFamily="34" charset="-120"/>
              </a:rPr>
              <a:t>XGBoost</a:t>
            </a:r>
            <a:endParaRPr lang="en-US" sz="1500" dirty="0"/>
          </a:p>
        </p:txBody>
      </p:sp>
      <p:sp>
        <p:nvSpPr>
          <p:cNvPr id="51" name="Text 48"/>
          <p:cNvSpPr txBox="1"/>
          <p:nvPr/>
        </p:nvSpPr>
        <p:spPr>
          <a:xfrm>
            <a:off x="7511796" y="1673352"/>
            <a:ext cx="1792224" cy="475488"/>
          </a:xfrm>
          <a:prstGeom prst="rect">
            <a:avLst/>
          </a:prstGeom>
          <a:noFill/>
          <a:ln/>
        </p:spPr>
        <p:txBody>
          <a:bodyPr wrap="square" lIns="0" tIns="0" rIns="0" bIns="0" rtlCol="0" anchor="t"/>
          <a:lstStyle/>
          <a:p>
            <a:pPr indent="0" marL="0">
              <a:buNone/>
            </a:pPr>
            <a:r>
              <a:rPr lang="en-US" sz="800" dirty="0">
                <a:solidFill>
                  <a:srgbClr val="6B6B6B"/>
                </a:solidFill>
                <a:latin typeface="Poppins" pitchFamily="34" charset="0"/>
                <a:ea typeface="Poppins" pitchFamily="34" charset="-122"/>
                <a:cs typeface="Poppins" pitchFamily="34" charset="-120"/>
              </a:rPr>
              <a:t>Trees built one after another, each fixing the last one's mistakes. 621 models.</a:t>
            </a:r>
            <a:endParaRPr lang="en-US" sz="800" dirty="0"/>
          </a:p>
        </p:txBody>
      </p:sp>
      <p:sp>
        <p:nvSpPr>
          <p:cNvPr id="52" name="Shape 49"/>
          <p:cNvSpPr/>
          <p:nvPr/>
        </p:nvSpPr>
        <p:spPr>
          <a:xfrm>
            <a:off x="7511796" y="2167128"/>
            <a:ext cx="1792224" cy="0"/>
          </a:xfrm>
          <a:prstGeom prst="line">
            <a:avLst/>
          </a:prstGeom>
          <a:noFill/>
          <a:ln w="6350">
            <a:solidFill>
              <a:srgbClr val="D9D9D9"/>
            </a:solidFill>
            <a:prstDash val="solid"/>
          </a:ln>
        </p:spPr>
      </p:sp>
      <p:sp>
        <p:nvSpPr>
          <p:cNvPr id="53" name="Text 50"/>
          <p:cNvSpPr txBox="1"/>
          <p:nvPr/>
        </p:nvSpPr>
        <p:spPr>
          <a:xfrm>
            <a:off x="7511796" y="2240280"/>
            <a:ext cx="685800" cy="201168"/>
          </a:xfrm>
          <a:prstGeom prst="rect">
            <a:avLst/>
          </a:prstGeom>
          <a:noFill/>
          <a:ln/>
        </p:spPr>
        <p:txBody>
          <a:bodyPr wrap="square" lIns="0" tIns="0" rIns="0" bIns="0" rtlCol="0" anchor="t"/>
          <a:lstStyle/>
          <a:p>
            <a:pPr indent="0" marL="0">
              <a:buNone/>
            </a:pPr>
            <a:r>
              <a:rPr lang="en-US" sz="600" b="1" spc="160" kern="0" dirty="0">
                <a:solidFill>
                  <a:srgbClr val="6B6B6B"/>
                </a:solidFill>
                <a:latin typeface="Poppins" pitchFamily="34" charset="0"/>
                <a:ea typeface="Poppins" pitchFamily="34" charset="-122"/>
                <a:cs typeface="Poppins" pitchFamily="34" charset="-120"/>
              </a:rPr>
              <a:t>VAL MAE 15</a:t>
            </a:r>
            <a:endParaRPr lang="en-US" sz="600" dirty="0"/>
          </a:p>
        </p:txBody>
      </p:sp>
      <p:sp>
        <p:nvSpPr>
          <p:cNvPr id="54" name="Text 51"/>
          <p:cNvSpPr txBox="1"/>
          <p:nvPr/>
        </p:nvSpPr>
        <p:spPr>
          <a:xfrm>
            <a:off x="8197596" y="2240280"/>
            <a:ext cx="685800" cy="201168"/>
          </a:xfrm>
          <a:prstGeom prst="rect">
            <a:avLst/>
          </a:prstGeom>
          <a:noFill/>
          <a:ln/>
        </p:spPr>
        <p:txBody>
          <a:bodyPr wrap="square" lIns="0" tIns="0" rIns="0" bIns="0" rtlCol="0" anchor="t"/>
          <a:lstStyle/>
          <a:p>
            <a:pPr indent="0" marL="0">
              <a:buNone/>
            </a:pPr>
            <a:r>
              <a:rPr lang="en-US" sz="600" b="1" spc="160" kern="0" dirty="0">
                <a:solidFill>
                  <a:srgbClr val="6B6B6B"/>
                </a:solidFill>
                <a:latin typeface="Poppins" pitchFamily="34" charset="0"/>
                <a:ea typeface="Poppins" pitchFamily="34" charset="-122"/>
                <a:cs typeface="Poppins" pitchFamily="34" charset="-120"/>
              </a:rPr>
              <a:t>VAL MAE 60</a:t>
            </a:r>
            <a:endParaRPr lang="en-US" sz="600" dirty="0"/>
          </a:p>
        </p:txBody>
      </p:sp>
      <p:sp>
        <p:nvSpPr>
          <p:cNvPr id="55" name="Text 52"/>
          <p:cNvSpPr txBox="1"/>
          <p:nvPr/>
        </p:nvSpPr>
        <p:spPr>
          <a:xfrm>
            <a:off x="7511796" y="2395728"/>
            <a:ext cx="548640" cy="256032"/>
          </a:xfrm>
          <a:prstGeom prst="rect">
            <a:avLst/>
          </a:prstGeom>
          <a:noFill/>
          <a:ln/>
        </p:spPr>
        <p:txBody>
          <a:bodyPr wrap="square" lIns="0" tIns="0" rIns="0" bIns="0" rtlCol="0" anchor="t"/>
          <a:lstStyle/>
          <a:p>
            <a:pPr indent="0" marL="0">
              <a:buNone/>
            </a:pPr>
            <a:r>
              <a:rPr lang="en-US" sz="1200" b="1" dirty="0">
                <a:solidFill>
                  <a:srgbClr val="1A1A1A"/>
                </a:solidFill>
                <a:latin typeface="Poppins" pitchFamily="34" charset="0"/>
                <a:ea typeface="Poppins" pitchFamily="34" charset="-122"/>
                <a:cs typeface="Poppins" pitchFamily="34" charset="-120"/>
              </a:rPr>
              <a:t>2.70</a:t>
            </a:r>
            <a:endParaRPr lang="en-US" sz="1200" dirty="0"/>
          </a:p>
        </p:txBody>
      </p:sp>
      <p:sp>
        <p:nvSpPr>
          <p:cNvPr id="56" name="Text 53"/>
          <p:cNvSpPr txBox="1"/>
          <p:nvPr/>
        </p:nvSpPr>
        <p:spPr>
          <a:xfrm>
            <a:off x="8197596" y="2395728"/>
            <a:ext cx="548640" cy="256032"/>
          </a:xfrm>
          <a:prstGeom prst="rect">
            <a:avLst/>
          </a:prstGeom>
          <a:noFill/>
          <a:ln/>
        </p:spPr>
        <p:txBody>
          <a:bodyPr wrap="square" lIns="0" tIns="0" rIns="0" bIns="0" rtlCol="0" anchor="t"/>
          <a:lstStyle/>
          <a:p>
            <a:pPr indent="0" marL="0">
              <a:buNone/>
            </a:pPr>
            <a:r>
              <a:rPr lang="en-US" sz="1200" b="1" dirty="0">
                <a:solidFill>
                  <a:srgbClr val="1A1A1A"/>
                </a:solidFill>
                <a:latin typeface="Poppins" pitchFamily="34" charset="0"/>
                <a:ea typeface="Poppins" pitchFamily="34" charset="-122"/>
                <a:cs typeface="Poppins" pitchFamily="34" charset="-120"/>
              </a:rPr>
              <a:t>3.63</a:t>
            </a:r>
            <a:endParaRPr lang="en-US" sz="1200" dirty="0"/>
          </a:p>
        </p:txBody>
      </p:sp>
      <p:sp>
        <p:nvSpPr>
          <p:cNvPr id="57" name="Shape 54"/>
          <p:cNvSpPr/>
          <p:nvPr/>
        </p:nvSpPr>
        <p:spPr>
          <a:xfrm>
            <a:off x="8618220" y="2395728"/>
            <a:ext cx="713232" cy="237744"/>
          </a:xfrm>
          <a:prstGeom prst="roundRect">
            <a:avLst>
              <a:gd name="adj" fmla="val 50000"/>
            </a:avLst>
          </a:prstGeom>
          <a:solidFill>
            <a:srgbClr val="1A1A1A"/>
          </a:solidFill>
          <a:ln w="12700">
            <a:solidFill>
              <a:srgbClr val="1A1A1A"/>
            </a:solidFill>
            <a:prstDash val="solid"/>
          </a:ln>
        </p:spPr>
      </p:sp>
      <p:sp>
        <p:nvSpPr>
          <p:cNvPr id="58" name="Text 55"/>
          <p:cNvSpPr txBox="1"/>
          <p:nvPr/>
        </p:nvSpPr>
        <p:spPr>
          <a:xfrm>
            <a:off x="8618220" y="2395728"/>
            <a:ext cx="713232" cy="237744"/>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best → test</a:t>
            </a:r>
            <a:endParaRPr lang="en-US" sz="650" dirty="0"/>
          </a:p>
        </p:txBody>
      </p:sp>
      <p:sp>
        <p:nvSpPr>
          <p:cNvPr id="59" name="Shape 56"/>
          <p:cNvSpPr/>
          <p:nvPr/>
        </p:nvSpPr>
        <p:spPr>
          <a:xfrm>
            <a:off x="9642348" y="1051560"/>
            <a:ext cx="2157984" cy="1691640"/>
          </a:xfrm>
          <a:prstGeom prst="roundRect">
            <a:avLst>
              <a:gd name="adj" fmla="val 9730"/>
            </a:avLst>
          </a:prstGeom>
          <a:solidFill>
            <a:srgbClr val="2A2A2A"/>
          </a:solidFill>
          <a:ln w="9525">
            <a:solidFill>
              <a:srgbClr val="4A4A4A"/>
            </a:solidFill>
            <a:prstDash val="solid"/>
          </a:ln>
        </p:spPr>
      </p:sp>
      <p:sp>
        <p:nvSpPr>
          <p:cNvPr id="60" name="Text 57"/>
          <p:cNvSpPr txBox="1"/>
          <p:nvPr/>
        </p:nvSpPr>
        <p:spPr>
          <a:xfrm>
            <a:off x="9825228" y="1207008"/>
            <a:ext cx="1792224"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05 · CROSS-CHECK</a:t>
            </a:r>
            <a:endParaRPr lang="en-US" sz="650" dirty="0"/>
          </a:p>
        </p:txBody>
      </p:sp>
      <p:sp>
        <p:nvSpPr>
          <p:cNvPr id="61" name="Text 58"/>
          <p:cNvSpPr txBox="1"/>
          <p:nvPr/>
        </p:nvSpPr>
        <p:spPr>
          <a:xfrm>
            <a:off x="9825228" y="1399032"/>
            <a:ext cx="1792224" cy="274320"/>
          </a:xfrm>
          <a:prstGeom prst="rect">
            <a:avLst/>
          </a:prstGeom>
          <a:noFill/>
          <a:ln/>
        </p:spPr>
        <p:txBody>
          <a:bodyPr wrap="square" lIns="0" tIns="0" rIns="0" bIns="0" rtlCol="0" anchor="t"/>
          <a:lstStyle/>
          <a:p>
            <a:pPr indent="0" marL="0">
              <a:buNone/>
            </a:pPr>
            <a:r>
              <a:rPr lang="en-US" sz="1500" b="1" dirty="0">
                <a:solidFill>
                  <a:srgbClr val="FFFFFF"/>
                </a:solidFill>
                <a:latin typeface="Poppins" pitchFamily="34" charset="0"/>
                <a:ea typeface="Poppins" pitchFamily="34" charset="-122"/>
                <a:cs typeface="Poppins" pitchFamily="34" charset="-120"/>
              </a:rPr>
              <a:t>Random Forest</a:t>
            </a:r>
            <a:endParaRPr lang="en-US" sz="1500" dirty="0"/>
          </a:p>
        </p:txBody>
      </p:sp>
      <p:sp>
        <p:nvSpPr>
          <p:cNvPr id="62" name="Text 59"/>
          <p:cNvSpPr txBox="1"/>
          <p:nvPr/>
        </p:nvSpPr>
        <p:spPr>
          <a:xfrm>
            <a:off x="9825228" y="1673352"/>
            <a:ext cx="1792224" cy="475488"/>
          </a:xfrm>
          <a:prstGeom prst="rect">
            <a:avLst/>
          </a:prstGeom>
          <a:noFill/>
          <a:ln/>
        </p:spPr>
        <p:txBody>
          <a:bodyPr wrap="square" lIns="0" tIns="0" rIns="0" bIns="0" rtlCol="0" anchor="t"/>
          <a:lstStyle/>
          <a:p>
            <a:pPr indent="0" marL="0">
              <a:buNone/>
            </a:pPr>
            <a:r>
              <a:rPr lang="en-US" sz="800" dirty="0">
                <a:solidFill>
                  <a:srgbClr val="A3A3A3"/>
                </a:solidFill>
                <a:latin typeface="Poppins" pitchFamily="34" charset="0"/>
                <a:ea typeface="Poppins" pitchFamily="34" charset="-122"/>
                <a:cs typeface="Poppins" pitchFamily="34" charset="-120"/>
              </a:rPr>
              <a:t>100 trees averaged; one forest predicts all three horizons.</a:t>
            </a:r>
            <a:endParaRPr lang="en-US" sz="800" dirty="0"/>
          </a:p>
        </p:txBody>
      </p:sp>
      <p:sp>
        <p:nvSpPr>
          <p:cNvPr id="63" name="Shape 60"/>
          <p:cNvSpPr/>
          <p:nvPr/>
        </p:nvSpPr>
        <p:spPr>
          <a:xfrm>
            <a:off x="9825228" y="2167128"/>
            <a:ext cx="1792224" cy="0"/>
          </a:xfrm>
          <a:prstGeom prst="line">
            <a:avLst/>
          </a:prstGeom>
          <a:noFill/>
          <a:ln w="6350">
            <a:solidFill>
              <a:srgbClr val="4A4A4A"/>
            </a:solidFill>
            <a:prstDash val="solid"/>
          </a:ln>
        </p:spPr>
      </p:sp>
      <p:sp>
        <p:nvSpPr>
          <p:cNvPr id="64" name="Text 61"/>
          <p:cNvSpPr txBox="1"/>
          <p:nvPr/>
        </p:nvSpPr>
        <p:spPr>
          <a:xfrm>
            <a:off x="9825228"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15</a:t>
            </a:r>
            <a:endParaRPr lang="en-US" sz="600" dirty="0"/>
          </a:p>
        </p:txBody>
      </p:sp>
      <p:sp>
        <p:nvSpPr>
          <p:cNvPr id="65" name="Text 62"/>
          <p:cNvSpPr txBox="1"/>
          <p:nvPr/>
        </p:nvSpPr>
        <p:spPr>
          <a:xfrm>
            <a:off x="10511028" y="2240280"/>
            <a:ext cx="685800" cy="201168"/>
          </a:xfrm>
          <a:prstGeom prst="rect">
            <a:avLst/>
          </a:prstGeom>
          <a:noFill/>
          <a:ln/>
        </p:spPr>
        <p:txBody>
          <a:bodyPr wrap="square" lIns="0" tIns="0" rIns="0" bIns="0" rtlCol="0" anchor="t"/>
          <a:lstStyle/>
          <a:p>
            <a:pPr indent="0" marL="0">
              <a:buNone/>
            </a:pPr>
            <a:r>
              <a:rPr lang="en-US" sz="600" b="1" spc="160" kern="0" dirty="0">
                <a:solidFill>
                  <a:srgbClr val="A3A3A3"/>
                </a:solidFill>
                <a:latin typeface="Poppins" pitchFamily="34" charset="0"/>
                <a:ea typeface="Poppins" pitchFamily="34" charset="-122"/>
                <a:cs typeface="Poppins" pitchFamily="34" charset="-120"/>
              </a:rPr>
              <a:t>VAL MAE 60</a:t>
            </a:r>
            <a:endParaRPr lang="en-US" sz="600" dirty="0"/>
          </a:p>
        </p:txBody>
      </p:sp>
      <p:sp>
        <p:nvSpPr>
          <p:cNvPr id="66" name="Text 63"/>
          <p:cNvSpPr txBox="1"/>
          <p:nvPr/>
        </p:nvSpPr>
        <p:spPr>
          <a:xfrm>
            <a:off x="9825228"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2.73</a:t>
            </a:r>
            <a:endParaRPr lang="en-US" sz="1200" dirty="0"/>
          </a:p>
        </p:txBody>
      </p:sp>
      <p:sp>
        <p:nvSpPr>
          <p:cNvPr id="67" name="Text 64"/>
          <p:cNvSpPr txBox="1"/>
          <p:nvPr/>
        </p:nvSpPr>
        <p:spPr>
          <a:xfrm>
            <a:off x="10511028" y="2395728"/>
            <a:ext cx="548640" cy="256032"/>
          </a:xfrm>
          <a:prstGeom prst="rect">
            <a:avLst/>
          </a:prstGeom>
          <a:noFill/>
          <a:ln/>
        </p:spPr>
        <p:txBody>
          <a:bodyPr wrap="square" lIns="0" tIns="0" rIns="0" bIns="0" rtlCol="0" anchor="t"/>
          <a:lstStyle/>
          <a:p>
            <a:pPr indent="0" marL="0">
              <a:buNone/>
            </a:pPr>
            <a:r>
              <a:rPr lang="en-US" sz="1200" b="1" dirty="0">
                <a:solidFill>
                  <a:srgbClr val="FFFFFF"/>
                </a:solidFill>
                <a:latin typeface="Poppins" pitchFamily="34" charset="0"/>
                <a:ea typeface="Poppins" pitchFamily="34" charset="-122"/>
                <a:cs typeface="Poppins" pitchFamily="34" charset="-120"/>
              </a:rPr>
              <a:t>3.69</a:t>
            </a:r>
            <a:endParaRPr lang="en-US" sz="1200" dirty="0"/>
          </a:p>
        </p:txBody>
      </p:sp>
      <p:sp>
        <p:nvSpPr>
          <p:cNvPr id="68" name="Shape 65"/>
          <p:cNvSpPr/>
          <p:nvPr/>
        </p:nvSpPr>
        <p:spPr>
          <a:xfrm>
            <a:off x="10931652" y="2395728"/>
            <a:ext cx="713232" cy="237744"/>
          </a:xfrm>
          <a:prstGeom prst="roundRect">
            <a:avLst>
              <a:gd name="adj" fmla="val 50000"/>
            </a:avLst>
          </a:prstGeom>
          <a:solidFill>
            <a:srgbClr val="4A4A4A"/>
          </a:solidFill>
          <a:ln w="12700">
            <a:solidFill>
              <a:srgbClr val="4A4A4A"/>
            </a:solidFill>
            <a:prstDash val="solid"/>
          </a:ln>
        </p:spPr>
      </p:sp>
      <p:sp>
        <p:nvSpPr>
          <p:cNvPr id="69" name="Text 66"/>
          <p:cNvSpPr txBox="1"/>
          <p:nvPr/>
        </p:nvSpPr>
        <p:spPr>
          <a:xfrm>
            <a:off x="10931652" y="2395728"/>
            <a:ext cx="713232" cy="237744"/>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a tie</a:t>
            </a:r>
            <a:endParaRPr lang="en-US" sz="650" dirty="0"/>
          </a:p>
        </p:txBody>
      </p:sp>
      <p:sp>
        <p:nvSpPr>
          <p:cNvPr id="70" name="headline"/>
          <p:cNvSpPr txBox="1"/>
          <p:nvPr/>
        </p:nvSpPr>
        <p:spPr>
          <a:xfrm>
            <a:off x="658368" y="3337560"/>
            <a:ext cx="4754880" cy="1626616"/>
          </a:xfrm>
          <a:prstGeom prst="rect">
            <a:avLst/>
          </a:prstGeom>
          <a:noFill/>
          <a:ln/>
        </p:spPr>
        <p:txBody>
          <a:bodyPr wrap="square" lIns="0" tIns="0" rIns="0" bIns="0" rtlCol="0" anchor="t"/>
          <a:lstStyle/>
          <a:p>
            <a:pPr algn="l" indent="0" marL="0">
              <a:lnSpc>
                <a:spcPct val="86000"/>
              </a:lnSpc>
              <a:buNone/>
            </a:pPr>
            <a:r>
              <a:rPr lang="en-US" sz="5800" b="1" dirty="0">
                <a:solidFill>
                  <a:srgbClr val="1A1A1A"/>
                </a:solidFill>
                <a:latin typeface="Poppins" pitchFamily="34" charset="0"/>
                <a:ea typeface="Poppins" pitchFamily="34" charset="-122"/>
                <a:cs typeface="Poppins" pitchFamily="34" charset="-120"/>
              </a:rPr>
              <a:t>THE</a:t>
            </a:r>
            <a:endParaRPr lang="en-US" sz="5800" dirty="0"/>
          </a:p>
          <a:p>
            <a:pPr algn="l" indent="0" marL="0">
              <a:lnSpc>
                <a:spcPct val="86000"/>
              </a:lnSpc>
              <a:buNone/>
            </a:pPr>
            <a:r>
              <a:rPr lang="en-US" sz="5800" b="1" dirty="0">
                <a:solidFill>
                  <a:srgbClr val="1A1A1A"/>
                </a:solidFill>
                <a:latin typeface="Poppins" pitchFamily="34" charset="0"/>
                <a:ea typeface="Poppins" pitchFamily="34" charset="-122"/>
                <a:cs typeface="Poppins" pitchFamily="34" charset="-120"/>
              </a:rPr>
              <a:t>MODELS</a:t>
            </a:r>
            <a:endParaRPr lang="en-US" sz="5800" dirty="0"/>
          </a:p>
        </p:txBody>
      </p:sp>
      <p:sp>
        <p:nvSpPr>
          <p:cNvPr id="71" name="Text 68"/>
          <p:cNvSpPr txBox="1"/>
          <p:nvPr/>
        </p:nvSpPr>
        <p:spPr>
          <a:xfrm>
            <a:off x="5760720" y="3429000"/>
            <a:ext cx="5852160" cy="868680"/>
          </a:xfrm>
          <a:prstGeom prst="rect">
            <a:avLst/>
          </a:prstGeom>
          <a:noFill/>
          <a:ln/>
        </p:spPr>
        <p:txBody>
          <a:bodyPr wrap="square" lIns="0" tIns="0" rIns="0" bIns="0" rtlCol="0" anchor="t"/>
          <a:lstStyle/>
          <a:p>
            <a:pPr indent="0" marL="0">
              <a:buNone/>
            </a:pPr>
            <a:r>
              <a:rPr lang="en-US" sz="950" dirty="0">
                <a:solidFill>
                  <a:srgbClr val="3A3A3A"/>
                </a:solidFill>
                <a:latin typeface="Poppins" pitchFamily="34" charset="0"/>
                <a:ea typeface="Poppins" pitchFamily="34" charset="-122"/>
                <a:cs typeface="Poppins" pitchFamily="34" charset="-120"/>
              </a:rPr>
              <a:t>Validation weeks only (23 May – 4 June), never the test set; MAE in mph at 15 and 60 minutes ahead. Each model answers one question, from a no-learning rule to boosted trees. One model per sensor; XGBoost one per sensor and horizon — 621 in all, about 12 minutes on two CPU cores.</a:t>
            </a:r>
            <a:endParaRPr lang="en-US" sz="950" dirty="0"/>
          </a:p>
        </p:txBody>
      </p:sp>
      <p:sp>
        <p:nvSpPr>
          <p:cNvPr id="72" name="Text 69"/>
          <p:cNvSpPr txBox="1"/>
          <p:nvPr/>
        </p:nvSpPr>
        <p:spPr>
          <a:xfrm>
            <a:off x="5760720" y="4389120"/>
            <a:ext cx="585216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Why XGBoost</a:t>
            </a:r>
            <a:endParaRPr lang="en-US" sz="1100" dirty="0"/>
          </a:p>
        </p:txBody>
      </p:sp>
      <p:sp>
        <p:nvSpPr>
          <p:cNvPr id="73" name="Text 70"/>
          <p:cNvSpPr txBox="1"/>
          <p:nvPr/>
        </p:nvSpPr>
        <p:spPr>
          <a:xfrm>
            <a:off x="5760720" y="4636008"/>
            <a:ext cx="5852160" cy="731520"/>
          </a:xfrm>
          <a:prstGeom prst="rect">
            <a:avLst/>
          </a:prstGeom>
          <a:noFill/>
          <a:ln/>
        </p:spPr>
        <p:txBody>
          <a:bodyPr wrap="square" lIns="0" tIns="0" rIns="0" bIns="0" rtlCol="0" anchor="t"/>
          <a:lstStyle/>
          <a:p>
            <a:pPr indent="0" marL="0">
              <a:buNone/>
            </a:pPr>
            <a:r>
              <a:rPr lang="en-US" sz="900" dirty="0">
                <a:solidFill>
                  <a:srgbClr val="6B6B6B"/>
                </a:solidFill>
                <a:latin typeface="Poppins" pitchFamily="34" charset="0"/>
                <a:ea typeface="Poppins" pitchFamily="34" charset="-122"/>
                <a:cs typeface="Poppins" pitchFamily="34" charset="-120"/>
              </a:rPr>
              <a:t>Trees combine clues ("5 pm and speed dropping and the sensor ahead is slow"), which a straight line cannot: it beats Ridge by 22% at 60 min. It accepts unknown inputs, so the outages need no filling. It stops adding trees when the validation error stops improving — about 130 of the 600 allowed.</a:t>
            </a:r>
            <a:endParaRPr lang="en-US" sz="900" dirty="0"/>
          </a:p>
        </p:txBody>
      </p:sp>
      <p:sp>
        <p:nvSpPr>
          <p:cNvPr id="74" name="Text 71"/>
          <p:cNvSpPr txBox="1"/>
          <p:nvPr/>
        </p:nvSpPr>
        <p:spPr>
          <a:xfrm>
            <a:off x="5760720" y="5413248"/>
            <a:ext cx="585216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But it is a tie</a:t>
            </a:r>
            <a:endParaRPr lang="en-US" sz="1100" dirty="0"/>
          </a:p>
        </p:txBody>
      </p:sp>
      <p:sp>
        <p:nvSpPr>
          <p:cNvPr id="75" name="Text 72"/>
          <p:cNvSpPr txBox="1"/>
          <p:nvPr/>
        </p:nvSpPr>
        <p:spPr>
          <a:xfrm>
            <a:off x="5760720" y="5660136"/>
            <a:ext cx="5852160" cy="594360"/>
          </a:xfrm>
          <a:prstGeom prst="rect">
            <a:avLst/>
          </a:prstGeom>
          <a:noFill/>
          <a:ln/>
        </p:spPr>
        <p:txBody>
          <a:bodyPr wrap="square" lIns="0" tIns="0" rIns="0" bIns="0" rtlCol="0" anchor="t"/>
          <a:lstStyle/>
          <a:p>
            <a:pPr indent="0" marL="0">
              <a:buNone/>
            </a:pPr>
            <a:r>
              <a:rPr lang="en-US" sz="900" dirty="0">
                <a:solidFill>
                  <a:srgbClr val="6B6B6B"/>
                </a:solidFill>
                <a:latin typeface="Poppins" pitchFamily="34" charset="0"/>
                <a:ea typeface="Poppins" pitchFamily="34" charset="-122"/>
                <a:cs typeface="Poppins" pitchFamily="34" charset="-120"/>
              </a:rPr>
              <a:t>The Random Forest is 0.03–0.06 mph behind on validation and 0.01 on test, with a slightly lower RMSE. XGBoost was chosen because it trains three times faster, not because it is clearly better.</a:t>
            </a:r>
            <a:endParaRPr lang="en-US" sz="900" dirty="0"/>
          </a:p>
        </p:txBody>
      </p:sp>
      <p:sp>
        <p:nvSpPr>
          <p:cNvPr id="76" name="Shape 73"/>
          <p:cNvSpPr/>
          <p:nvPr/>
        </p:nvSpPr>
        <p:spPr>
          <a:xfrm>
            <a:off x="11274552" y="5989320"/>
            <a:ext cx="365760" cy="365760"/>
          </a:xfrm>
          <a:prstGeom prst="ellipse">
            <a:avLst/>
          </a:prstGeom>
          <a:solidFill>
            <a:srgbClr val="1A1A1A"/>
          </a:solidFill>
          <a:ln w="12700">
            <a:solidFill>
              <a:srgbClr val="1A1A1A"/>
            </a:solidFill>
            <a:prstDash val="solid"/>
          </a:ln>
        </p:spPr>
      </p:sp>
      <p:sp>
        <p:nvSpPr>
          <p:cNvPr id="77" name="Text 74"/>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3" name="Shape 1"/>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4" name="Text 2"/>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5" name="Text 3"/>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6" name="Shape 4"/>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7" name="Text 5"/>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8" name="Shape 6"/>
          <p:cNvSpPr/>
          <p:nvPr/>
        </p:nvSpPr>
        <p:spPr>
          <a:xfrm>
            <a:off x="6492240" y="411480"/>
            <a:ext cx="932688" cy="292608"/>
          </a:xfrm>
          <a:prstGeom prst="roundRect">
            <a:avLst>
              <a:gd name="adj" fmla="val 50000"/>
            </a:avLst>
          </a:prstGeom>
          <a:solidFill>
            <a:srgbClr val="D6D6D6"/>
          </a:solidFill>
          <a:ln w="12700">
            <a:solidFill>
              <a:srgbClr val="D6D6D6"/>
            </a:solidFill>
            <a:prstDash val="solid"/>
          </a:ln>
        </p:spPr>
      </p:sp>
      <p:sp>
        <p:nvSpPr>
          <p:cNvPr id="9" name="Text 7"/>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Data</a:t>
            </a:r>
            <a:endParaRPr lang="en-US" sz="950" dirty="0"/>
          </a:p>
        </p:txBody>
      </p:sp>
      <p:sp>
        <p:nvSpPr>
          <p:cNvPr id="10" name="Shape 8"/>
          <p:cNvSpPr/>
          <p:nvPr/>
        </p:nvSpPr>
        <p:spPr>
          <a:xfrm>
            <a:off x="7498080" y="411480"/>
            <a:ext cx="932688" cy="292608"/>
          </a:xfrm>
          <a:prstGeom prst="roundRect">
            <a:avLst>
              <a:gd name="adj" fmla="val 50000"/>
            </a:avLst>
          </a:prstGeom>
          <a:solidFill>
            <a:srgbClr val="1A1A1A"/>
          </a:solidFill>
          <a:ln w="12700">
            <a:solidFill>
              <a:srgbClr val="1A1A1A"/>
            </a:solidFill>
            <a:prstDash val="solid"/>
          </a:ln>
        </p:spPr>
      </p:sp>
      <p:sp>
        <p:nvSpPr>
          <p:cNvPr id="11" name="Text 9"/>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Models</a:t>
            </a:r>
            <a:endParaRPr lang="en-US" sz="950" dirty="0"/>
          </a:p>
        </p:txBody>
      </p:sp>
      <p:sp>
        <p:nvSpPr>
          <p:cNvPr id="12" name="Shape 10"/>
          <p:cNvSpPr/>
          <p:nvPr/>
        </p:nvSpPr>
        <p:spPr>
          <a:xfrm>
            <a:off x="8503920" y="411480"/>
            <a:ext cx="932688" cy="292608"/>
          </a:xfrm>
          <a:prstGeom prst="roundRect">
            <a:avLst>
              <a:gd name="adj" fmla="val 50000"/>
            </a:avLst>
          </a:prstGeom>
          <a:solidFill>
            <a:srgbClr val="D6D6D6"/>
          </a:solidFill>
          <a:ln w="12700">
            <a:solidFill>
              <a:srgbClr val="D6D6D6"/>
            </a:solidFill>
            <a:prstDash val="solid"/>
          </a:ln>
        </p:spPr>
      </p:sp>
      <p:sp>
        <p:nvSpPr>
          <p:cNvPr id="13" name="Text 11"/>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Insights</a:t>
            </a:r>
            <a:endParaRPr lang="en-US" sz="950" dirty="0"/>
          </a:p>
        </p:txBody>
      </p:sp>
      <p:sp>
        <p:nvSpPr>
          <p:cNvPr id="14" name="Shape 12"/>
          <p:cNvSpPr/>
          <p:nvPr/>
        </p:nvSpPr>
        <p:spPr>
          <a:xfrm>
            <a:off x="658368" y="1097280"/>
            <a:ext cx="5074920" cy="4343400"/>
          </a:xfrm>
          <a:prstGeom prst="roundRect">
            <a:avLst>
              <a:gd name="adj" fmla="val 5895"/>
            </a:avLst>
          </a:prstGeom>
          <a:solidFill>
            <a:srgbClr val="1A1A1A"/>
          </a:solidFill>
          <a:ln w="12700">
            <a:solidFill>
              <a:srgbClr val="1A1A1A"/>
            </a:solidFill>
            <a:prstDash val="solid"/>
          </a:ln>
        </p:spPr>
      </p:sp>
      <p:sp>
        <p:nvSpPr>
          <p:cNvPr id="15" name="Text 13"/>
          <p:cNvSpPr txBox="1"/>
          <p:nvPr/>
        </p:nvSpPr>
        <p:spPr>
          <a:xfrm>
            <a:off x="932688" y="1353312"/>
            <a:ext cx="4526280" cy="201168"/>
          </a:xfrm>
          <a:prstGeom prst="rect">
            <a:avLst/>
          </a:prstGeom>
          <a:noFill/>
          <a:ln/>
        </p:spPr>
        <p:txBody>
          <a:bodyPr wrap="square" lIns="0" tIns="0" rIns="0" bIns="0" rtlCol="0" anchor="t"/>
          <a:lstStyle/>
          <a:p>
            <a:pPr indent="0" marL="0">
              <a:buNone/>
            </a:pPr>
            <a:r>
              <a:rPr lang="en-US" sz="750" b="1" spc="160" kern="0" dirty="0">
                <a:solidFill>
                  <a:srgbClr val="FFFFFF"/>
                </a:solidFill>
                <a:latin typeface="Poppins" pitchFamily="34" charset="0"/>
                <a:ea typeface="Poppins" pitchFamily="34" charset="-122"/>
                <a:cs typeface="Poppins" pitchFamily="34" charset="-120"/>
              </a:rPr>
              <a:t>TEST SET · XGBOOST + NEIGHBOURS · 60 MIN · JAM = BELOW 35 MPH</a:t>
            </a:r>
            <a:endParaRPr lang="en-US" sz="750" dirty="0"/>
          </a:p>
        </p:txBody>
      </p:sp>
      <p:sp>
        <p:nvSpPr>
          <p:cNvPr id="16" name="Text 14"/>
          <p:cNvSpPr txBox="1"/>
          <p:nvPr/>
        </p:nvSpPr>
        <p:spPr>
          <a:xfrm>
            <a:off x="1920240" y="1572768"/>
            <a:ext cx="1691640" cy="201168"/>
          </a:xfrm>
          <a:prstGeom prst="rect">
            <a:avLst/>
          </a:prstGeom>
          <a:noFill/>
          <a:ln/>
        </p:spPr>
        <p:txBody>
          <a:bodyPr wrap="square" lIns="0" tIns="0" rIns="0" bIns="0" rtlCol="0" anchor="t"/>
          <a:lstStyle/>
          <a:p>
            <a:pPr algn="ctr" indent="0" marL="0">
              <a:buNone/>
            </a:pPr>
            <a:r>
              <a:rPr lang="en-US" sz="650" b="1" spc="160" kern="0" dirty="0">
                <a:solidFill>
                  <a:srgbClr val="A3A3A3"/>
                </a:solidFill>
                <a:latin typeface="Poppins" pitchFamily="34" charset="0"/>
                <a:ea typeface="Poppins" pitchFamily="34" charset="-122"/>
                <a:cs typeface="Poppins" pitchFamily="34" charset="-120"/>
              </a:rPr>
              <a:t>ACTUAL JAM</a:t>
            </a:r>
            <a:endParaRPr lang="en-US" sz="650" dirty="0"/>
          </a:p>
        </p:txBody>
      </p:sp>
      <p:sp>
        <p:nvSpPr>
          <p:cNvPr id="17" name="Text 15"/>
          <p:cNvSpPr txBox="1"/>
          <p:nvPr/>
        </p:nvSpPr>
        <p:spPr>
          <a:xfrm>
            <a:off x="3721608" y="1572768"/>
            <a:ext cx="1691640" cy="201168"/>
          </a:xfrm>
          <a:prstGeom prst="rect">
            <a:avLst/>
          </a:prstGeom>
          <a:noFill/>
          <a:ln/>
        </p:spPr>
        <p:txBody>
          <a:bodyPr wrap="square" lIns="0" tIns="0" rIns="0" bIns="0" rtlCol="0" anchor="t"/>
          <a:lstStyle/>
          <a:p>
            <a:pPr algn="ctr" indent="0" marL="0">
              <a:buNone/>
            </a:pPr>
            <a:r>
              <a:rPr lang="en-US" sz="650" b="1" spc="160" kern="0" dirty="0">
                <a:solidFill>
                  <a:srgbClr val="A3A3A3"/>
                </a:solidFill>
                <a:latin typeface="Poppins" pitchFamily="34" charset="0"/>
                <a:ea typeface="Poppins" pitchFamily="34" charset="-122"/>
                <a:cs typeface="Poppins" pitchFamily="34" charset="-120"/>
              </a:rPr>
              <a:t>ACTUAL FREE</a:t>
            </a:r>
            <a:endParaRPr lang="en-US" sz="650" dirty="0"/>
          </a:p>
        </p:txBody>
      </p:sp>
      <p:sp>
        <p:nvSpPr>
          <p:cNvPr id="18" name="Text 16"/>
          <p:cNvSpPr txBox="1"/>
          <p:nvPr/>
        </p:nvSpPr>
        <p:spPr>
          <a:xfrm>
            <a:off x="914400" y="2194560"/>
            <a:ext cx="960120"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PREDICTED JAM</a:t>
            </a:r>
            <a:endParaRPr lang="en-US" sz="650" dirty="0"/>
          </a:p>
        </p:txBody>
      </p:sp>
      <p:sp>
        <p:nvSpPr>
          <p:cNvPr id="19" name="Text 17"/>
          <p:cNvSpPr txBox="1"/>
          <p:nvPr/>
        </p:nvSpPr>
        <p:spPr>
          <a:xfrm>
            <a:off x="914400" y="3218688"/>
            <a:ext cx="960120"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PREDICTED FREE</a:t>
            </a:r>
            <a:endParaRPr lang="en-US" sz="650" dirty="0"/>
          </a:p>
        </p:txBody>
      </p:sp>
      <p:sp>
        <p:nvSpPr>
          <p:cNvPr id="20" name="Shape 18"/>
          <p:cNvSpPr/>
          <p:nvPr/>
        </p:nvSpPr>
        <p:spPr>
          <a:xfrm>
            <a:off x="1920240" y="1828800"/>
            <a:ext cx="1691640" cy="914400"/>
          </a:xfrm>
          <a:prstGeom prst="roundRect">
            <a:avLst>
              <a:gd name="adj" fmla="val 14000"/>
            </a:avLst>
          </a:prstGeom>
          <a:solidFill>
            <a:srgbClr val="F4F4F4"/>
          </a:solidFill>
          <a:ln w="12700">
            <a:solidFill>
              <a:srgbClr val="F4F4F4"/>
            </a:solidFill>
            <a:prstDash val="solid"/>
          </a:ln>
        </p:spPr>
      </p:sp>
      <p:sp>
        <p:nvSpPr>
          <p:cNvPr id="21" name="Text 19"/>
          <p:cNvSpPr txBox="1"/>
          <p:nvPr/>
        </p:nvSpPr>
        <p:spPr>
          <a:xfrm>
            <a:off x="1920240" y="1993392"/>
            <a:ext cx="1691640" cy="411480"/>
          </a:xfrm>
          <a:prstGeom prst="rect">
            <a:avLst/>
          </a:prstGeom>
          <a:noFill/>
          <a:ln/>
        </p:spPr>
        <p:txBody>
          <a:bodyPr wrap="square" lIns="0" tIns="0" rIns="0" bIns="0" rtlCol="0" anchor="ctr"/>
          <a:lstStyle/>
          <a:p>
            <a:pPr algn="ctr" indent="0" marL="0">
              <a:buNone/>
            </a:pPr>
            <a:r>
              <a:rPr lang="en-US" sz="2200" b="1" dirty="0">
                <a:solidFill>
                  <a:srgbClr val="1A1A1A"/>
                </a:solidFill>
                <a:latin typeface="Poppins" pitchFamily="34" charset="0"/>
                <a:ea typeface="Poppins" pitchFamily="34" charset="-122"/>
                <a:cs typeface="Poppins" pitchFamily="34" charset="-120"/>
              </a:rPr>
              <a:t>78,082</a:t>
            </a:r>
            <a:endParaRPr lang="en-US" sz="2200" dirty="0"/>
          </a:p>
        </p:txBody>
      </p:sp>
      <p:sp>
        <p:nvSpPr>
          <p:cNvPr id="22" name="Text 20"/>
          <p:cNvSpPr txBox="1"/>
          <p:nvPr/>
        </p:nvSpPr>
        <p:spPr>
          <a:xfrm>
            <a:off x="1920240" y="2395728"/>
            <a:ext cx="1691640" cy="228600"/>
          </a:xfrm>
          <a:prstGeom prst="rect">
            <a:avLst/>
          </a:prstGeom>
          <a:noFill/>
          <a:ln/>
        </p:spPr>
        <p:txBody>
          <a:bodyPr wrap="square" lIns="0" tIns="0" rIns="0" bIns="0" rtlCol="0" anchor="t"/>
          <a:lstStyle/>
          <a:p>
            <a:pPr algn="ctr" indent="0" marL="0">
              <a:buNone/>
            </a:pPr>
            <a:r>
              <a:rPr lang="en-US" sz="800" dirty="0">
                <a:solidFill>
                  <a:srgbClr val="6B6B6B"/>
                </a:solidFill>
                <a:latin typeface="Poppins" pitchFamily="34" charset="0"/>
                <a:ea typeface="Poppins" pitchFamily="34" charset="-122"/>
                <a:cs typeface="Poppins" pitchFamily="34" charset="-120"/>
              </a:rPr>
              <a:t>jams caught</a:t>
            </a:r>
            <a:endParaRPr lang="en-US" sz="800" dirty="0"/>
          </a:p>
        </p:txBody>
      </p:sp>
      <p:sp>
        <p:nvSpPr>
          <p:cNvPr id="23" name="Shape 21"/>
          <p:cNvSpPr/>
          <p:nvPr/>
        </p:nvSpPr>
        <p:spPr>
          <a:xfrm>
            <a:off x="3721608" y="1828800"/>
            <a:ext cx="1691640" cy="914400"/>
          </a:xfrm>
          <a:prstGeom prst="roundRect">
            <a:avLst>
              <a:gd name="adj" fmla="val 14000"/>
            </a:avLst>
          </a:prstGeom>
          <a:solidFill>
            <a:srgbClr val="2C2C2C"/>
          </a:solidFill>
          <a:ln w="12700">
            <a:solidFill>
              <a:srgbClr val="2C2C2C"/>
            </a:solidFill>
            <a:prstDash val="solid"/>
          </a:ln>
        </p:spPr>
      </p:sp>
      <p:sp>
        <p:nvSpPr>
          <p:cNvPr id="24" name="Text 22"/>
          <p:cNvSpPr txBox="1"/>
          <p:nvPr/>
        </p:nvSpPr>
        <p:spPr>
          <a:xfrm>
            <a:off x="3721608" y="1993392"/>
            <a:ext cx="169164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13,604</a:t>
            </a:r>
            <a:endParaRPr lang="en-US" sz="2200" dirty="0"/>
          </a:p>
        </p:txBody>
      </p:sp>
      <p:sp>
        <p:nvSpPr>
          <p:cNvPr id="25" name="Text 23"/>
          <p:cNvSpPr txBox="1"/>
          <p:nvPr/>
        </p:nvSpPr>
        <p:spPr>
          <a:xfrm>
            <a:off x="3721608" y="2395728"/>
            <a:ext cx="1691640" cy="228600"/>
          </a:xfrm>
          <a:prstGeom prst="rect">
            <a:avLst/>
          </a:prstGeom>
          <a:noFill/>
          <a:ln/>
        </p:spPr>
        <p:txBody>
          <a:bodyPr wrap="square" lIns="0" tIns="0" rIns="0" bIns="0" rtlCol="0" anchor="t"/>
          <a:lstStyle/>
          <a:p>
            <a:pPr algn="ctr" indent="0" marL="0">
              <a:buNone/>
            </a:pPr>
            <a:r>
              <a:rPr lang="en-US" sz="800" dirty="0">
                <a:solidFill>
                  <a:srgbClr val="A3A3A3"/>
                </a:solidFill>
                <a:latin typeface="Poppins" pitchFamily="34" charset="0"/>
                <a:ea typeface="Poppins" pitchFamily="34" charset="-122"/>
                <a:cs typeface="Poppins" pitchFamily="34" charset="-120"/>
              </a:rPr>
              <a:t>false alarms</a:t>
            </a:r>
            <a:endParaRPr lang="en-US" sz="800" dirty="0"/>
          </a:p>
        </p:txBody>
      </p:sp>
      <p:sp>
        <p:nvSpPr>
          <p:cNvPr id="26" name="Shape 24"/>
          <p:cNvSpPr/>
          <p:nvPr/>
        </p:nvSpPr>
        <p:spPr>
          <a:xfrm>
            <a:off x="1920240" y="2852928"/>
            <a:ext cx="1691640" cy="914400"/>
          </a:xfrm>
          <a:prstGeom prst="roundRect">
            <a:avLst>
              <a:gd name="adj" fmla="val 14000"/>
            </a:avLst>
          </a:prstGeom>
          <a:solidFill>
            <a:srgbClr val="F4F4F4"/>
          </a:solidFill>
          <a:ln w="12700">
            <a:solidFill>
              <a:srgbClr val="F4F4F4"/>
            </a:solidFill>
            <a:prstDash val="solid"/>
          </a:ln>
        </p:spPr>
      </p:sp>
      <p:sp>
        <p:nvSpPr>
          <p:cNvPr id="27" name="Text 25"/>
          <p:cNvSpPr txBox="1"/>
          <p:nvPr/>
        </p:nvSpPr>
        <p:spPr>
          <a:xfrm>
            <a:off x="1920240" y="3017520"/>
            <a:ext cx="1691640" cy="411480"/>
          </a:xfrm>
          <a:prstGeom prst="rect">
            <a:avLst/>
          </a:prstGeom>
          <a:noFill/>
          <a:ln/>
        </p:spPr>
        <p:txBody>
          <a:bodyPr wrap="square" lIns="0" tIns="0" rIns="0" bIns="0" rtlCol="0" anchor="ctr"/>
          <a:lstStyle/>
          <a:p>
            <a:pPr algn="ctr" indent="0" marL="0">
              <a:buNone/>
            </a:pPr>
            <a:r>
              <a:rPr lang="en-US" sz="2200" b="1" dirty="0">
                <a:solidFill>
                  <a:srgbClr val="1A1A1A"/>
                </a:solidFill>
                <a:latin typeface="Poppins" pitchFamily="34" charset="0"/>
                <a:ea typeface="Poppins" pitchFamily="34" charset="-122"/>
                <a:cs typeface="Poppins" pitchFamily="34" charset="-120"/>
              </a:rPr>
              <a:t>50,475</a:t>
            </a:r>
            <a:endParaRPr lang="en-US" sz="2200" dirty="0"/>
          </a:p>
        </p:txBody>
      </p:sp>
      <p:sp>
        <p:nvSpPr>
          <p:cNvPr id="28" name="Text 26"/>
          <p:cNvSpPr txBox="1"/>
          <p:nvPr/>
        </p:nvSpPr>
        <p:spPr>
          <a:xfrm>
            <a:off x="1920240" y="3419856"/>
            <a:ext cx="1691640" cy="228600"/>
          </a:xfrm>
          <a:prstGeom prst="rect">
            <a:avLst/>
          </a:prstGeom>
          <a:noFill/>
          <a:ln/>
        </p:spPr>
        <p:txBody>
          <a:bodyPr wrap="square" lIns="0" tIns="0" rIns="0" bIns="0" rtlCol="0" anchor="t"/>
          <a:lstStyle/>
          <a:p>
            <a:pPr algn="ctr" indent="0" marL="0">
              <a:buNone/>
            </a:pPr>
            <a:r>
              <a:rPr lang="en-US" sz="800" dirty="0">
                <a:solidFill>
                  <a:srgbClr val="6B6B6B"/>
                </a:solidFill>
                <a:latin typeface="Poppins" pitchFamily="34" charset="0"/>
                <a:ea typeface="Poppins" pitchFamily="34" charset="-122"/>
                <a:cs typeface="Poppins" pitchFamily="34" charset="-120"/>
              </a:rPr>
              <a:t>jams missed</a:t>
            </a:r>
            <a:endParaRPr lang="en-US" sz="800" dirty="0"/>
          </a:p>
        </p:txBody>
      </p:sp>
      <p:sp>
        <p:nvSpPr>
          <p:cNvPr id="29" name="Shape 27"/>
          <p:cNvSpPr/>
          <p:nvPr/>
        </p:nvSpPr>
        <p:spPr>
          <a:xfrm>
            <a:off x="3721608" y="2852928"/>
            <a:ext cx="1691640" cy="914400"/>
          </a:xfrm>
          <a:prstGeom prst="roundRect">
            <a:avLst>
              <a:gd name="adj" fmla="val 14000"/>
            </a:avLst>
          </a:prstGeom>
          <a:solidFill>
            <a:srgbClr val="2C2C2C"/>
          </a:solidFill>
          <a:ln w="12700">
            <a:solidFill>
              <a:srgbClr val="2C2C2C"/>
            </a:solidFill>
            <a:prstDash val="solid"/>
          </a:ln>
        </p:spPr>
      </p:sp>
      <p:sp>
        <p:nvSpPr>
          <p:cNvPr id="30" name="Text 28"/>
          <p:cNvSpPr txBox="1"/>
          <p:nvPr/>
        </p:nvSpPr>
        <p:spPr>
          <a:xfrm>
            <a:off x="3721608" y="3017520"/>
            <a:ext cx="169164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1,100,147</a:t>
            </a:r>
            <a:endParaRPr lang="en-US" sz="2200" dirty="0"/>
          </a:p>
        </p:txBody>
      </p:sp>
      <p:sp>
        <p:nvSpPr>
          <p:cNvPr id="31" name="Text 29"/>
          <p:cNvSpPr txBox="1"/>
          <p:nvPr/>
        </p:nvSpPr>
        <p:spPr>
          <a:xfrm>
            <a:off x="3721608" y="3419856"/>
            <a:ext cx="1691640" cy="228600"/>
          </a:xfrm>
          <a:prstGeom prst="rect">
            <a:avLst/>
          </a:prstGeom>
          <a:noFill/>
          <a:ln/>
        </p:spPr>
        <p:txBody>
          <a:bodyPr wrap="square" lIns="0" tIns="0" rIns="0" bIns="0" rtlCol="0" anchor="t"/>
          <a:lstStyle/>
          <a:p>
            <a:pPr algn="ctr" indent="0" marL="0">
              <a:buNone/>
            </a:pPr>
            <a:r>
              <a:rPr lang="en-US" sz="800" dirty="0">
                <a:solidFill>
                  <a:srgbClr val="A3A3A3"/>
                </a:solidFill>
                <a:latin typeface="Poppins" pitchFamily="34" charset="0"/>
                <a:ea typeface="Poppins" pitchFamily="34" charset="-122"/>
                <a:cs typeface="Poppins" pitchFamily="34" charset="-120"/>
              </a:rPr>
              <a:t>correct</a:t>
            </a:r>
            <a:endParaRPr lang="en-US" sz="800" dirty="0"/>
          </a:p>
        </p:txBody>
      </p:sp>
      <p:sp>
        <p:nvSpPr>
          <p:cNvPr id="32" name="Shape 30"/>
          <p:cNvSpPr/>
          <p:nvPr/>
        </p:nvSpPr>
        <p:spPr>
          <a:xfrm>
            <a:off x="914400" y="4069080"/>
            <a:ext cx="4572000" cy="0"/>
          </a:xfrm>
          <a:prstGeom prst="line">
            <a:avLst/>
          </a:prstGeom>
          <a:noFill/>
          <a:ln w="6350">
            <a:solidFill>
              <a:srgbClr val="343434"/>
            </a:solidFill>
            <a:prstDash val="solid"/>
          </a:ln>
        </p:spPr>
      </p:sp>
      <p:sp>
        <p:nvSpPr>
          <p:cNvPr id="33" name="Text 31"/>
          <p:cNvSpPr txBox="1"/>
          <p:nvPr/>
        </p:nvSpPr>
        <p:spPr>
          <a:xfrm>
            <a:off x="914400" y="4187952"/>
            <a:ext cx="1828800"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MODEL ACCURACY</a:t>
            </a:r>
            <a:endParaRPr lang="en-US" sz="650" dirty="0"/>
          </a:p>
        </p:txBody>
      </p:sp>
      <p:sp>
        <p:nvSpPr>
          <p:cNvPr id="34" name="Text 32"/>
          <p:cNvSpPr txBox="1"/>
          <p:nvPr/>
        </p:nvSpPr>
        <p:spPr>
          <a:xfrm>
            <a:off x="914400" y="4370832"/>
            <a:ext cx="1828800" cy="457200"/>
          </a:xfrm>
          <a:prstGeom prst="rect">
            <a:avLst/>
          </a:prstGeom>
          <a:noFill/>
          <a:ln/>
        </p:spPr>
        <p:txBody>
          <a:bodyPr wrap="square" lIns="0" tIns="0" rIns="0" bIns="0" rtlCol="0" anchor="t"/>
          <a:lstStyle/>
          <a:p>
            <a:pPr indent="0" marL="0">
              <a:buNone/>
            </a:pPr>
            <a:r>
              <a:rPr lang="en-US" sz="2400" b="1" dirty="0">
                <a:solidFill>
                  <a:srgbClr val="FFFFFF"/>
                </a:solidFill>
                <a:latin typeface="Poppins" pitchFamily="34" charset="0"/>
                <a:ea typeface="Poppins" pitchFamily="34" charset="-122"/>
                <a:cs typeface="Poppins" pitchFamily="34" charset="-120"/>
              </a:rPr>
              <a:t>94.8%</a:t>
            </a:r>
            <a:endParaRPr lang="en-US" sz="2400" dirty="0"/>
          </a:p>
        </p:txBody>
      </p:sp>
      <p:sp>
        <p:nvSpPr>
          <p:cNvPr id="35" name="Text 33"/>
          <p:cNvSpPr txBox="1"/>
          <p:nvPr/>
        </p:nvSpPr>
        <p:spPr>
          <a:xfrm>
            <a:off x="3611880" y="4187952"/>
            <a:ext cx="1874520" cy="201168"/>
          </a:xfrm>
          <a:prstGeom prst="rect">
            <a:avLst/>
          </a:prstGeom>
          <a:noFill/>
          <a:ln/>
        </p:spPr>
        <p:txBody>
          <a:bodyPr wrap="square" lIns="0" tIns="0" rIns="0" bIns="0" rtlCol="0" anchor="t"/>
          <a:lstStyle/>
          <a:p>
            <a:pPr algn="r" indent="0" marL="0">
              <a:buNone/>
            </a:pPr>
            <a:r>
              <a:rPr lang="en-US" sz="650" b="1" spc="160" kern="0" dirty="0">
                <a:solidFill>
                  <a:srgbClr val="A3A3A3"/>
                </a:solidFill>
                <a:latin typeface="Poppins" pitchFamily="34" charset="0"/>
                <a:ea typeface="Poppins" pitchFamily="34" charset="-122"/>
                <a:cs typeface="Poppins" pitchFamily="34" charset="-120"/>
              </a:rPr>
              <a:t>ALWAYS "FREE"</a:t>
            </a:r>
            <a:endParaRPr lang="en-US" sz="650" dirty="0"/>
          </a:p>
        </p:txBody>
      </p:sp>
      <p:sp>
        <p:nvSpPr>
          <p:cNvPr id="36" name="Text 34"/>
          <p:cNvSpPr txBox="1"/>
          <p:nvPr/>
        </p:nvSpPr>
        <p:spPr>
          <a:xfrm>
            <a:off x="3611880" y="4370832"/>
            <a:ext cx="1874520" cy="457200"/>
          </a:xfrm>
          <a:prstGeom prst="rect">
            <a:avLst/>
          </a:prstGeom>
          <a:noFill/>
          <a:ln/>
        </p:spPr>
        <p:txBody>
          <a:bodyPr wrap="square" lIns="0" tIns="0" rIns="0" bIns="0" rtlCol="0" anchor="t"/>
          <a:lstStyle/>
          <a:p>
            <a:pPr algn="r" indent="0" marL="0">
              <a:buNone/>
            </a:pPr>
            <a:r>
              <a:rPr lang="en-US" sz="2400" b="1" dirty="0">
                <a:solidFill>
                  <a:srgbClr val="8A8A8A"/>
                </a:solidFill>
                <a:latin typeface="Poppins" pitchFamily="34" charset="0"/>
                <a:ea typeface="Poppins" pitchFamily="34" charset="-122"/>
                <a:cs typeface="Poppins" pitchFamily="34" charset="-120"/>
              </a:rPr>
              <a:t>89.7%</a:t>
            </a:r>
            <a:endParaRPr lang="en-US" sz="2400" dirty="0"/>
          </a:p>
        </p:txBody>
      </p:sp>
      <p:sp>
        <p:nvSpPr>
          <p:cNvPr id="37" name="Text 35"/>
          <p:cNvSpPr txBox="1"/>
          <p:nvPr/>
        </p:nvSpPr>
        <p:spPr>
          <a:xfrm>
            <a:off x="914400" y="4983480"/>
            <a:ext cx="4572000"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PRECISION 0.85 · RECALL 0.61 · F1 0.71</a:t>
            </a:r>
            <a:endParaRPr lang="en-US" sz="650" dirty="0"/>
          </a:p>
        </p:txBody>
      </p:sp>
      <p:sp>
        <p:nvSpPr>
          <p:cNvPr id="38" name="headline"/>
          <p:cNvSpPr txBox="1"/>
          <p:nvPr/>
        </p:nvSpPr>
        <p:spPr>
          <a:xfrm>
            <a:off x="6172200" y="1005840"/>
            <a:ext cx="5486400" cy="1576832"/>
          </a:xfrm>
          <a:prstGeom prst="rect">
            <a:avLst/>
          </a:prstGeom>
          <a:noFill/>
          <a:ln/>
        </p:spPr>
        <p:txBody>
          <a:bodyPr wrap="square" lIns="0" tIns="0" rIns="0" bIns="0" rtlCol="0" anchor="t"/>
          <a:lstStyle/>
          <a:p>
            <a:pPr algn="l" indent="0" marL="0">
              <a:lnSpc>
                <a:spcPct val="86000"/>
              </a:lnSpc>
              <a:buNone/>
            </a:pPr>
            <a:r>
              <a:rPr lang="en-US" sz="5600" b="1" dirty="0">
                <a:solidFill>
                  <a:srgbClr val="1A1A1A"/>
                </a:solidFill>
                <a:latin typeface="Poppins" pitchFamily="34" charset="0"/>
                <a:ea typeface="Poppins" pitchFamily="34" charset="-122"/>
                <a:cs typeface="Poppins" pitchFamily="34" charset="-120"/>
              </a:rPr>
              <a:t>THE</a:t>
            </a:r>
            <a:endParaRPr lang="en-US" sz="5600" dirty="0"/>
          </a:p>
          <a:p>
            <a:pPr algn="l" indent="0" marL="0">
              <a:lnSpc>
                <a:spcPct val="86000"/>
              </a:lnSpc>
              <a:buNone/>
            </a:pPr>
            <a:r>
              <a:rPr lang="en-US" sz="5600" b="1" dirty="0">
                <a:solidFill>
                  <a:srgbClr val="1A1A1A"/>
                </a:solidFill>
                <a:latin typeface="Poppins" pitchFamily="34" charset="0"/>
                <a:ea typeface="Poppins" pitchFamily="34" charset="-122"/>
                <a:cs typeface="Poppins" pitchFamily="34" charset="-120"/>
              </a:rPr>
              <a:t>RESULTS</a:t>
            </a:r>
            <a:endParaRPr lang="en-US" sz="5600" dirty="0"/>
          </a:p>
        </p:txBody>
      </p:sp>
      <p:sp>
        <p:nvSpPr>
          <p:cNvPr id="39" name="Text 37"/>
          <p:cNvSpPr txBox="1"/>
          <p:nvPr/>
        </p:nvSpPr>
        <p:spPr>
          <a:xfrm>
            <a:off x="6172200" y="2697480"/>
            <a:ext cx="2103120" cy="201168"/>
          </a:xfrm>
          <a:prstGeom prst="rect">
            <a:avLst/>
          </a:prstGeom>
          <a:noFill/>
          <a:ln/>
        </p:spPr>
        <p:txBody>
          <a:bodyPr wrap="square" lIns="0" tIns="0" rIns="0" bIns="0" rtlCol="0" anchor="t"/>
          <a:lstStyle/>
          <a:p>
            <a:pPr algn="l" indent="0" marL="0">
              <a:buNone/>
            </a:pPr>
            <a:r>
              <a:rPr lang="en-US" sz="700" b="1" spc="140" kern="0" dirty="0">
                <a:solidFill>
                  <a:srgbClr val="A3A3A3"/>
                </a:solidFill>
                <a:latin typeface="Poppins" pitchFamily="34" charset="0"/>
                <a:ea typeface="Poppins" pitchFamily="34" charset="-122"/>
                <a:cs typeface="Poppins" pitchFamily="34" charset="-120"/>
              </a:rPr>
              <a:t>TEST MAE, MPH</a:t>
            </a:r>
            <a:endParaRPr lang="en-US" sz="700" dirty="0"/>
          </a:p>
        </p:txBody>
      </p:sp>
      <p:sp>
        <p:nvSpPr>
          <p:cNvPr id="40" name="Text 38"/>
          <p:cNvSpPr txBox="1"/>
          <p:nvPr/>
        </p:nvSpPr>
        <p:spPr>
          <a:xfrm>
            <a:off x="8275320" y="2697480"/>
            <a:ext cx="123444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XGB + NBRS</a:t>
            </a:r>
            <a:endParaRPr lang="en-US" sz="700" dirty="0"/>
          </a:p>
        </p:txBody>
      </p:sp>
      <p:sp>
        <p:nvSpPr>
          <p:cNvPr id="41" name="Text 39"/>
          <p:cNvSpPr txBox="1"/>
          <p:nvPr/>
        </p:nvSpPr>
        <p:spPr>
          <a:xfrm>
            <a:off x="9509760" y="2697480"/>
            <a:ext cx="105156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PERSISTENCE</a:t>
            </a:r>
            <a:endParaRPr lang="en-US" sz="700" dirty="0"/>
          </a:p>
        </p:txBody>
      </p:sp>
      <p:sp>
        <p:nvSpPr>
          <p:cNvPr id="42" name="Text 40"/>
          <p:cNvSpPr txBox="1"/>
          <p:nvPr/>
        </p:nvSpPr>
        <p:spPr>
          <a:xfrm>
            <a:off x="10561320" y="2697480"/>
            <a:ext cx="1051560" cy="201168"/>
          </a:xfrm>
          <a:prstGeom prst="rect">
            <a:avLst/>
          </a:prstGeom>
          <a:noFill/>
          <a:ln/>
        </p:spPr>
        <p:txBody>
          <a:bodyPr wrap="square" lIns="0" tIns="0" rIns="0" bIns="0" rtlCol="0" anchor="t"/>
          <a:lstStyle/>
          <a:p>
            <a:pPr algn="r" indent="0" marL="0">
              <a:buNone/>
            </a:pPr>
            <a:r>
              <a:rPr lang="en-US" sz="700" b="1" spc="140" kern="0" dirty="0">
                <a:solidFill>
                  <a:srgbClr val="A3A3A3"/>
                </a:solidFill>
                <a:latin typeface="Poppins" pitchFamily="34" charset="0"/>
                <a:ea typeface="Poppins" pitchFamily="34" charset="-122"/>
                <a:cs typeface="Poppins" pitchFamily="34" charset="-120"/>
              </a:rPr>
              <a:t>HIST. AVG</a:t>
            </a:r>
            <a:endParaRPr lang="en-US" sz="700" dirty="0"/>
          </a:p>
        </p:txBody>
      </p:sp>
      <p:sp>
        <p:nvSpPr>
          <p:cNvPr id="43" name="Shape 41"/>
          <p:cNvSpPr/>
          <p:nvPr/>
        </p:nvSpPr>
        <p:spPr>
          <a:xfrm>
            <a:off x="6172200" y="2935224"/>
            <a:ext cx="5440680" cy="0"/>
          </a:xfrm>
          <a:prstGeom prst="line">
            <a:avLst/>
          </a:prstGeom>
          <a:noFill/>
          <a:ln w="9525">
            <a:solidFill>
              <a:srgbClr val="D9D9D9"/>
            </a:solidFill>
            <a:prstDash val="solid"/>
          </a:ln>
        </p:spPr>
      </p:sp>
      <p:sp>
        <p:nvSpPr>
          <p:cNvPr id="44" name="Text 42"/>
          <p:cNvSpPr txBox="1"/>
          <p:nvPr/>
        </p:nvSpPr>
        <p:spPr>
          <a:xfrm>
            <a:off x="6172200" y="2962656"/>
            <a:ext cx="2103120" cy="329184"/>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15 min ahead</a:t>
            </a:r>
            <a:endParaRPr lang="en-US" sz="1000" dirty="0"/>
          </a:p>
        </p:txBody>
      </p:sp>
      <p:sp>
        <p:nvSpPr>
          <p:cNvPr id="45" name="Text 43"/>
          <p:cNvSpPr txBox="1"/>
          <p:nvPr/>
        </p:nvSpPr>
        <p:spPr>
          <a:xfrm>
            <a:off x="8275320" y="2962656"/>
            <a:ext cx="1234440" cy="329184"/>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2.87</a:t>
            </a:r>
            <a:endParaRPr lang="en-US" sz="1000" dirty="0"/>
          </a:p>
        </p:txBody>
      </p:sp>
      <p:sp>
        <p:nvSpPr>
          <p:cNvPr id="46" name="Text 44"/>
          <p:cNvSpPr txBox="1"/>
          <p:nvPr/>
        </p:nvSpPr>
        <p:spPr>
          <a:xfrm>
            <a:off x="9509760" y="2962656"/>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3.49</a:t>
            </a:r>
            <a:endParaRPr lang="en-US" sz="1000" dirty="0"/>
          </a:p>
        </p:txBody>
      </p:sp>
      <p:sp>
        <p:nvSpPr>
          <p:cNvPr id="47" name="Text 45"/>
          <p:cNvSpPr txBox="1"/>
          <p:nvPr/>
        </p:nvSpPr>
        <p:spPr>
          <a:xfrm>
            <a:off x="10561320" y="2962656"/>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4.19</a:t>
            </a:r>
            <a:endParaRPr lang="en-US" sz="1000" dirty="0"/>
          </a:p>
        </p:txBody>
      </p:sp>
      <p:sp>
        <p:nvSpPr>
          <p:cNvPr id="48" name="Shape 46"/>
          <p:cNvSpPr/>
          <p:nvPr/>
        </p:nvSpPr>
        <p:spPr>
          <a:xfrm>
            <a:off x="6172200" y="3291840"/>
            <a:ext cx="5440680" cy="0"/>
          </a:xfrm>
          <a:prstGeom prst="line">
            <a:avLst/>
          </a:prstGeom>
          <a:noFill/>
          <a:ln w="6350">
            <a:solidFill>
              <a:srgbClr val="D9D9D9"/>
            </a:solidFill>
            <a:prstDash val="solid"/>
          </a:ln>
        </p:spPr>
      </p:sp>
      <p:sp>
        <p:nvSpPr>
          <p:cNvPr id="49" name="Text 47"/>
          <p:cNvSpPr txBox="1"/>
          <p:nvPr/>
        </p:nvSpPr>
        <p:spPr>
          <a:xfrm>
            <a:off x="6172200" y="3291840"/>
            <a:ext cx="2103120" cy="329184"/>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30 min ahead</a:t>
            </a:r>
            <a:endParaRPr lang="en-US" sz="1000" dirty="0"/>
          </a:p>
        </p:txBody>
      </p:sp>
      <p:sp>
        <p:nvSpPr>
          <p:cNvPr id="50" name="Text 48"/>
          <p:cNvSpPr txBox="1"/>
          <p:nvPr/>
        </p:nvSpPr>
        <p:spPr>
          <a:xfrm>
            <a:off x="8275320" y="3291840"/>
            <a:ext cx="1234440" cy="329184"/>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3.32</a:t>
            </a:r>
            <a:endParaRPr lang="en-US" sz="1000" dirty="0"/>
          </a:p>
        </p:txBody>
      </p:sp>
      <p:sp>
        <p:nvSpPr>
          <p:cNvPr id="51" name="Text 49"/>
          <p:cNvSpPr txBox="1"/>
          <p:nvPr/>
        </p:nvSpPr>
        <p:spPr>
          <a:xfrm>
            <a:off x="9509760" y="3291840"/>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4.18</a:t>
            </a:r>
            <a:endParaRPr lang="en-US" sz="1000" dirty="0"/>
          </a:p>
        </p:txBody>
      </p:sp>
      <p:sp>
        <p:nvSpPr>
          <p:cNvPr id="52" name="Text 50"/>
          <p:cNvSpPr txBox="1"/>
          <p:nvPr/>
        </p:nvSpPr>
        <p:spPr>
          <a:xfrm>
            <a:off x="10561320" y="3291840"/>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4.19</a:t>
            </a:r>
            <a:endParaRPr lang="en-US" sz="1000" dirty="0"/>
          </a:p>
        </p:txBody>
      </p:sp>
      <p:sp>
        <p:nvSpPr>
          <p:cNvPr id="53" name="Shape 51"/>
          <p:cNvSpPr/>
          <p:nvPr/>
        </p:nvSpPr>
        <p:spPr>
          <a:xfrm>
            <a:off x="6172200" y="3621024"/>
            <a:ext cx="5440680" cy="0"/>
          </a:xfrm>
          <a:prstGeom prst="line">
            <a:avLst/>
          </a:prstGeom>
          <a:noFill/>
          <a:ln w="6350">
            <a:solidFill>
              <a:srgbClr val="D9D9D9"/>
            </a:solidFill>
            <a:prstDash val="solid"/>
          </a:ln>
        </p:spPr>
      </p:sp>
      <p:sp>
        <p:nvSpPr>
          <p:cNvPr id="54" name="Text 52"/>
          <p:cNvSpPr txBox="1"/>
          <p:nvPr/>
        </p:nvSpPr>
        <p:spPr>
          <a:xfrm>
            <a:off x="6172200" y="3621024"/>
            <a:ext cx="2103120" cy="329184"/>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60 min ahead</a:t>
            </a:r>
            <a:endParaRPr lang="en-US" sz="1000" dirty="0"/>
          </a:p>
        </p:txBody>
      </p:sp>
      <p:sp>
        <p:nvSpPr>
          <p:cNvPr id="55" name="Text 53"/>
          <p:cNvSpPr txBox="1"/>
          <p:nvPr/>
        </p:nvSpPr>
        <p:spPr>
          <a:xfrm>
            <a:off x="8275320" y="3621024"/>
            <a:ext cx="1234440" cy="329184"/>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3.78</a:t>
            </a:r>
            <a:endParaRPr lang="en-US" sz="1000" dirty="0"/>
          </a:p>
        </p:txBody>
      </p:sp>
      <p:sp>
        <p:nvSpPr>
          <p:cNvPr id="56" name="Text 54"/>
          <p:cNvSpPr txBox="1"/>
          <p:nvPr/>
        </p:nvSpPr>
        <p:spPr>
          <a:xfrm>
            <a:off x="9509760" y="3621024"/>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5.33</a:t>
            </a:r>
            <a:endParaRPr lang="en-US" sz="1000" dirty="0"/>
          </a:p>
        </p:txBody>
      </p:sp>
      <p:sp>
        <p:nvSpPr>
          <p:cNvPr id="57" name="Text 55"/>
          <p:cNvSpPr txBox="1"/>
          <p:nvPr/>
        </p:nvSpPr>
        <p:spPr>
          <a:xfrm>
            <a:off x="10561320" y="3621024"/>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4.19</a:t>
            </a:r>
            <a:endParaRPr lang="en-US" sz="1000" dirty="0"/>
          </a:p>
        </p:txBody>
      </p:sp>
      <p:sp>
        <p:nvSpPr>
          <p:cNvPr id="58" name="Shape 56"/>
          <p:cNvSpPr/>
          <p:nvPr/>
        </p:nvSpPr>
        <p:spPr>
          <a:xfrm>
            <a:off x="6172200" y="3950208"/>
            <a:ext cx="5440680" cy="0"/>
          </a:xfrm>
          <a:prstGeom prst="line">
            <a:avLst/>
          </a:prstGeom>
          <a:noFill/>
          <a:ln w="6350">
            <a:solidFill>
              <a:srgbClr val="D9D9D9"/>
            </a:solidFill>
            <a:prstDash val="solid"/>
          </a:ln>
        </p:spPr>
      </p:sp>
      <p:sp>
        <p:nvSpPr>
          <p:cNvPr id="59" name="Text 57"/>
          <p:cNvSpPr txBox="1"/>
          <p:nvPr/>
        </p:nvSpPr>
        <p:spPr>
          <a:xfrm>
            <a:off x="6172200" y="3950208"/>
            <a:ext cx="2103120" cy="329184"/>
          </a:xfrm>
          <a:prstGeom prst="rect">
            <a:avLst/>
          </a:prstGeom>
          <a:noFill/>
          <a:ln/>
        </p:spPr>
        <p:txBody>
          <a:bodyPr wrap="square" lIns="0" tIns="0" rIns="0" bIns="0" rtlCol="0" anchor="ctr"/>
          <a:lstStyle/>
          <a:p>
            <a:pPr algn="l" indent="0" marL="0">
              <a:buNone/>
            </a:pPr>
            <a:r>
              <a:rPr lang="en-US" sz="1000" dirty="0">
                <a:solidFill>
                  <a:srgbClr val="1A1A1A"/>
                </a:solidFill>
                <a:latin typeface="Poppins" pitchFamily="34" charset="0"/>
                <a:ea typeface="Poppins" pitchFamily="34" charset="-122"/>
                <a:cs typeface="Poppins" pitchFamily="34" charset="-120"/>
              </a:rPr>
              <a:t>RMSE at 60 min</a:t>
            </a:r>
            <a:endParaRPr lang="en-US" sz="1000" dirty="0"/>
          </a:p>
        </p:txBody>
      </p:sp>
      <p:sp>
        <p:nvSpPr>
          <p:cNvPr id="60" name="Text 58"/>
          <p:cNvSpPr txBox="1"/>
          <p:nvPr/>
        </p:nvSpPr>
        <p:spPr>
          <a:xfrm>
            <a:off x="8275320" y="3950208"/>
            <a:ext cx="1234440" cy="329184"/>
          </a:xfrm>
          <a:prstGeom prst="rect">
            <a:avLst/>
          </a:prstGeom>
          <a:noFill/>
          <a:ln/>
        </p:spPr>
        <p:txBody>
          <a:bodyPr wrap="square" lIns="0" tIns="0" rIns="0" bIns="0" rtlCol="0" anchor="ctr"/>
          <a:lstStyle/>
          <a:p>
            <a:pPr algn="r" indent="0" marL="0">
              <a:buNone/>
            </a:pPr>
            <a:r>
              <a:rPr lang="en-US" sz="1000" b="1" dirty="0">
                <a:solidFill>
                  <a:srgbClr val="1A1A1A"/>
                </a:solidFill>
                <a:latin typeface="Poppins" pitchFamily="34" charset="0"/>
                <a:ea typeface="Poppins" pitchFamily="34" charset="-122"/>
                <a:cs typeface="Poppins" pitchFamily="34" charset="-120"/>
              </a:rPr>
              <a:t>7.07</a:t>
            </a:r>
            <a:endParaRPr lang="en-US" sz="1000" dirty="0"/>
          </a:p>
        </p:txBody>
      </p:sp>
      <p:sp>
        <p:nvSpPr>
          <p:cNvPr id="61" name="Text 59"/>
          <p:cNvSpPr txBox="1"/>
          <p:nvPr/>
        </p:nvSpPr>
        <p:spPr>
          <a:xfrm>
            <a:off x="9509760" y="3950208"/>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10.27</a:t>
            </a:r>
            <a:endParaRPr lang="en-US" sz="1000" dirty="0"/>
          </a:p>
        </p:txBody>
      </p:sp>
      <p:sp>
        <p:nvSpPr>
          <p:cNvPr id="62" name="Text 60"/>
          <p:cNvSpPr txBox="1"/>
          <p:nvPr/>
        </p:nvSpPr>
        <p:spPr>
          <a:xfrm>
            <a:off x="10561320" y="3950208"/>
            <a:ext cx="1051560" cy="329184"/>
          </a:xfrm>
          <a:prstGeom prst="rect">
            <a:avLst/>
          </a:prstGeom>
          <a:noFill/>
          <a:ln/>
        </p:spPr>
        <p:txBody>
          <a:bodyPr wrap="square" lIns="0" tIns="0" rIns="0" bIns="0" rtlCol="0" anchor="ctr"/>
          <a:lstStyle/>
          <a:p>
            <a:pPr algn="r" indent="0" marL="0">
              <a:buNone/>
            </a:pPr>
            <a:r>
              <a:rPr lang="en-US" sz="1000" dirty="0">
                <a:solidFill>
                  <a:srgbClr val="1A1A1A"/>
                </a:solidFill>
                <a:latin typeface="Poppins" pitchFamily="34" charset="0"/>
                <a:ea typeface="Poppins" pitchFamily="34" charset="-122"/>
                <a:cs typeface="Poppins" pitchFamily="34" charset="-120"/>
              </a:rPr>
              <a:t>7.86</a:t>
            </a:r>
            <a:endParaRPr lang="en-US" sz="1000" dirty="0"/>
          </a:p>
        </p:txBody>
      </p:sp>
      <p:sp>
        <p:nvSpPr>
          <p:cNvPr id="63" name="Shape 61"/>
          <p:cNvSpPr/>
          <p:nvPr/>
        </p:nvSpPr>
        <p:spPr>
          <a:xfrm>
            <a:off x="6172200" y="4279392"/>
            <a:ext cx="5440680" cy="0"/>
          </a:xfrm>
          <a:prstGeom prst="line">
            <a:avLst/>
          </a:prstGeom>
          <a:noFill/>
          <a:ln w="6350">
            <a:solidFill>
              <a:srgbClr val="D9D9D9"/>
            </a:solidFill>
            <a:prstDash val="solid"/>
          </a:ln>
        </p:spPr>
      </p:sp>
      <p:sp>
        <p:nvSpPr>
          <p:cNvPr id="64" name="Text 62"/>
          <p:cNvSpPr txBox="1"/>
          <p:nvPr/>
        </p:nvSpPr>
        <p:spPr>
          <a:xfrm>
            <a:off x="6172200" y="4462272"/>
            <a:ext cx="5440680" cy="1463040"/>
          </a:xfrm>
          <a:prstGeom prst="rect">
            <a:avLst/>
          </a:prstGeom>
          <a:noFill/>
          <a:ln/>
        </p:spPr>
        <p:txBody>
          <a:bodyPr wrap="square" lIns="0" tIns="0" rIns="0" bIns="0" rtlCol="0" anchor="t"/>
          <a:lstStyle/>
          <a:p>
            <a:pPr indent="0" marL="0">
              <a:buNone/>
            </a:pPr>
            <a:r>
              <a:rPr lang="en-US" sz="900" b="1" dirty="0">
                <a:solidFill>
                  <a:srgbClr val="1A1A1A"/>
                </a:solidFill>
                <a:latin typeface="Poppins" pitchFamily="34" charset="0"/>
                <a:ea typeface="Poppins" pitchFamily="34" charset="-122"/>
                <a:cs typeface="Poppins" pitchFamily="34" charset="-120"/>
              </a:rPr>
              <a:t>Why not accuracy: </a:t>
            </a:r>
            <a:pPr indent="0" marL="0">
              <a:buNone/>
            </a:pPr>
            <a:r>
              <a:rPr lang="en-US" sz="900" dirty="0">
                <a:solidFill>
                  <a:srgbClr val="6B6B6B"/>
                </a:solidFill>
                <a:latin typeface="Poppins" pitchFamily="34" charset="0"/>
                <a:ea typeface="Poppins" pitchFamily="34" charset="-122"/>
                <a:cs typeface="Poppins" pitchFamily="34" charset="-120"/>
              </a:rPr>
              <a:t>90% of answers are "free", so always saying "free" scores 89.7%. MAE — the average mistake in mph, counting only cells where the true speed is known — cannot be fooled that way. Persistence is excellent at 15 min and collapses by 60; the historical average ignores the present; the learned model combines both. XGB-local is 22% better than Ridge at 60 min; the Random Forest is 0.01 mph behind. Test weeks (4–27 June) were scored once, at the end. DCRNN, the published deep graph model on this data, reports 3.60 at 60 min.</a:t>
            </a:r>
            <a:endParaRPr lang="en-US" sz="900" dirty="0"/>
          </a:p>
        </p:txBody>
      </p:sp>
      <p:sp>
        <p:nvSpPr>
          <p:cNvPr id="65" name="Shape 63"/>
          <p:cNvSpPr/>
          <p:nvPr/>
        </p:nvSpPr>
        <p:spPr>
          <a:xfrm>
            <a:off x="11274552" y="5989320"/>
            <a:ext cx="365760" cy="365760"/>
          </a:xfrm>
          <a:prstGeom prst="ellipse">
            <a:avLst/>
          </a:prstGeom>
          <a:solidFill>
            <a:srgbClr val="1A1A1A"/>
          </a:solidFill>
          <a:ln w="12700">
            <a:solidFill>
              <a:srgbClr val="1A1A1A"/>
            </a:solidFill>
            <a:prstDash val="solid"/>
          </a:ln>
        </p:spPr>
      </p:sp>
      <p:sp>
        <p:nvSpPr>
          <p:cNvPr id="66" name="Text 64"/>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A1A1A"/>
          </a:solidFill>
          <a:ln w="12700">
            <a:solidFill>
              <a:srgbClr val="1A1A1A"/>
            </a:solidFill>
            <a:prstDash val="solid"/>
          </a:ln>
        </p:spPr>
      </p:sp>
      <p:sp>
        <p:nvSpPr>
          <p:cNvPr id="3" name="Shape 1"/>
          <p:cNvSpPr/>
          <p:nvPr/>
        </p:nvSpPr>
        <p:spPr>
          <a:xfrm>
            <a:off x="2697480" y="347472"/>
            <a:ext cx="6812280" cy="420624"/>
          </a:xfrm>
          <a:prstGeom prst="roundRect">
            <a:avLst>
              <a:gd name="adj" fmla="val 50000"/>
            </a:avLst>
          </a:prstGeom>
          <a:solidFill>
            <a:srgbClr val="E3E3E3"/>
          </a:solidFill>
          <a:ln w="12700">
            <a:solidFill>
              <a:srgbClr val="E3E3E3"/>
            </a:solidFill>
            <a:prstDash val="solid"/>
          </a:ln>
        </p:spPr>
      </p:sp>
      <p:sp>
        <p:nvSpPr>
          <p:cNvPr id="4" name="Shape 2"/>
          <p:cNvSpPr/>
          <p:nvPr/>
        </p:nvSpPr>
        <p:spPr>
          <a:xfrm>
            <a:off x="2770632" y="411480"/>
            <a:ext cx="658368" cy="292608"/>
          </a:xfrm>
          <a:prstGeom prst="roundRect">
            <a:avLst>
              <a:gd name="adj" fmla="val 50000"/>
            </a:avLst>
          </a:prstGeom>
          <a:solidFill>
            <a:srgbClr val="1A1A1A"/>
          </a:solidFill>
          <a:ln w="12700">
            <a:solidFill>
              <a:srgbClr val="1A1A1A"/>
            </a:solidFill>
            <a:prstDash val="solid"/>
          </a:ln>
        </p:spPr>
      </p:sp>
      <p:sp>
        <p:nvSpPr>
          <p:cNvPr id="5" name="Text 3"/>
          <p:cNvSpPr txBox="1"/>
          <p:nvPr/>
        </p:nvSpPr>
        <p:spPr>
          <a:xfrm>
            <a:off x="2770632" y="411480"/>
            <a:ext cx="65836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T082</a:t>
            </a:r>
            <a:endParaRPr lang="en-US" sz="800" dirty="0"/>
          </a:p>
        </p:txBody>
      </p:sp>
      <p:sp>
        <p:nvSpPr>
          <p:cNvPr id="6" name="Text 4"/>
          <p:cNvSpPr txBox="1"/>
          <p:nvPr/>
        </p:nvSpPr>
        <p:spPr>
          <a:xfrm>
            <a:off x="3520440" y="347472"/>
            <a:ext cx="2377440" cy="42062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Team T082 · Section B</a:t>
            </a:r>
            <a:endParaRPr lang="en-US" sz="1050" dirty="0"/>
          </a:p>
        </p:txBody>
      </p:sp>
      <p:sp>
        <p:nvSpPr>
          <p:cNvPr id="7" name="Shape 5"/>
          <p:cNvSpPr/>
          <p:nvPr/>
        </p:nvSpPr>
        <p:spPr>
          <a:xfrm>
            <a:off x="5486400" y="411480"/>
            <a:ext cx="932688" cy="292608"/>
          </a:xfrm>
          <a:prstGeom prst="roundRect">
            <a:avLst>
              <a:gd name="adj" fmla="val 50000"/>
            </a:avLst>
          </a:prstGeom>
          <a:solidFill>
            <a:srgbClr val="D6D6D6"/>
          </a:solidFill>
          <a:ln w="12700">
            <a:solidFill>
              <a:srgbClr val="D6D6D6"/>
            </a:solidFill>
            <a:prstDash val="solid"/>
          </a:ln>
        </p:spPr>
      </p:sp>
      <p:sp>
        <p:nvSpPr>
          <p:cNvPr id="8" name="Text 6"/>
          <p:cNvSpPr txBox="1"/>
          <p:nvPr/>
        </p:nvSpPr>
        <p:spPr>
          <a:xfrm>
            <a:off x="548640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Problem</a:t>
            </a:r>
            <a:endParaRPr lang="en-US" sz="950" dirty="0"/>
          </a:p>
        </p:txBody>
      </p:sp>
      <p:sp>
        <p:nvSpPr>
          <p:cNvPr id="9" name="Shape 7"/>
          <p:cNvSpPr/>
          <p:nvPr/>
        </p:nvSpPr>
        <p:spPr>
          <a:xfrm>
            <a:off x="6492240" y="411480"/>
            <a:ext cx="932688" cy="292608"/>
          </a:xfrm>
          <a:prstGeom prst="roundRect">
            <a:avLst>
              <a:gd name="adj" fmla="val 50000"/>
            </a:avLst>
          </a:prstGeom>
          <a:solidFill>
            <a:srgbClr val="D6D6D6"/>
          </a:solidFill>
          <a:ln w="12700">
            <a:solidFill>
              <a:srgbClr val="D6D6D6"/>
            </a:solidFill>
            <a:prstDash val="solid"/>
          </a:ln>
        </p:spPr>
      </p:sp>
      <p:sp>
        <p:nvSpPr>
          <p:cNvPr id="10" name="Text 8"/>
          <p:cNvSpPr txBox="1"/>
          <p:nvPr/>
        </p:nvSpPr>
        <p:spPr>
          <a:xfrm>
            <a:off x="649224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Data</a:t>
            </a:r>
            <a:endParaRPr lang="en-US" sz="950" dirty="0"/>
          </a:p>
        </p:txBody>
      </p:sp>
      <p:sp>
        <p:nvSpPr>
          <p:cNvPr id="11" name="Shape 9"/>
          <p:cNvSpPr/>
          <p:nvPr/>
        </p:nvSpPr>
        <p:spPr>
          <a:xfrm>
            <a:off x="7498080" y="411480"/>
            <a:ext cx="932688" cy="292608"/>
          </a:xfrm>
          <a:prstGeom prst="roundRect">
            <a:avLst>
              <a:gd name="adj" fmla="val 50000"/>
            </a:avLst>
          </a:prstGeom>
          <a:solidFill>
            <a:srgbClr val="D6D6D6"/>
          </a:solidFill>
          <a:ln w="12700">
            <a:solidFill>
              <a:srgbClr val="D6D6D6"/>
            </a:solidFill>
            <a:prstDash val="solid"/>
          </a:ln>
        </p:spPr>
      </p:sp>
      <p:sp>
        <p:nvSpPr>
          <p:cNvPr id="12" name="Text 10"/>
          <p:cNvSpPr txBox="1"/>
          <p:nvPr/>
        </p:nvSpPr>
        <p:spPr>
          <a:xfrm>
            <a:off x="7498080" y="411480"/>
            <a:ext cx="932688" cy="292608"/>
          </a:xfrm>
          <a:prstGeom prst="rect">
            <a:avLst/>
          </a:prstGeom>
          <a:noFill/>
          <a:ln/>
        </p:spPr>
        <p:txBody>
          <a:bodyPr wrap="square" lIns="0" tIns="0" rIns="0" bIns="0" rtlCol="0" anchor="ctr"/>
          <a:lstStyle/>
          <a:p>
            <a:pPr algn="ctr" indent="0" marL="0">
              <a:buNone/>
            </a:pPr>
            <a:r>
              <a:rPr lang="en-US" sz="950" dirty="0">
                <a:solidFill>
                  <a:srgbClr val="1A1A1A"/>
                </a:solidFill>
                <a:latin typeface="Poppins" pitchFamily="34" charset="0"/>
                <a:ea typeface="Poppins" pitchFamily="34" charset="-122"/>
                <a:cs typeface="Poppins" pitchFamily="34" charset="-120"/>
              </a:rPr>
              <a:t>Models</a:t>
            </a:r>
            <a:endParaRPr lang="en-US" sz="950" dirty="0"/>
          </a:p>
        </p:txBody>
      </p:sp>
      <p:sp>
        <p:nvSpPr>
          <p:cNvPr id="13" name="Shape 11"/>
          <p:cNvSpPr/>
          <p:nvPr/>
        </p:nvSpPr>
        <p:spPr>
          <a:xfrm>
            <a:off x="8503920" y="411480"/>
            <a:ext cx="932688" cy="292608"/>
          </a:xfrm>
          <a:prstGeom prst="roundRect">
            <a:avLst>
              <a:gd name="adj" fmla="val 50000"/>
            </a:avLst>
          </a:prstGeom>
          <a:solidFill>
            <a:srgbClr val="1A1A1A"/>
          </a:solidFill>
          <a:ln w="12700">
            <a:solidFill>
              <a:srgbClr val="1A1A1A"/>
            </a:solidFill>
            <a:prstDash val="solid"/>
          </a:ln>
        </p:spPr>
      </p:sp>
      <p:sp>
        <p:nvSpPr>
          <p:cNvPr id="14" name="Text 12"/>
          <p:cNvSpPr txBox="1"/>
          <p:nvPr/>
        </p:nvSpPr>
        <p:spPr>
          <a:xfrm>
            <a:off x="8503920" y="411480"/>
            <a:ext cx="93268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Insights</a:t>
            </a:r>
            <a:endParaRPr lang="en-US" sz="950" dirty="0"/>
          </a:p>
        </p:txBody>
      </p:sp>
      <p:sp>
        <p:nvSpPr>
          <p:cNvPr id="15" name="Text 13"/>
          <p:cNvSpPr txBox="1"/>
          <p:nvPr/>
        </p:nvSpPr>
        <p:spPr>
          <a:xfrm>
            <a:off x="658368" y="1234440"/>
            <a:ext cx="3474720" cy="201168"/>
          </a:xfrm>
          <a:prstGeom prst="rect">
            <a:avLst/>
          </a:prstGeom>
          <a:noFill/>
          <a:ln/>
        </p:spPr>
        <p:txBody>
          <a:bodyPr wrap="square" lIns="0" tIns="0" rIns="0" bIns="0" rtlCol="0" anchor="t"/>
          <a:lstStyle/>
          <a:p>
            <a:pPr indent="0" marL="0">
              <a:buNone/>
            </a:pPr>
            <a:r>
              <a:rPr lang="en-US" sz="650" b="1" spc="160" kern="0" dirty="0">
                <a:solidFill>
                  <a:srgbClr val="A3A3A3"/>
                </a:solidFill>
                <a:latin typeface="Poppins" pitchFamily="34" charset="0"/>
                <a:ea typeface="Poppins" pitchFamily="34" charset="-122"/>
                <a:cs typeface="Poppins" pitchFamily="34" charset="-120"/>
              </a:rPr>
              <a:t>SAME XGBOOST, WITH VS WITHOUT 8 NEIGHBOUR NUMBERS · MAE REDUCTION</a:t>
            </a:r>
            <a:endParaRPr lang="en-US" sz="650" dirty="0"/>
          </a:p>
        </p:txBody>
      </p:sp>
      <p:sp>
        <p:nvSpPr>
          <p:cNvPr id="16" name="Text 14"/>
          <p:cNvSpPr txBox="1"/>
          <p:nvPr/>
        </p:nvSpPr>
        <p:spPr>
          <a:xfrm>
            <a:off x="658368" y="1737360"/>
            <a:ext cx="2377440" cy="201168"/>
          </a:xfrm>
          <a:prstGeom prst="rect">
            <a:avLst/>
          </a:prstGeom>
          <a:noFill/>
          <a:ln/>
        </p:spPr>
        <p:txBody>
          <a:bodyPr wrap="square" lIns="0" tIns="0" rIns="0" bIns="0" rtlCol="0" anchor="t"/>
          <a:lstStyle/>
          <a:p>
            <a:pPr indent="0" marL="0">
              <a:buNone/>
            </a:pPr>
            <a:r>
              <a:rPr lang="en-US" sz="950" dirty="0">
                <a:solidFill>
                  <a:srgbClr val="FFFFFF"/>
                </a:solidFill>
                <a:latin typeface="Poppins" pitchFamily="34" charset="0"/>
                <a:ea typeface="Poppins" pitchFamily="34" charset="-122"/>
                <a:cs typeface="Poppins" pitchFamily="34" charset="-120"/>
              </a:rPr>
              <a:t>15 min ahead</a:t>
            </a:r>
            <a:endParaRPr lang="en-US" sz="950" dirty="0"/>
          </a:p>
        </p:txBody>
      </p:sp>
      <p:sp>
        <p:nvSpPr>
          <p:cNvPr id="17" name="Text 15"/>
          <p:cNvSpPr txBox="1"/>
          <p:nvPr/>
        </p:nvSpPr>
        <p:spPr>
          <a:xfrm>
            <a:off x="3081528" y="1737360"/>
            <a:ext cx="777240" cy="201168"/>
          </a:xfrm>
          <a:prstGeom prst="rect">
            <a:avLst/>
          </a:prstGeom>
          <a:noFill/>
          <a:ln/>
        </p:spPr>
        <p:txBody>
          <a:bodyPr wrap="square" lIns="0" tIns="0" rIns="0" bIns="0" rtlCol="0" anchor="t"/>
          <a:lstStyle/>
          <a:p>
            <a:pPr algn="r" indent="0" marL="0">
              <a:buNone/>
            </a:pPr>
            <a:r>
              <a:rPr lang="en-US" sz="950" b="1" dirty="0">
                <a:solidFill>
                  <a:srgbClr val="FFFFFF"/>
                </a:solidFill>
                <a:latin typeface="Poppins" pitchFamily="34" charset="0"/>
                <a:ea typeface="Poppins" pitchFamily="34" charset="-122"/>
                <a:cs typeface="Poppins" pitchFamily="34" charset="-120"/>
              </a:rPr>
              <a:t>−4.1%</a:t>
            </a:r>
            <a:endParaRPr lang="en-US" sz="950" dirty="0"/>
          </a:p>
        </p:txBody>
      </p:sp>
      <p:sp>
        <p:nvSpPr>
          <p:cNvPr id="18" name="Shape 16"/>
          <p:cNvSpPr/>
          <p:nvPr/>
        </p:nvSpPr>
        <p:spPr>
          <a:xfrm>
            <a:off x="658368" y="1984248"/>
            <a:ext cx="2286000" cy="182880"/>
          </a:xfrm>
          <a:prstGeom prst="roundRect">
            <a:avLst>
              <a:gd name="adj" fmla="val 50000"/>
            </a:avLst>
          </a:prstGeom>
          <a:solidFill>
            <a:srgbClr val="3A3A3A"/>
          </a:solidFill>
          <a:ln w="12700">
            <a:solidFill>
              <a:srgbClr val="3A3A3A"/>
            </a:solidFill>
            <a:prstDash val="solid"/>
          </a:ln>
        </p:spPr>
      </p:sp>
      <p:sp>
        <p:nvSpPr>
          <p:cNvPr id="19" name="Shape 17"/>
          <p:cNvSpPr/>
          <p:nvPr/>
        </p:nvSpPr>
        <p:spPr>
          <a:xfrm>
            <a:off x="658368" y="1984248"/>
            <a:ext cx="2286000" cy="182880"/>
          </a:xfrm>
          <a:prstGeom prst="roundRect">
            <a:avLst>
              <a:gd name="adj" fmla="val 50000"/>
            </a:avLst>
          </a:prstGeom>
          <a:solidFill>
            <a:srgbClr val="FFFFFF"/>
          </a:solidFill>
          <a:ln w="12700">
            <a:solidFill>
              <a:srgbClr val="FFFFFF"/>
            </a:solidFill>
            <a:prstDash val="solid"/>
          </a:ln>
        </p:spPr>
      </p:sp>
      <p:sp>
        <p:nvSpPr>
          <p:cNvPr id="20" name="Text 18"/>
          <p:cNvSpPr txBox="1"/>
          <p:nvPr/>
        </p:nvSpPr>
        <p:spPr>
          <a:xfrm>
            <a:off x="658368" y="2304288"/>
            <a:ext cx="2377440" cy="201168"/>
          </a:xfrm>
          <a:prstGeom prst="rect">
            <a:avLst/>
          </a:prstGeom>
          <a:noFill/>
          <a:ln/>
        </p:spPr>
        <p:txBody>
          <a:bodyPr wrap="square" lIns="0" tIns="0" rIns="0" bIns="0" rtlCol="0" anchor="t"/>
          <a:lstStyle/>
          <a:p>
            <a:pPr indent="0" marL="0">
              <a:buNone/>
            </a:pPr>
            <a:r>
              <a:rPr lang="en-US" sz="950" dirty="0">
                <a:solidFill>
                  <a:srgbClr val="FFFFFF"/>
                </a:solidFill>
                <a:latin typeface="Poppins" pitchFamily="34" charset="0"/>
                <a:ea typeface="Poppins" pitchFamily="34" charset="-122"/>
                <a:cs typeface="Poppins" pitchFamily="34" charset="-120"/>
              </a:rPr>
              <a:t>30 min ahead</a:t>
            </a:r>
            <a:endParaRPr lang="en-US" sz="950" dirty="0"/>
          </a:p>
        </p:txBody>
      </p:sp>
      <p:sp>
        <p:nvSpPr>
          <p:cNvPr id="21" name="Text 19"/>
          <p:cNvSpPr txBox="1"/>
          <p:nvPr/>
        </p:nvSpPr>
        <p:spPr>
          <a:xfrm>
            <a:off x="3081528" y="2304288"/>
            <a:ext cx="777240" cy="201168"/>
          </a:xfrm>
          <a:prstGeom prst="rect">
            <a:avLst/>
          </a:prstGeom>
          <a:noFill/>
          <a:ln/>
        </p:spPr>
        <p:txBody>
          <a:bodyPr wrap="square" lIns="0" tIns="0" rIns="0" bIns="0" rtlCol="0" anchor="t"/>
          <a:lstStyle/>
          <a:p>
            <a:pPr algn="r" indent="0" marL="0">
              <a:buNone/>
            </a:pPr>
            <a:r>
              <a:rPr lang="en-US" sz="950" b="1" dirty="0">
                <a:solidFill>
                  <a:srgbClr val="FFFFFF"/>
                </a:solidFill>
                <a:latin typeface="Poppins" pitchFamily="34" charset="0"/>
                <a:ea typeface="Poppins" pitchFamily="34" charset="-122"/>
                <a:cs typeface="Poppins" pitchFamily="34" charset="-120"/>
              </a:rPr>
              <a:t>−3.3%</a:t>
            </a:r>
            <a:endParaRPr lang="en-US" sz="950" dirty="0"/>
          </a:p>
        </p:txBody>
      </p:sp>
      <p:sp>
        <p:nvSpPr>
          <p:cNvPr id="22" name="Shape 20"/>
          <p:cNvSpPr/>
          <p:nvPr/>
        </p:nvSpPr>
        <p:spPr>
          <a:xfrm>
            <a:off x="658368" y="2551176"/>
            <a:ext cx="2286000" cy="182880"/>
          </a:xfrm>
          <a:prstGeom prst="roundRect">
            <a:avLst>
              <a:gd name="adj" fmla="val 50000"/>
            </a:avLst>
          </a:prstGeom>
          <a:solidFill>
            <a:srgbClr val="3A3A3A"/>
          </a:solidFill>
          <a:ln w="12700">
            <a:solidFill>
              <a:srgbClr val="3A3A3A"/>
            </a:solidFill>
            <a:prstDash val="solid"/>
          </a:ln>
        </p:spPr>
      </p:sp>
      <p:sp>
        <p:nvSpPr>
          <p:cNvPr id="23" name="Shape 21"/>
          <p:cNvSpPr/>
          <p:nvPr/>
        </p:nvSpPr>
        <p:spPr>
          <a:xfrm>
            <a:off x="658368" y="2551176"/>
            <a:ext cx="1839951" cy="182880"/>
          </a:xfrm>
          <a:prstGeom prst="roundRect">
            <a:avLst>
              <a:gd name="adj" fmla="val 50000"/>
            </a:avLst>
          </a:prstGeom>
          <a:solidFill>
            <a:srgbClr val="FFFFFF"/>
          </a:solidFill>
          <a:ln w="12700">
            <a:solidFill>
              <a:srgbClr val="FFFFFF"/>
            </a:solidFill>
            <a:prstDash val="solid"/>
          </a:ln>
        </p:spPr>
      </p:sp>
      <p:sp>
        <p:nvSpPr>
          <p:cNvPr id="24" name="Text 22"/>
          <p:cNvSpPr txBox="1"/>
          <p:nvPr/>
        </p:nvSpPr>
        <p:spPr>
          <a:xfrm>
            <a:off x="658368" y="2871216"/>
            <a:ext cx="2377440" cy="201168"/>
          </a:xfrm>
          <a:prstGeom prst="rect">
            <a:avLst/>
          </a:prstGeom>
          <a:noFill/>
          <a:ln/>
        </p:spPr>
        <p:txBody>
          <a:bodyPr wrap="square" lIns="0" tIns="0" rIns="0" bIns="0" rtlCol="0" anchor="t"/>
          <a:lstStyle/>
          <a:p>
            <a:pPr indent="0" marL="0">
              <a:buNone/>
            </a:pPr>
            <a:r>
              <a:rPr lang="en-US" sz="950" dirty="0">
                <a:solidFill>
                  <a:srgbClr val="FFFFFF"/>
                </a:solidFill>
                <a:latin typeface="Poppins" pitchFamily="34" charset="0"/>
                <a:ea typeface="Poppins" pitchFamily="34" charset="-122"/>
                <a:cs typeface="Poppins" pitchFamily="34" charset="-120"/>
              </a:rPr>
              <a:t>60 min ahead</a:t>
            </a:r>
            <a:endParaRPr lang="en-US" sz="950" dirty="0"/>
          </a:p>
        </p:txBody>
      </p:sp>
      <p:sp>
        <p:nvSpPr>
          <p:cNvPr id="25" name="Text 23"/>
          <p:cNvSpPr txBox="1"/>
          <p:nvPr/>
        </p:nvSpPr>
        <p:spPr>
          <a:xfrm>
            <a:off x="3081528" y="2871216"/>
            <a:ext cx="777240" cy="201168"/>
          </a:xfrm>
          <a:prstGeom prst="rect">
            <a:avLst/>
          </a:prstGeom>
          <a:noFill/>
          <a:ln/>
        </p:spPr>
        <p:txBody>
          <a:bodyPr wrap="square" lIns="0" tIns="0" rIns="0" bIns="0" rtlCol="0" anchor="t"/>
          <a:lstStyle/>
          <a:p>
            <a:pPr algn="r" indent="0" marL="0">
              <a:buNone/>
            </a:pPr>
            <a:r>
              <a:rPr lang="en-US" sz="950" b="1" dirty="0">
                <a:solidFill>
                  <a:srgbClr val="FFFFFF"/>
                </a:solidFill>
                <a:latin typeface="Poppins" pitchFamily="34" charset="0"/>
                <a:ea typeface="Poppins" pitchFamily="34" charset="-122"/>
                <a:cs typeface="Poppins" pitchFamily="34" charset="-120"/>
              </a:rPr>
              <a:t>−1.8%</a:t>
            </a:r>
            <a:endParaRPr lang="en-US" sz="950" dirty="0"/>
          </a:p>
        </p:txBody>
      </p:sp>
      <p:sp>
        <p:nvSpPr>
          <p:cNvPr id="26" name="Shape 24"/>
          <p:cNvSpPr/>
          <p:nvPr/>
        </p:nvSpPr>
        <p:spPr>
          <a:xfrm>
            <a:off x="658368" y="3118104"/>
            <a:ext cx="2286000" cy="182880"/>
          </a:xfrm>
          <a:prstGeom prst="roundRect">
            <a:avLst>
              <a:gd name="adj" fmla="val 50000"/>
            </a:avLst>
          </a:prstGeom>
          <a:solidFill>
            <a:srgbClr val="3A3A3A"/>
          </a:solidFill>
          <a:ln w="12700">
            <a:solidFill>
              <a:srgbClr val="3A3A3A"/>
            </a:solidFill>
            <a:prstDash val="solid"/>
          </a:ln>
        </p:spPr>
      </p:sp>
      <p:sp>
        <p:nvSpPr>
          <p:cNvPr id="27" name="Shape 25"/>
          <p:cNvSpPr/>
          <p:nvPr/>
        </p:nvSpPr>
        <p:spPr>
          <a:xfrm>
            <a:off x="658368" y="3118104"/>
            <a:ext cx="1003610" cy="182880"/>
          </a:xfrm>
          <a:prstGeom prst="roundRect">
            <a:avLst>
              <a:gd name="adj" fmla="val 50000"/>
            </a:avLst>
          </a:prstGeom>
          <a:solidFill>
            <a:srgbClr val="FFFFFF"/>
          </a:solidFill>
          <a:ln w="12700">
            <a:solidFill>
              <a:srgbClr val="FFFFFF"/>
            </a:solidFill>
            <a:prstDash val="solid"/>
          </a:ln>
        </p:spPr>
      </p:sp>
      <p:sp>
        <p:nvSpPr>
          <p:cNvPr id="28" name="Text 26"/>
          <p:cNvSpPr txBox="1"/>
          <p:nvPr/>
        </p:nvSpPr>
        <p:spPr>
          <a:xfrm>
            <a:off x="658368" y="3438144"/>
            <a:ext cx="2377440" cy="201168"/>
          </a:xfrm>
          <a:prstGeom prst="rect">
            <a:avLst/>
          </a:prstGeom>
          <a:noFill/>
          <a:ln/>
        </p:spPr>
        <p:txBody>
          <a:bodyPr wrap="square" lIns="0" tIns="0" rIns="0" bIns="0" rtlCol="0" anchor="t"/>
          <a:lstStyle/>
          <a:p>
            <a:pPr indent="0" marL="0">
              <a:buNone/>
            </a:pPr>
            <a:r>
              <a:rPr lang="en-US" sz="950" dirty="0">
                <a:solidFill>
                  <a:srgbClr val="FFFFFF"/>
                </a:solidFill>
                <a:latin typeface="Poppins" pitchFamily="34" charset="0"/>
                <a:ea typeface="Poppins" pitchFamily="34" charset="-122"/>
                <a:cs typeface="Poppins" pitchFamily="34" charset="-120"/>
              </a:rPr>
              <a:t>60 min · rush hour</a:t>
            </a:r>
            <a:endParaRPr lang="en-US" sz="950" dirty="0"/>
          </a:p>
        </p:txBody>
      </p:sp>
      <p:sp>
        <p:nvSpPr>
          <p:cNvPr id="29" name="Text 27"/>
          <p:cNvSpPr txBox="1"/>
          <p:nvPr/>
        </p:nvSpPr>
        <p:spPr>
          <a:xfrm>
            <a:off x="3081528" y="3438144"/>
            <a:ext cx="777240" cy="201168"/>
          </a:xfrm>
          <a:prstGeom prst="rect">
            <a:avLst/>
          </a:prstGeom>
          <a:noFill/>
          <a:ln/>
        </p:spPr>
        <p:txBody>
          <a:bodyPr wrap="square" lIns="0" tIns="0" rIns="0" bIns="0" rtlCol="0" anchor="t"/>
          <a:lstStyle/>
          <a:p>
            <a:pPr algn="r" indent="0" marL="0">
              <a:buNone/>
            </a:pPr>
            <a:r>
              <a:rPr lang="en-US" sz="950" b="1" dirty="0">
                <a:solidFill>
                  <a:srgbClr val="FFFFFF"/>
                </a:solidFill>
                <a:latin typeface="Poppins" pitchFamily="34" charset="0"/>
                <a:ea typeface="Poppins" pitchFamily="34" charset="-122"/>
                <a:cs typeface="Poppins" pitchFamily="34" charset="-120"/>
              </a:rPr>
              <a:t>−3.2%</a:t>
            </a:r>
            <a:endParaRPr lang="en-US" sz="950" dirty="0"/>
          </a:p>
        </p:txBody>
      </p:sp>
      <p:sp>
        <p:nvSpPr>
          <p:cNvPr id="30" name="Shape 28"/>
          <p:cNvSpPr/>
          <p:nvPr/>
        </p:nvSpPr>
        <p:spPr>
          <a:xfrm>
            <a:off x="658368" y="3685032"/>
            <a:ext cx="2286000" cy="182880"/>
          </a:xfrm>
          <a:prstGeom prst="roundRect">
            <a:avLst>
              <a:gd name="adj" fmla="val 50000"/>
            </a:avLst>
          </a:prstGeom>
          <a:solidFill>
            <a:srgbClr val="3A3A3A"/>
          </a:solidFill>
          <a:ln w="12700">
            <a:solidFill>
              <a:srgbClr val="3A3A3A"/>
            </a:solidFill>
            <a:prstDash val="solid"/>
          </a:ln>
        </p:spPr>
      </p:sp>
      <p:sp>
        <p:nvSpPr>
          <p:cNvPr id="31" name="Shape 29"/>
          <p:cNvSpPr/>
          <p:nvPr/>
        </p:nvSpPr>
        <p:spPr>
          <a:xfrm>
            <a:off x="658368" y="3685032"/>
            <a:ext cx="1784195" cy="182880"/>
          </a:xfrm>
          <a:prstGeom prst="roundRect">
            <a:avLst>
              <a:gd name="adj" fmla="val 50000"/>
            </a:avLst>
          </a:prstGeom>
          <a:solidFill>
            <a:srgbClr val="FFFFFF"/>
          </a:solidFill>
          <a:ln w="12700">
            <a:solidFill>
              <a:srgbClr val="FFFFFF"/>
            </a:solidFill>
            <a:prstDash val="solid"/>
          </a:ln>
        </p:spPr>
      </p:sp>
      <p:sp>
        <p:nvSpPr>
          <p:cNvPr id="32" name="Text 30"/>
          <p:cNvSpPr txBox="1"/>
          <p:nvPr/>
        </p:nvSpPr>
        <p:spPr>
          <a:xfrm>
            <a:off x="658368" y="4005072"/>
            <a:ext cx="2377440" cy="201168"/>
          </a:xfrm>
          <a:prstGeom prst="rect">
            <a:avLst/>
          </a:prstGeom>
          <a:noFill/>
          <a:ln/>
        </p:spPr>
        <p:txBody>
          <a:bodyPr wrap="square" lIns="0" tIns="0" rIns="0" bIns="0" rtlCol="0" anchor="t"/>
          <a:lstStyle/>
          <a:p>
            <a:pPr indent="0" marL="0">
              <a:buNone/>
            </a:pPr>
            <a:r>
              <a:rPr lang="en-US" sz="950" dirty="0">
                <a:solidFill>
                  <a:srgbClr val="FFFFFF"/>
                </a:solidFill>
                <a:latin typeface="Poppins" pitchFamily="34" charset="0"/>
                <a:ea typeface="Poppins" pitchFamily="34" charset="-122"/>
                <a:cs typeface="Poppins" pitchFamily="34" charset="-120"/>
              </a:rPr>
              <a:t>60 min · off-peak</a:t>
            </a:r>
            <a:endParaRPr lang="en-US" sz="950" dirty="0"/>
          </a:p>
        </p:txBody>
      </p:sp>
      <p:sp>
        <p:nvSpPr>
          <p:cNvPr id="33" name="Text 31"/>
          <p:cNvSpPr txBox="1"/>
          <p:nvPr/>
        </p:nvSpPr>
        <p:spPr>
          <a:xfrm>
            <a:off x="3081528" y="4005072"/>
            <a:ext cx="777240" cy="201168"/>
          </a:xfrm>
          <a:prstGeom prst="rect">
            <a:avLst/>
          </a:prstGeom>
          <a:noFill/>
          <a:ln/>
        </p:spPr>
        <p:txBody>
          <a:bodyPr wrap="square" lIns="0" tIns="0" rIns="0" bIns="0" rtlCol="0" anchor="t"/>
          <a:lstStyle/>
          <a:p>
            <a:pPr algn="r" indent="0" marL="0">
              <a:buNone/>
            </a:pPr>
            <a:r>
              <a:rPr lang="en-US" sz="950" b="1" dirty="0">
                <a:solidFill>
                  <a:srgbClr val="FFFFFF"/>
                </a:solidFill>
                <a:latin typeface="Poppins" pitchFamily="34" charset="0"/>
                <a:ea typeface="Poppins" pitchFamily="34" charset="-122"/>
                <a:cs typeface="Poppins" pitchFamily="34" charset="-120"/>
              </a:rPr>
              <a:t>−1.1%</a:t>
            </a:r>
            <a:endParaRPr lang="en-US" sz="950" dirty="0"/>
          </a:p>
        </p:txBody>
      </p:sp>
      <p:sp>
        <p:nvSpPr>
          <p:cNvPr id="34" name="Shape 32"/>
          <p:cNvSpPr/>
          <p:nvPr/>
        </p:nvSpPr>
        <p:spPr>
          <a:xfrm>
            <a:off x="658368" y="4251960"/>
            <a:ext cx="2286000" cy="182880"/>
          </a:xfrm>
          <a:prstGeom prst="roundRect">
            <a:avLst>
              <a:gd name="adj" fmla="val 50000"/>
            </a:avLst>
          </a:prstGeom>
          <a:solidFill>
            <a:srgbClr val="3A3A3A"/>
          </a:solidFill>
          <a:ln w="12700">
            <a:solidFill>
              <a:srgbClr val="3A3A3A"/>
            </a:solidFill>
            <a:prstDash val="solid"/>
          </a:ln>
        </p:spPr>
      </p:sp>
      <p:sp>
        <p:nvSpPr>
          <p:cNvPr id="35" name="Shape 33"/>
          <p:cNvSpPr/>
          <p:nvPr/>
        </p:nvSpPr>
        <p:spPr>
          <a:xfrm>
            <a:off x="658368" y="4251960"/>
            <a:ext cx="613317" cy="182880"/>
          </a:xfrm>
          <a:prstGeom prst="roundRect">
            <a:avLst>
              <a:gd name="adj" fmla="val 50000"/>
            </a:avLst>
          </a:prstGeom>
          <a:solidFill>
            <a:srgbClr val="FFFFFF"/>
          </a:solidFill>
          <a:ln w="12700">
            <a:solidFill>
              <a:srgbClr val="FFFFFF"/>
            </a:solidFill>
            <a:prstDash val="solid"/>
          </a:ln>
        </p:spPr>
      </p:sp>
      <p:sp>
        <p:nvSpPr>
          <p:cNvPr id="36" name="Text 34"/>
          <p:cNvSpPr txBox="1"/>
          <p:nvPr/>
        </p:nvSpPr>
        <p:spPr>
          <a:xfrm>
            <a:off x="658368" y="4663440"/>
            <a:ext cx="3291840" cy="914400"/>
          </a:xfrm>
          <a:prstGeom prst="rect">
            <a:avLst/>
          </a:prstGeom>
          <a:noFill/>
          <a:ln/>
        </p:spPr>
        <p:txBody>
          <a:bodyPr wrap="square" lIns="0" tIns="0" rIns="0" bIns="0" rtlCol="0" anchor="t"/>
          <a:lstStyle/>
          <a:p>
            <a:pPr indent="0" marL="0">
              <a:buNone/>
            </a:pPr>
            <a:r>
              <a:rPr lang="en-US" sz="850" dirty="0">
                <a:solidFill>
                  <a:srgbClr val="A3A3A3"/>
                </a:solidFill>
                <a:latin typeface="Poppins" pitchFamily="34" charset="0"/>
                <a:ea typeface="Poppins" pitchFamily="34" charset="-122"/>
                <a:cs typeface="Poppins" pitchFamily="34" charset="-120"/>
              </a:rPr>
              <a:t>147 of 207 sensors improve at 60 min (up to 7.2%). The Random Forest shows the same: −3.4 / −3.1 / −1.4%. Same rows, same split, same settings — the only change is the eight neighbour columns.</a:t>
            </a:r>
            <a:endParaRPr lang="en-US" sz="850" dirty="0"/>
          </a:p>
        </p:txBody>
      </p:sp>
      <p:sp>
        <p:nvSpPr>
          <p:cNvPr id="37" name="headline"/>
          <p:cNvSpPr txBox="1"/>
          <p:nvPr/>
        </p:nvSpPr>
        <p:spPr>
          <a:xfrm>
            <a:off x="5029200" y="1005840"/>
            <a:ext cx="6583680" cy="1576832"/>
          </a:xfrm>
          <a:prstGeom prst="rect">
            <a:avLst/>
          </a:prstGeom>
          <a:noFill/>
          <a:ln/>
        </p:spPr>
        <p:txBody>
          <a:bodyPr wrap="square" lIns="0" tIns="0" rIns="0" bIns="0" rtlCol="0" anchor="t"/>
          <a:lstStyle/>
          <a:p>
            <a:pPr algn="l" indent="0" marL="0">
              <a:lnSpc>
                <a:spcPct val="86000"/>
              </a:lnSpc>
              <a:buNone/>
            </a:pPr>
            <a:r>
              <a:rPr lang="en-US" sz="5600" b="1" dirty="0">
                <a:solidFill>
                  <a:srgbClr val="1A1A1A"/>
                </a:solidFill>
                <a:latin typeface="Poppins" pitchFamily="34" charset="0"/>
                <a:ea typeface="Poppins" pitchFamily="34" charset="-122"/>
                <a:cs typeface="Poppins" pitchFamily="34" charset="-120"/>
              </a:rPr>
              <a:t>KEY</a:t>
            </a:r>
            <a:endParaRPr lang="en-US" sz="5600" dirty="0"/>
          </a:p>
          <a:p>
            <a:pPr algn="l" indent="0" marL="0">
              <a:lnSpc>
                <a:spcPct val="86000"/>
              </a:lnSpc>
              <a:buNone/>
            </a:pPr>
            <a:r>
              <a:rPr lang="en-US" sz="5600" b="1" dirty="0">
                <a:solidFill>
                  <a:srgbClr val="1A1A1A"/>
                </a:solidFill>
                <a:latin typeface="Poppins" pitchFamily="34" charset="0"/>
                <a:ea typeface="Poppins" pitchFamily="34" charset="-122"/>
                <a:cs typeface="Poppins" pitchFamily="34" charset="-120"/>
              </a:rPr>
              <a:t>INSIGHTS</a:t>
            </a:r>
            <a:endParaRPr lang="en-US" sz="5600" dirty="0"/>
          </a:p>
        </p:txBody>
      </p:sp>
      <p:sp>
        <p:nvSpPr>
          <p:cNvPr id="38" name="Text 36"/>
          <p:cNvSpPr txBox="1"/>
          <p:nvPr/>
        </p:nvSpPr>
        <p:spPr>
          <a:xfrm>
            <a:off x="5029200" y="2606040"/>
            <a:ext cx="612648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Neighbours help — most in rush hour</a:t>
            </a:r>
            <a:endParaRPr lang="en-US" sz="1100" dirty="0"/>
          </a:p>
        </p:txBody>
      </p:sp>
      <p:sp>
        <p:nvSpPr>
          <p:cNvPr id="39" name="Text 37"/>
          <p:cNvSpPr txBox="1"/>
          <p:nvPr/>
        </p:nvSpPr>
        <p:spPr>
          <a:xfrm>
            <a:off x="5029200" y="2843784"/>
            <a:ext cx="6126480" cy="493776"/>
          </a:xfrm>
          <a:prstGeom prst="rect">
            <a:avLst/>
          </a:prstGeom>
          <a:noFill/>
          <a:ln/>
        </p:spPr>
        <p:txBody>
          <a:bodyPr wrap="square" lIns="0" tIns="0" rIns="0" bIns="0" rtlCol="0" anchor="t"/>
          <a:lstStyle/>
          <a:p>
            <a:pPr indent="0" marL="0">
              <a:buNone/>
            </a:pPr>
            <a:r>
              <a:rPr lang="en-US" sz="860" dirty="0">
                <a:solidFill>
                  <a:srgbClr val="6B6B6B"/>
                </a:solidFill>
                <a:latin typeface="Poppins" pitchFamily="34" charset="0"/>
                <a:ea typeface="Poppins" pitchFamily="34" charset="-122"/>
                <a:cs typeface="Poppins" pitchFamily="34" charset="-120"/>
              </a:rPr>
              <a:t>Adding the eight neighbour numbers lowers the error at every horizon, three times more in the peaks: congestion really does spread between sensors. The model's second most-used input is the downstream neighbours.</a:t>
            </a:r>
            <a:endParaRPr lang="en-US" sz="860" dirty="0"/>
          </a:p>
        </p:txBody>
      </p:sp>
      <p:sp>
        <p:nvSpPr>
          <p:cNvPr id="40" name="Text 38"/>
          <p:cNvSpPr txBox="1"/>
          <p:nvPr/>
        </p:nvSpPr>
        <p:spPr>
          <a:xfrm>
            <a:off x="5029200" y="3337560"/>
            <a:ext cx="612648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The help fades at 60 minutes</a:t>
            </a:r>
            <a:endParaRPr lang="en-US" sz="1100" dirty="0"/>
          </a:p>
        </p:txBody>
      </p:sp>
      <p:sp>
        <p:nvSpPr>
          <p:cNvPr id="41" name="Text 39"/>
          <p:cNvSpPr txBox="1"/>
          <p:nvPr/>
        </p:nvSpPr>
        <p:spPr>
          <a:xfrm>
            <a:off x="5029200" y="3575304"/>
            <a:ext cx="6126480" cy="493776"/>
          </a:xfrm>
          <a:prstGeom prst="rect">
            <a:avLst/>
          </a:prstGeom>
          <a:noFill/>
          <a:ln/>
        </p:spPr>
        <p:txBody>
          <a:bodyPr wrap="square" lIns="0" tIns="0" rIns="0" bIns="0" rtlCol="0" anchor="t"/>
          <a:lstStyle/>
          <a:p>
            <a:pPr indent="0" marL="0">
              <a:buNone/>
            </a:pPr>
            <a:r>
              <a:rPr lang="en-US" sz="860" dirty="0">
                <a:solidFill>
                  <a:srgbClr val="6B6B6B"/>
                </a:solidFill>
                <a:latin typeface="Poppins" pitchFamily="34" charset="0"/>
                <a:ea typeface="Poppins" pitchFamily="34" charset="-122"/>
                <a:cs typeface="Poppins" pitchFamily="34" charset="-120"/>
              </a:rPr>
              <a:t>One hop sees 5–15 minutes of a jam moving at 15–20 km/h; what hits you in an hour is still several sensors away. That fade is the gap for Phase 2's graph network, which looks several hops out.</a:t>
            </a:r>
            <a:endParaRPr lang="en-US" sz="860" dirty="0"/>
          </a:p>
        </p:txBody>
      </p:sp>
      <p:sp>
        <p:nvSpPr>
          <p:cNvPr id="42" name="Text 40"/>
          <p:cNvSpPr txBox="1"/>
          <p:nvPr/>
        </p:nvSpPr>
        <p:spPr>
          <a:xfrm>
            <a:off x="5029200" y="4069080"/>
            <a:ext cx="612648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Rush hour is the hard part</a:t>
            </a:r>
            <a:endParaRPr lang="en-US" sz="1100" dirty="0"/>
          </a:p>
        </p:txBody>
      </p:sp>
      <p:sp>
        <p:nvSpPr>
          <p:cNvPr id="43" name="Text 41"/>
          <p:cNvSpPr txBox="1"/>
          <p:nvPr/>
        </p:nvSpPr>
        <p:spPr>
          <a:xfrm>
            <a:off x="5029200" y="4306824"/>
            <a:ext cx="6126480" cy="493776"/>
          </a:xfrm>
          <a:prstGeom prst="rect">
            <a:avLst/>
          </a:prstGeom>
          <a:noFill/>
          <a:ln/>
        </p:spPr>
        <p:txBody>
          <a:bodyPr wrap="square" lIns="0" tIns="0" rIns="0" bIns="0" rtlCol="0" anchor="t"/>
          <a:lstStyle/>
          <a:p>
            <a:pPr indent="0" marL="0">
              <a:buNone/>
            </a:pPr>
            <a:r>
              <a:rPr lang="en-US" sz="860" dirty="0">
                <a:solidFill>
                  <a:srgbClr val="6B6B6B"/>
                </a:solidFill>
                <a:latin typeface="Poppins" pitchFamily="34" charset="0"/>
                <a:ea typeface="Poppins" pitchFamily="34" charset="-122"/>
                <a:cs typeface="Poppins" pitchFamily="34" charset="-120"/>
              </a:rPr>
              <a:t>Error doubles in the peaks (5.67 vs 3.31 mph at 60 min) and sits almost entirely below 35 mph. Recall 0.61: a jam that has not arrived yet is invisible in a sensor's own history.</a:t>
            </a:r>
            <a:endParaRPr lang="en-US" sz="860" dirty="0"/>
          </a:p>
        </p:txBody>
      </p:sp>
      <p:sp>
        <p:nvSpPr>
          <p:cNvPr id="44" name="Text 42"/>
          <p:cNvSpPr txBox="1"/>
          <p:nvPr/>
        </p:nvSpPr>
        <p:spPr>
          <a:xfrm>
            <a:off x="5029200" y="4800600"/>
            <a:ext cx="612648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The numbers are honest</a:t>
            </a:r>
            <a:endParaRPr lang="en-US" sz="1100" dirty="0"/>
          </a:p>
        </p:txBody>
      </p:sp>
      <p:sp>
        <p:nvSpPr>
          <p:cNvPr id="45" name="Text 43"/>
          <p:cNvSpPr txBox="1"/>
          <p:nvPr/>
        </p:nvSpPr>
        <p:spPr>
          <a:xfrm>
            <a:off x="5029200" y="5038344"/>
            <a:ext cx="6126480" cy="493776"/>
          </a:xfrm>
          <a:prstGeom prst="rect">
            <a:avLst/>
          </a:prstGeom>
          <a:noFill/>
          <a:ln/>
        </p:spPr>
        <p:txBody>
          <a:bodyPr wrap="square" lIns="0" tIns="0" rIns="0" bIns="0" rtlCol="0" anchor="t"/>
          <a:lstStyle/>
          <a:p>
            <a:pPr indent="0" marL="0">
              <a:buNone/>
            </a:pPr>
            <a:r>
              <a:rPr lang="en-US" sz="860" dirty="0">
                <a:solidFill>
                  <a:srgbClr val="6B6B6B"/>
                </a:solidFill>
                <a:latin typeface="Poppins" pitchFamily="34" charset="0"/>
                <a:ea typeface="Poppins" pitchFamily="34" charset="-122"/>
                <a:cs typeface="Poppins" pitchFamily="34" charset="-120"/>
              </a:rPr>
              <a:t>Split by date with a gap; settings fixed in advance; validation ranks the models exactly like the test set; early stopping kept ~130 of 600 trees. One command reruns everything; 8 tests check split, features and scoring.</a:t>
            </a:r>
            <a:endParaRPr lang="en-US" sz="860" dirty="0"/>
          </a:p>
        </p:txBody>
      </p:sp>
      <p:sp>
        <p:nvSpPr>
          <p:cNvPr id="46" name="Text 44"/>
          <p:cNvSpPr txBox="1"/>
          <p:nvPr/>
        </p:nvSpPr>
        <p:spPr>
          <a:xfrm>
            <a:off x="5029200" y="5532120"/>
            <a:ext cx="6126480" cy="237744"/>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Next steps</a:t>
            </a:r>
            <a:endParaRPr lang="en-US" sz="1100" dirty="0"/>
          </a:p>
        </p:txBody>
      </p:sp>
      <p:sp>
        <p:nvSpPr>
          <p:cNvPr id="47" name="Text 45"/>
          <p:cNvSpPr txBox="1"/>
          <p:nvPr/>
        </p:nvSpPr>
        <p:spPr>
          <a:xfrm>
            <a:off x="5029200" y="5769864"/>
            <a:ext cx="6126480" cy="493776"/>
          </a:xfrm>
          <a:prstGeom prst="rect">
            <a:avLst/>
          </a:prstGeom>
          <a:noFill/>
          <a:ln/>
        </p:spPr>
        <p:txBody>
          <a:bodyPr wrap="square" lIns="0" tIns="0" rIns="0" bIns="0" rtlCol="0" anchor="t"/>
          <a:lstStyle/>
          <a:p>
            <a:pPr indent="0" marL="0">
              <a:buNone/>
            </a:pPr>
            <a:r>
              <a:rPr lang="en-US" sz="860" dirty="0">
                <a:solidFill>
                  <a:srgbClr val="6B6B6B"/>
                </a:solidFill>
                <a:latin typeface="Poppins" pitchFamily="34" charset="0"/>
                <a:ea typeface="Poppins" pitchFamily="34" charset="-122"/>
                <a:cs typeface="Poppins" pitchFamily="34" charset="-120"/>
              </a:rPr>
              <a:t>Phase 2: a Graph Attention Network on the same data, split and scoring; check whether its attention follows the backward wave; any signal-control experiment is a simulation only.</a:t>
            </a:r>
            <a:endParaRPr lang="en-US" sz="860" dirty="0"/>
          </a:p>
        </p:txBody>
      </p:sp>
      <p:sp>
        <p:nvSpPr>
          <p:cNvPr id="48" name="Shape 46"/>
          <p:cNvSpPr/>
          <p:nvPr/>
        </p:nvSpPr>
        <p:spPr>
          <a:xfrm>
            <a:off x="11274552" y="5989320"/>
            <a:ext cx="365760" cy="365760"/>
          </a:xfrm>
          <a:prstGeom prst="ellipse">
            <a:avLst/>
          </a:prstGeom>
          <a:solidFill>
            <a:srgbClr val="1A1A1A"/>
          </a:solidFill>
          <a:ln w="12700">
            <a:solidFill>
              <a:srgbClr val="1A1A1A"/>
            </a:solidFill>
            <a:prstDash val="solid"/>
          </a:ln>
        </p:spPr>
      </p:sp>
      <p:sp>
        <p:nvSpPr>
          <p:cNvPr id="49" name="Text 47"/>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ensor map" descr="/tmp/claude-0/-home-claude/da092323-5f3d-56db-8152-6e606916a9e5/scratchpad/deck2/assets/thankyou_triangle.png">    </p:cNvPr>
          <p:cNvPicPr>
            <a:picLocks noChangeAspect="1"/>
          </p:cNvPicPr>
          <p:nvPr/>
        </p:nvPicPr>
        <p:blipFill>
          <a:blip r:embed="rId1"/>
          <a:stretch>
            <a:fillRect/>
          </a:stretch>
        </p:blipFill>
        <p:spPr>
          <a:xfrm>
            <a:off x="3566160" y="1783080"/>
            <a:ext cx="5074920" cy="5074920"/>
          </a:xfrm>
          <a:prstGeom prst="rect">
            <a:avLst/>
          </a:prstGeom>
        </p:spPr>
      </p:pic>
      <p:sp>
        <p:nvSpPr>
          <p:cNvPr id="3" name="headline"/>
          <p:cNvSpPr txBox="1"/>
          <p:nvPr/>
        </p:nvSpPr>
        <p:spPr>
          <a:xfrm>
            <a:off x="-182880" y="411480"/>
            <a:ext cx="12554712" cy="1737360"/>
          </a:xfrm>
          <a:prstGeom prst="rect">
            <a:avLst/>
          </a:prstGeom>
          <a:noFill/>
          <a:ln/>
        </p:spPr>
        <p:txBody>
          <a:bodyPr wrap="square" lIns="0" tIns="0" rIns="0" bIns="0" rtlCol="0" anchor="ctr"/>
          <a:lstStyle/>
          <a:p>
            <a:pPr algn="ctr" indent="0" marL="0">
              <a:buNone/>
            </a:pPr>
            <a:r>
              <a:rPr lang="en-US" sz="11800" b="1" spc="-200" kern="0" dirty="0">
                <a:solidFill>
                  <a:srgbClr val="1A1A1A"/>
                </a:solidFill>
                <a:latin typeface="Poppins" pitchFamily="34" charset="0"/>
                <a:ea typeface="Poppins" pitchFamily="34" charset="-122"/>
                <a:cs typeface="Poppins" pitchFamily="34" charset="-120"/>
              </a:rPr>
              <a:t>THANK YOU</a:t>
            </a:r>
            <a:endParaRPr lang="en-US" sz="11800" dirty="0"/>
          </a:p>
        </p:txBody>
      </p:sp>
      <p:sp>
        <p:nvSpPr>
          <p:cNvPr id="4" name="Text 1"/>
          <p:cNvSpPr txBox="1"/>
          <p:nvPr/>
        </p:nvSpPr>
        <p:spPr>
          <a:xfrm>
            <a:off x="658368" y="3429000"/>
            <a:ext cx="3566160" cy="237744"/>
          </a:xfrm>
          <a:prstGeom prst="rect">
            <a:avLst/>
          </a:prstGeom>
          <a:noFill/>
          <a:ln/>
        </p:spPr>
        <p:txBody>
          <a:bodyPr wrap="square" lIns="0" tIns="0" rIns="0" bIns="0" rtlCol="0" anchor="t"/>
          <a:lstStyle/>
          <a:p>
            <a:pPr indent="0" marL="0">
              <a:buNone/>
            </a:pPr>
            <a:r>
              <a:rPr lang="en-US" sz="900" dirty="0">
                <a:solidFill>
                  <a:srgbClr val="6B6B6B"/>
                </a:solidFill>
                <a:latin typeface="Poppins" pitchFamily="34" charset="0"/>
                <a:ea typeface="Poppins" pitchFamily="34" charset="-122"/>
                <a:cs typeface="Poppins" pitchFamily="34" charset="-120"/>
              </a:rPr>
              <a:t>Presented by</a:t>
            </a:r>
            <a:endParaRPr lang="en-US" sz="900" dirty="0"/>
          </a:p>
        </p:txBody>
      </p:sp>
      <p:sp>
        <p:nvSpPr>
          <p:cNvPr id="5" name="Text 2"/>
          <p:cNvSpPr txBox="1"/>
          <p:nvPr/>
        </p:nvSpPr>
        <p:spPr>
          <a:xfrm>
            <a:off x="658368" y="3666744"/>
            <a:ext cx="3566160" cy="237744"/>
          </a:xfrm>
          <a:prstGeom prst="rect">
            <a:avLst/>
          </a:prstGeom>
          <a:noFill/>
          <a:ln/>
        </p:spPr>
        <p:txBody>
          <a:bodyPr wrap="square" lIns="0" tIns="0" rIns="0" bIns="0" rtlCol="0" anchor="t"/>
          <a:lstStyle/>
          <a:p>
            <a:pPr indent="0" marL="0">
              <a:buNone/>
            </a:pPr>
            <a:r>
              <a:rPr lang="en-US" sz="1150" b="1" dirty="0">
                <a:solidFill>
                  <a:srgbClr val="1A1A1A"/>
                </a:solidFill>
                <a:latin typeface="Poppins" pitchFamily="34" charset="0"/>
                <a:ea typeface="Poppins" pitchFamily="34" charset="-122"/>
                <a:cs typeface="Poppins" pitchFamily="34" charset="-120"/>
              </a:rPr>
              <a:t>Team T082 · Section B</a:t>
            </a:r>
            <a:endParaRPr lang="en-US" sz="1150" dirty="0"/>
          </a:p>
        </p:txBody>
      </p:sp>
      <p:sp>
        <p:nvSpPr>
          <p:cNvPr id="6" name="Text 3"/>
          <p:cNvSpPr txBox="1"/>
          <p:nvPr/>
        </p:nvSpPr>
        <p:spPr>
          <a:xfrm>
            <a:off x="658368" y="3977640"/>
            <a:ext cx="3566160" cy="237744"/>
          </a:xfrm>
          <a:prstGeom prst="rect">
            <a:avLst/>
          </a:prstGeom>
          <a:noFill/>
          <a:ln/>
        </p:spPr>
        <p:txBody>
          <a:bodyPr wrap="square" lIns="0" tIns="0" rIns="0" bIns="0" rtlCol="0" anchor="t"/>
          <a:lstStyle/>
          <a:p>
            <a:pPr indent="0" marL="0">
              <a:buNone/>
            </a:pPr>
            <a:r>
              <a:rPr lang="en-US" sz="1150" b="1" dirty="0">
                <a:solidFill>
                  <a:srgbClr val="1A1A1A"/>
                </a:solidFill>
                <a:latin typeface="Poppins" pitchFamily="34" charset="0"/>
                <a:ea typeface="Poppins" pitchFamily="34" charset="-122"/>
                <a:cs typeface="Poppins" pitchFamily="34" charset="-120"/>
              </a:rPr>
              <a:t>Kartik Madaan</a:t>
            </a:r>
            <a:endParaRPr lang="en-US" sz="1150" dirty="0"/>
          </a:p>
        </p:txBody>
      </p:sp>
      <p:sp>
        <p:nvSpPr>
          <p:cNvPr id="7" name="Text 4"/>
          <p:cNvSpPr txBox="1"/>
          <p:nvPr/>
        </p:nvSpPr>
        <p:spPr>
          <a:xfrm>
            <a:off x="658368" y="4215384"/>
            <a:ext cx="3566160" cy="237744"/>
          </a:xfrm>
          <a:prstGeom prst="rect">
            <a:avLst/>
          </a:prstGeom>
          <a:noFill/>
          <a:ln/>
        </p:spPr>
        <p:txBody>
          <a:bodyPr wrap="square" lIns="0" tIns="0" rIns="0" bIns="0" rtlCol="0" anchor="t"/>
          <a:lstStyle/>
          <a:p>
            <a:pPr indent="0" marL="0">
              <a:buNone/>
            </a:pPr>
            <a:r>
              <a:rPr lang="en-US" sz="850" dirty="0">
                <a:solidFill>
                  <a:srgbClr val="6B6B6B"/>
                </a:solidFill>
                <a:latin typeface="Poppins" pitchFamily="34" charset="0"/>
                <a:ea typeface="Poppins" pitchFamily="34" charset="-122"/>
                <a:cs typeface="Poppins" pitchFamily="34" charset="-120"/>
              </a:rPr>
              <a:t>Data pipeline, road graph, repository, EDA</a:t>
            </a:r>
            <a:endParaRPr lang="en-US" sz="850" dirty="0"/>
          </a:p>
        </p:txBody>
      </p:sp>
      <p:sp>
        <p:nvSpPr>
          <p:cNvPr id="8" name="Text 5"/>
          <p:cNvSpPr txBox="1"/>
          <p:nvPr/>
        </p:nvSpPr>
        <p:spPr>
          <a:xfrm>
            <a:off x="658368" y="4526280"/>
            <a:ext cx="3566160" cy="237744"/>
          </a:xfrm>
          <a:prstGeom prst="rect">
            <a:avLst/>
          </a:prstGeom>
          <a:noFill/>
          <a:ln/>
        </p:spPr>
        <p:txBody>
          <a:bodyPr wrap="square" lIns="0" tIns="0" rIns="0" bIns="0" rtlCol="0" anchor="t"/>
          <a:lstStyle/>
          <a:p>
            <a:pPr indent="0" marL="0">
              <a:buNone/>
            </a:pPr>
            <a:r>
              <a:rPr lang="en-US" sz="1150" b="1" dirty="0">
                <a:solidFill>
                  <a:srgbClr val="1A1A1A"/>
                </a:solidFill>
                <a:latin typeface="Poppins" pitchFamily="34" charset="0"/>
                <a:ea typeface="Poppins" pitchFamily="34" charset="-122"/>
                <a:cs typeface="Poppins" pitchFamily="34" charset="-120"/>
              </a:rPr>
              <a:t>Arhan Alam</a:t>
            </a:r>
            <a:endParaRPr lang="en-US" sz="1150" dirty="0"/>
          </a:p>
        </p:txBody>
      </p:sp>
      <p:sp>
        <p:nvSpPr>
          <p:cNvPr id="9" name="Text 6"/>
          <p:cNvSpPr txBox="1"/>
          <p:nvPr/>
        </p:nvSpPr>
        <p:spPr>
          <a:xfrm>
            <a:off x="658368" y="4764024"/>
            <a:ext cx="3566160" cy="237744"/>
          </a:xfrm>
          <a:prstGeom prst="rect">
            <a:avLst/>
          </a:prstGeom>
          <a:noFill/>
          <a:ln/>
        </p:spPr>
        <p:txBody>
          <a:bodyPr wrap="square" lIns="0" tIns="0" rIns="0" bIns="0" rtlCol="0" anchor="t"/>
          <a:lstStyle/>
          <a:p>
            <a:pPr indent="0" marL="0">
              <a:buNone/>
            </a:pPr>
            <a:r>
              <a:rPr lang="en-US" sz="850" dirty="0">
                <a:solidFill>
                  <a:srgbClr val="6B6B6B"/>
                </a:solidFill>
                <a:latin typeface="Poppins" pitchFamily="34" charset="0"/>
                <a:ea typeface="Poppins" pitchFamily="34" charset="-122"/>
                <a:cs typeface="Poppins" pitchFamily="34" charset="-120"/>
              </a:rPr>
              <a:t>Feature engineering, LWR neighbour features, time split</a:t>
            </a:r>
            <a:endParaRPr lang="en-US" sz="850" dirty="0"/>
          </a:p>
        </p:txBody>
      </p:sp>
      <p:sp>
        <p:nvSpPr>
          <p:cNvPr id="10" name="Text 7"/>
          <p:cNvSpPr txBox="1"/>
          <p:nvPr/>
        </p:nvSpPr>
        <p:spPr>
          <a:xfrm>
            <a:off x="658368" y="5074920"/>
            <a:ext cx="3566160" cy="237744"/>
          </a:xfrm>
          <a:prstGeom prst="rect">
            <a:avLst/>
          </a:prstGeom>
          <a:noFill/>
          <a:ln/>
        </p:spPr>
        <p:txBody>
          <a:bodyPr wrap="square" lIns="0" tIns="0" rIns="0" bIns="0" rtlCol="0" anchor="t"/>
          <a:lstStyle/>
          <a:p>
            <a:pPr indent="0" marL="0">
              <a:buNone/>
            </a:pPr>
            <a:r>
              <a:rPr lang="en-US" sz="1150" b="1" dirty="0">
                <a:solidFill>
                  <a:srgbClr val="1A1A1A"/>
                </a:solidFill>
                <a:latin typeface="Poppins" pitchFamily="34" charset="0"/>
                <a:ea typeface="Poppins" pitchFamily="34" charset="-122"/>
                <a:cs typeface="Poppins" pitchFamily="34" charset="-120"/>
              </a:rPr>
              <a:t>Chirag Lalwani</a:t>
            </a:r>
            <a:endParaRPr lang="en-US" sz="1150" dirty="0"/>
          </a:p>
        </p:txBody>
      </p:sp>
      <p:sp>
        <p:nvSpPr>
          <p:cNvPr id="11" name="Text 8"/>
          <p:cNvSpPr txBox="1"/>
          <p:nvPr/>
        </p:nvSpPr>
        <p:spPr>
          <a:xfrm>
            <a:off x="658368" y="5312664"/>
            <a:ext cx="3566160" cy="237744"/>
          </a:xfrm>
          <a:prstGeom prst="rect">
            <a:avLst/>
          </a:prstGeom>
          <a:noFill/>
          <a:ln/>
        </p:spPr>
        <p:txBody>
          <a:bodyPr wrap="square" lIns="0" tIns="0" rIns="0" bIns="0" rtlCol="0" anchor="t"/>
          <a:lstStyle/>
          <a:p>
            <a:pPr indent="0" marL="0">
              <a:buNone/>
            </a:pPr>
            <a:r>
              <a:rPr lang="en-US" sz="850" dirty="0">
                <a:solidFill>
                  <a:srgbClr val="6B6B6B"/>
                </a:solidFill>
                <a:latin typeface="Poppins" pitchFamily="34" charset="0"/>
                <a:ea typeface="Poppins" pitchFamily="34" charset="-122"/>
                <a:cs typeface="Poppins" pitchFamily="34" charset="-120"/>
              </a:rPr>
              <a:t>Model training: XGBoost, Random Forest, Ridge</a:t>
            </a:r>
            <a:endParaRPr lang="en-US" sz="850" dirty="0"/>
          </a:p>
        </p:txBody>
      </p:sp>
      <p:sp>
        <p:nvSpPr>
          <p:cNvPr id="12" name="Text 9"/>
          <p:cNvSpPr txBox="1"/>
          <p:nvPr/>
        </p:nvSpPr>
        <p:spPr>
          <a:xfrm>
            <a:off x="7955280" y="3429000"/>
            <a:ext cx="3566160" cy="237744"/>
          </a:xfrm>
          <a:prstGeom prst="rect">
            <a:avLst/>
          </a:prstGeom>
          <a:noFill/>
          <a:ln/>
        </p:spPr>
        <p:txBody>
          <a:bodyPr wrap="square" lIns="0" tIns="0" rIns="0" bIns="0" rtlCol="0" anchor="t"/>
          <a:lstStyle/>
          <a:p>
            <a:pPr algn="r" indent="0" marL="0">
              <a:buNone/>
            </a:pPr>
            <a:r>
              <a:rPr lang="en-US" sz="900" dirty="0">
                <a:solidFill>
                  <a:srgbClr val="6B6B6B"/>
                </a:solidFill>
                <a:latin typeface="Poppins" pitchFamily="34" charset="0"/>
                <a:ea typeface="Poppins" pitchFamily="34" charset="-122"/>
                <a:cs typeface="Poppins" pitchFamily="34" charset="-120"/>
              </a:rPr>
              <a:t>Phase 1</a:t>
            </a:r>
            <a:endParaRPr lang="en-US" sz="900" dirty="0"/>
          </a:p>
        </p:txBody>
      </p:sp>
      <p:sp>
        <p:nvSpPr>
          <p:cNvPr id="13" name="Text 10"/>
          <p:cNvSpPr txBox="1"/>
          <p:nvPr/>
        </p:nvSpPr>
        <p:spPr>
          <a:xfrm>
            <a:off x="7955280" y="3666744"/>
            <a:ext cx="3566160" cy="237744"/>
          </a:xfrm>
          <a:prstGeom prst="rect">
            <a:avLst/>
          </a:prstGeom>
          <a:noFill/>
          <a:ln/>
        </p:spPr>
        <p:txBody>
          <a:bodyPr wrap="square" lIns="0" tIns="0" rIns="0" bIns="0" rtlCol="0" anchor="t"/>
          <a:lstStyle/>
          <a:p>
            <a:pPr algn="r" indent="0" marL="0">
              <a:buNone/>
            </a:pPr>
            <a:r>
              <a:rPr lang="en-US" sz="1150" b="1" dirty="0">
                <a:solidFill>
                  <a:srgbClr val="1A1A1A"/>
                </a:solidFill>
                <a:latin typeface="Poppins" pitchFamily="34" charset="0"/>
                <a:ea typeface="Poppins" pitchFamily="34" charset="-122"/>
                <a:cs typeface="Poppins" pitchFamily="34" charset="-120"/>
              </a:rPr>
              <a:t>Advanced ML &amp; Deep Learning (CSAI)</a:t>
            </a:r>
            <a:endParaRPr lang="en-US" sz="1150" dirty="0"/>
          </a:p>
        </p:txBody>
      </p:sp>
      <p:sp>
        <p:nvSpPr>
          <p:cNvPr id="14" name="Text 11"/>
          <p:cNvSpPr txBox="1"/>
          <p:nvPr/>
        </p:nvSpPr>
        <p:spPr>
          <a:xfrm>
            <a:off x="7955280" y="3977640"/>
            <a:ext cx="3566160" cy="237744"/>
          </a:xfrm>
          <a:prstGeom prst="rect">
            <a:avLst/>
          </a:prstGeom>
          <a:noFill/>
          <a:ln/>
        </p:spPr>
        <p:txBody>
          <a:bodyPr wrap="square" lIns="0" tIns="0" rIns="0" bIns="0" rtlCol="0" anchor="t"/>
          <a:lstStyle/>
          <a:p>
            <a:pPr algn="r" indent="0" marL="0">
              <a:buNone/>
            </a:pPr>
            <a:r>
              <a:rPr lang="en-US" sz="1150" b="1" dirty="0">
                <a:solidFill>
                  <a:srgbClr val="1A1A1A"/>
                </a:solidFill>
                <a:latin typeface="Poppins" pitchFamily="34" charset="0"/>
                <a:ea typeface="Poppins" pitchFamily="34" charset="-122"/>
                <a:cs typeface="Poppins" pitchFamily="34" charset="-120"/>
              </a:rPr>
              <a:t>Siddhanth Sadshiv Raikar</a:t>
            </a:r>
            <a:endParaRPr lang="en-US" sz="1150" dirty="0"/>
          </a:p>
        </p:txBody>
      </p:sp>
      <p:sp>
        <p:nvSpPr>
          <p:cNvPr id="15" name="Text 12"/>
          <p:cNvSpPr txBox="1"/>
          <p:nvPr/>
        </p:nvSpPr>
        <p:spPr>
          <a:xfrm>
            <a:off x="7955280" y="4215384"/>
            <a:ext cx="3566160" cy="237744"/>
          </a:xfrm>
          <a:prstGeom prst="rect">
            <a:avLst/>
          </a:prstGeom>
          <a:noFill/>
          <a:ln/>
        </p:spPr>
        <p:txBody>
          <a:bodyPr wrap="square" lIns="0" tIns="0" rIns="0" bIns="0" rtlCol="0" anchor="t"/>
          <a:lstStyle/>
          <a:p>
            <a:pPr algn="r" indent="0" marL="0">
              <a:buNone/>
            </a:pPr>
            <a:r>
              <a:rPr lang="en-US" sz="850" dirty="0">
                <a:solidFill>
                  <a:srgbClr val="6B6B6B"/>
                </a:solidFill>
                <a:latin typeface="Poppins" pitchFamily="34" charset="0"/>
                <a:ea typeface="Poppins" pitchFamily="34" charset="-122"/>
                <a:cs typeface="Poppins" pitchFamily="34" charset="-120"/>
              </a:rPr>
              <a:t>Models and the IEEE report</a:t>
            </a:r>
            <a:endParaRPr lang="en-US" sz="850" dirty="0"/>
          </a:p>
        </p:txBody>
      </p:sp>
      <p:sp>
        <p:nvSpPr>
          <p:cNvPr id="16" name="Text 13"/>
          <p:cNvSpPr txBox="1"/>
          <p:nvPr/>
        </p:nvSpPr>
        <p:spPr>
          <a:xfrm>
            <a:off x="7955280" y="4526280"/>
            <a:ext cx="3566160" cy="237744"/>
          </a:xfrm>
          <a:prstGeom prst="rect">
            <a:avLst/>
          </a:prstGeom>
          <a:noFill/>
          <a:ln/>
        </p:spPr>
        <p:txBody>
          <a:bodyPr wrap="square" lIns="0" tIns="0" rIns="0" bIns="0" rtlCol="0" anchor="t"/>
          <a:lstStyle/>
          <a:p>
            <a:pPr algn="r" indent="0" marL="0">
              <a:buNone/>
            </a:pPr>
            <a:r>
              <a:rPr lang="en-US" sz="1150" b="1" dirty="0">
                <a:solidFill>
                  <a:srgbClr val="1A1A1A"/>
                </a:solidFill>
                <a:latin typeface="Poppins" pitchFamily="34" charset="0"/>
                <a:ea typeface="Poppins" pitchFamily="34" charset="-122"/>
                <a:cs typeface="Poppins" pitchFamily="34" charset="-120"/>
              </a:rPr>
              <a:t>Abhijeet Dey</a:t>
            </a:r>
            <a:endParaRPr lang="en-US" sz="1150" dirty="0"/>
          </a:p>
        </p:txBody>
      </p:sp>
      <p:sp>
        <p:nvSpPr>
          <p:cNvPr id="17" name="Text 14"/>
          <p:cNvSpPr txBox="1"/>
          <p:nvPr/>
        </p:nvSpPr>
        <p:spPr>
          <a:xfrm>
            <a:off x="7955280" y="4764024"/>
            <a:ext cx="3566160" cy="237744"/>
          </a:xfrm>
          <a:prstGeom prst="rect">
            <a:avLst/>
          </a:prstGeom>
          <a:noFill/>
          <a:ln/>
        </p:spPr>
        <p:txBody>
          <a:bodyPr wrap="square" lIns="0" tIns="0" rIns="0" bIns="0" rtlCol="0" anchor="t"/>
          <a:lstStyle/>
          <a:p>
            <a:pPr algn="r" indent="0" marL="0">
              <a:buNone/>
            </a:pPr>
            <a:r>
              <a:rPr lang="en-US" sz="850" dirty="0">
                <a:solidFill>
                  <a:srgbClr val="6B6B6B"/>
                </a:solidFill>
                <a:latin typeface="Poppins" pitchFamily="34" charset="0"/>
                <a:ea typeface="Poppins" pitchFamily="34" charset="-122"/>
                <a:cs typeface="Poppins" pitchFamily="34" charset="-120"/>
              </a:rPr>
              <a:t>Evaluation: masked metrics, ablation, results</a:t>
            </a:r>
            <a:endParaRPr lang="en-US" sz="850" dirty="0"/>
          </a:p>
        </p:txBody>
      </p:sp>
      <p:sp>
        <p:nvSpPr>
          <p:cNvPr id="18" name="Text 15"/>
          <p:cNvSpPr txBox="1"/>
          <p:nvPr/>
        </p:nvSpPr>
        <p:spPr>
          <a:xfrm>
            <a:off x="7955280" y="5074920"/>
            <a:ext cx="3566160" cy="237744"/>
          </a:xfrm>
          <a:prstGeom prst="rect">
            <a:avLst/>
          </a:prstGeom>
          <a:noFill/>
          <a:ln/>
        </p:spPr>
        <p:txBody>
          <a:bodyPr wrap="square" lIns="0" tIns="0" rIns="0" bIns="0" rtlCol="0" anchor="t"/>
          <a:lstStyle/>
          <a:p>
            <a:pPr algn="r" indent="0" marL="0">
              <a:buNone/>
            </a:pPr>
            <a:r>
              <a:rPr lang="en-US" sz="1150" b="1" dirty="0">
                <a:solidFill>
                  <a:srgbClr val="1A1A1A"/>
                </a:solidFill>
                <a:latin typeface="Poppins" pitchFamily="34" charset="0"/>
                <a:ea typeface="Poppins" pitchFamily="34" charset="-122"/>
                <a:cs typeface="Poppins" pitchFamily="34" charset="-120"/>
              </a:rPr>
              <a:t>Code</a:t>
            </a:r>
            <a:endParaRPr lang="en-US" sz="1150" dirty="0"/>
          </a:p>
        </p:txBody>
      </p:sp>
      <p:sp>
        <p:nvSpPr>
          <p:cNvPr id="19" name="Text 16"/>
          <p:cNvSpPr txBox="1"/>
          <p:nvPr/>
        </p:nvSpPr>
        <p:spPr>
          <a:xfrm>
            <a:off x="7955280" y="5312664"/>
            <a:ext cx="3566160" cy="237744"/>
          </a:xfrm>
          <a:prstGeom prst="rect">
            <a:avLst/>
          </a:prstGeom>
          <a:noFill/>
          <a:ln/>
        </p:spPr>
        <p:txBody>
          <a:bodyPr wrap="square" lIns="0" tIns="0" rIns="0" bIns="0" rtlCol="0" anchor="t"/>
          <a:lstStyle/>
          <a:p>
            <a:pPr algn="r" indent="0" marL="0">
              <a:buNone/>
            </a:pPr>
            <a:r>
              <a:rPr lang="en-US" sz="850" dirty="0">
                <a:solidFill>
                  <a:srgbClr val="6B6B6B"/>
                </a:solidFill>
                <a:latin typeface="Poppins" pitchFamily="34" charset="0"/>
                <a:ea typeface="Poppins" pitchFamily="34" charset="-122"/>
                <a:cs typeface="Poppins" pitchFamily="34" charset="-120"/>
              </a:rPr>
              <a:t>github.com/madaankartik/traffic-aml-project</a:t>
            </a:r>
            <a:endParaRPr lang="en-US" sz="850" dirty="0"/>
          </a:p>
        </p:txBody>
      </p:sp>
      <p:sp>
        <p:nvSpPr>
          <p:cNvPr id="20" name="Shape 17"/>
          <p:cNvSpPr/>
          <p:nvPr/>
        </p:nvSpPr>
        <p:spPr>
          <a:xfrm>
            <a:off x="11274552" y="5989320"/>
            <a:ext cx="365760" cy="365760"/>
          </a:xfrm>
          <a:prstGeom prst="ellipse">
            <a:avLst/>
          </a:prstGeom>
          <a:solidFill>
            <a:srgbClr val="1A1A1A"/>
          </a:solidFill>
          <a:ln w="12700">
            <a:solidFill>
              <a:srgbClr val="1A1A1A"/>
            </a:solidFill>
            <a:prstDash val="solid"/>
          </a:ln>
        </p:spPr>
      </p:sp>
      <p:sp>
        <p:nvSpPr>
          <p:cNvPr id="21" name="Text 18"/>
          <p:cNvSpPr txBox="1"/>
          <p:nvPr/>
        </p:nvSpPr>
        <p:spPr>
          <a:xfrm>
            <a:off x="11274552" y="5989320"/>
            <a:ext cx="365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09</a:t>
            </a:r>
            <a:endParaRPr lang="en-US" sz="800" dirty="0"/>
          </a:p>
        </p:txBody>
      </p:sp>
    </p:spTree>
  </p:cSld>
  <p:clrMapOvr>
    <a:masterClrMapping/>
  </p:clrMapOvr>
</p:sld>
</file>

<file path=ppt/theme/theme1.xml><?xml version="1.0" encoding="utf-8"?>
<a:theme xmlns:a="http://schemas.openxmlformats.org/drawingml/2006/main" name="T082 Editorial">
  <a:themeElements>
    <a:clrScheme name="T082 Editorial">
      <a:dk1>
        <a:srgbClr val="1A1A1A"/>
      </a:dk1>
      <a:lt1>
        <a:srgbClr val="F4F4F4"/>
      </a:lt1>
      <a:dk2>
        <a:srgbClr val="3A3A3A"/>
      </a:dk2>
      <a:lt2>
        <a:srgbClr val="E6E6E6"/>
      </a:lt2>
      <a:accent1>
        <a:srgbClr val="1A1A1A"/>
      </a:accent1>
      <a:accent2>
        <a:srgbClr val="6B6B6B"/>
      </a:accent2>
      <a:accent3>
        <a:srgbClr val="9A9A9A"/>
      </a:accent3>
      <a:accent4>
        <a:srgbClr val="C4C4C4"/>
      </a:accent4>
      <a:accent5>
        <a:srgbClr val="4A4A4A"/>
      </a:accent5>
      <a:accent6>
        <a:srgbClr val="7F7F7F"/>
      </a:accent6>
      <a:hlink>
        <a:srgbClr val="1A1A1A"/>
      </a:hlink>
      <a:folHlink>
        <a:srgbClr val="6B6B6B"/>
      </a:folHlink>
    </a:clrScheme>
    <a:fontScheme name="T082 Editori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speed forecasting — Phase 1 (Team T082)</dc:title>
  <dc:subject>PptxGenJS Presentation</dc:subject>
  <dc:creator>Team T082</dc:creator>
  <cp:lastModifiedBy>Team T082</cp:lastModifiedBy>
  <cp:revision>1</cp:revision>
  <dcterms:created xsi:type="dcterms:W3CDTF">2026-10-28T19:28:20Z</dcterms:created>
  <dcterms:modified xsi:type="dcterms:W3CDTF">2026-10-28T19:28:20Z</dcterms:modified>
</cp:coreProperties>
</file>